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9" r:id="rId2"/>
    <p:sldId id="260" r:id="rId3"/>
    <p:sldId id="263" r:id="rId4"/>
    <p:sldId id="262" r:id="rId5"/>
    <p:sldId id="264" r:id="rId6"/>
    <p:sldId id="267" r:id="rId7"/>
    <p:sldId id="266" r:id="rId8"/>
    <p:sldId id="294" r:id="rId9"/>
    <p:sldId id="291" r:id="rId10"/>
    <p:sldId id="289" r:id="rId11"/>
    <p:sldId id="290" r:id="rId12"/>
    <p:sldId id="292" r:id="rId13"/>
    <p:sldId id="265" r:id="rId14"/>
    <p:sldId id="270" r:id="rId15"/>
    <p:sldId id="268" r:id="rId16"/>
    <p:sldId id="269" r:id="rId17"/>
    <p:sldId id="273" r:id="rId18"/>
    <p:sldId id="275" r:id="rId19"/>
    <p:sldId id="295" r:id="rId20"/>
    <p:sldId id="272" r:id="rId21"/>
    <p:sldId id="274" r:id="rId22"/>
    <p:sldId id="278" r:id="rId23"/>
    <p:sldId id="280" r:id="rId24"/>
    <p:sldId id="281" r:id="rId25"/>
    <p:sldId id="284" r:id="rId26"/>
    <p:sldId id="283" r:id="rId27"/>
    <p:sldId id="287" r:id="rId28"/>
    <p:sldId id="285" r:id="rId29"/>
    <p:sldId id="28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lu" initials="l" lastIdx="2" clrIdx="0">
    <p:extLst>
      <p:ext uri="{19B8F6BF-5375-455C-9EA6-DF929625EA0E}">
        <p15:presenceInfo xmlns:p15="http://schemas.microsoft.com/office/powerpoint/2012/main" userId="la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54C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D4DC62-560D-45FA-A72C-9F65FD99512F}" type="doc">
      <dgm:prSet loTypeId="urn:microsoft.com/office/officeart/2005/8/layout/pyramid2" loCatId="pyramid" qsTypeId="urn:microsoft.com/office/officeart/2005/8/quickstyle/3d2" qsCatId="3D" csTypeId="urn:microsoft.com/office/officeart/2005/8/colors/accent1_2" csCatId="accent1"/>
      <dgm:spPr/>
      <dgm:t>
        <a:bodyPr/>
        <a:lstStyle/>
        <a:p>
          <a:endParaRPr lang="en-US"/>
        </a:p>
      </dgm:t>
    </dgm:pt>
    <dgm:pt modelId="{F215001F-3967-4AD6-9E1F-DA6A0839CAA0}">
      <dgm:prSet/>
      <dgm:spPr/>
      <dgm:t>
        <a:bodyPr/>
        <a:lstStyle/>
        <a:p>
          <a:pPr rtl="0"/>
          <a:r>
            <a:rPr lang="en-CA" smtClean="0"/>
            <a:t>They Take Their Actions Seriously</a:t>
          </a:r>
          <a:endParaRPr lang="en-CA"/>
        </a:p>
      </dgm:t>
    </dgm:pt>
    <dgm:pt modelId="{58C461C4-8141-40FB-97FE-A55424FFDA36}" type="parTrans" cxnId="{5375E74F-C874-4662-8865-23503848F387}">
      <dgm:prSet/>
      <dgm:spPr/>
      <dgm:t>
        <a:bodyPr/>
        <a:lstStyle/>
        <a:p>
          <a:endParaRPr lang="en-US"/>
        </a:p>
      </dgm:t>
    </dgm:pt>
    <dgm:pt modelId="{1E632774-0662-4B5D-BD78-2B2627C8B028}" type="sibTrans" cxnId="{5375E74F-C874-4662-8865-23503848F387}">
      <dgm:prSet/>
      <dgm:spPr/>
      <dgm:t>
        <a:bodyPr/>
        <a:lstStyle/>
        <a:p>
          <a:endParaRPr lang="en-US"/>
        </a:p>
      </dgm:t>
    </dgm:pt>
    <dgm:pt modelId="{42B585BB-8C9D-403A-8D8B-924F43D1D5BD}">
      <dgm:prSet/>
      <dgm:spPr/>
      <dgm:t>
        <a:bodyPr/>
        <a:lstStyle/>
        <a:p>
          <a:pPr rtl="0"/>
          <a:r>
            <a:rPr lang="en-CA" smtClean="0"/>
            <a:t>They Focus on the Customer</a:t>
          </a:r>
          <a:endParaRPr lang="en-CA"/>
        </a:p>
      </dgm:t>
    </dgm:pt>
    <dgm:pt modelId="{B63D68D8-AB24-434A-B1CC-498449A270C3}" type="parTrans" cxnId="{7500EF7F-38E0-4BB2-9BC1-9BEC9E5DE4F3}">
      <dgm:prSet/>
      <dgm:spPr/>
      <dgm:t>
        <a:bodyPr/>
        <a:lstStyle/>
        <a:p>
          <a:endParaRPr lang="en-US"/>
        </a:p>
      </dgm:t>
    </dgm:pt>
    <dgm:pt modelId="{AA33487E-28C1-4524-A5A4-2360E54115FF}" type="sibTrans" cxnId="{7500EF7F-38E0-4BB2-9BC1-9BEC9E5DE4F3}">
      <dgm:prSet/>
      <dgm:spPr/>
      <dgm:t>
        <a:bodyPr/>
        <a:lstStyle/>
        <a:p>
          <a:endParaRPr lang="en-US"/>
        </a:p>
      </dgm:t>
    </dgm:pt>
    <dgm:pt modelId="{7D67D542-B657-4D6D-A376-B55CD7158147}">
      <dgm:prSet/>
      <dgm:spPr/>
      <dgm:t>
        <a:bodyPr/>
        <a:lstStyle/>
        <a:p>
          <a:pPr rtl="0"/>
          <a:r>
            <a:rPr lang="en-CA" smtClean="0"/>
            <a:t>They Take Major Decisions Carefully</a:t>
          </a:r>
          <a:endParaRPr lang="en-CA"/>
        </a:p>
      </dgm:t>
    </dgm:pt>
    <dgm:pt modelId="{3F6D81AF-0AE7-4A3D-9715-1C04260821C4}" type="parTrans" cxnId="{3ED3B021-6B32-406B-8677-9BC01B8BA5A1}">
      <dgm:prSet/>
      <dgm:spPr/>
      <dgm:t>
        <a:bodyPr/>
        <a:lstStyle/>
        <a:p>
          <a:endParaRPr lang="en-US"/>
        </a:p>
      </dgm:t>
    </dgm:pt>
    <dgm:pt modelId="{FF7E87D5-ED31-4552-9449-C51A352D732F}" type="sibTrans" cxnId="{3ED3B021-6B32-406B-8677-9BC01B8BA5A1}">
      <dgm:prSet/>
      <dgm:spPr/>
      <dgm:t>
        <a:bodyPr/>
        <a:lstStyle/>
        <a:p>
          <a:endParaRPr lang="en-US"/>
        </a:p>
      </dgm:t>
    </dgm:pt>
    <dgm:pt modelId="{D0E90919-15C8-4510-8B37-9BA27179EAB0}">
      <dgm:prSet/>
      <dgm:spPr/>
      <dgm:t>
        <a:bodyPr/>
        <a:lstStyle/>
        <a:p>
          <a:pPr rtl="0"/>
          <a:r>
            <a:rPr lang="en-CA" smtClean="0"/>
            <a:t>They Make Use of Technology</a:t>
          </a:r>
          <a:endParaRPr lang="en-CA"/>
        </a:p>
      </dgm:t>
    </dgm:pt>
    <dgm:pt modelId="{2CF975BC-89B0-47B5-A2C5-6817703B2953}" type="parTrans" cxnId="{CD981E75-B71E-4DAB-A47B-BF4309AEC363}">
      <dgm:prSet/>
      <dgm:spPr/>
      <dgm:t>
        <a:bodyPr/>
        <a:lstStyle/>
        <a:p>
          <a:endParaRPr lang="en-US"/>
        </a:p>
      </dgm:t>
    </dgm:pt>
    <dgm:pt modelId="{642E85B8-BCF7-4367-8792-7F13E06C6877}" type="sibTrans" cxnId="{CD981E75-B71E-4DAB-A47B-BF4309AEC363}">
      <dgm:prSet/>
      <dgm:spPr/>
      <dgm:t>
        <a:bodyPr/>
        <a:lstStyle/>
        <a:p>
          <a:endParaRPr lang="en-US"/>
        </a:p>
      </dgm:t>
    </dgm:pt>
    <dgm:pt modelId="{3A314D12-A6CA-4E6C-A1F5-2DD9BC9548EA}">
      <dgm:prSet/>
      <dgm:spPr/>
      <dgm:t>
        <a:bodyPr/>
        <a:lstStyle/>
        <a:p>
          <a:pPr rtl="0"/>
          <a:r>
            <a:rPr lang="en-CA" smtClean="0"/>
            <a:t>They Like to Invest in Themselves</a:t>
          </a:r>
          <a:endParaRPr lang="en-CA"/>
        </a:p>
      </dgm:t>
    </dgm:pt>
    <dgm:pt modelId="{25DF0FDD-1A7C-4BFE-83BA-1FC6C40C4B4E}" type="parTrans" cxnId="{4DEE4B14-7377-49B3-B19F-6A939AFD6D57}">
      <dgm:prSet/>
      <dgm:spPr/>
      <dgm:t>
        <a:bodyPr/>
        <a:lstStyle/>
        <a:p>
          <a:endParaRPr lang="en-US"/>
        </a:p>
      </dgm:t>
    </dgm:pt>
    <dgm:pt modelId="{D5400E07-E888-41D3-AB90-ED9FC8E46042}" type="sibTrans" cxnId="{4DEE4B14-7377-49B3-B19F-6A939AFD6D57}">
      <dgm:prSet/>
      <dgm:spPr/>
      <dgm:t>
        <a:bodyPr/>
        <a:lstStyle/>
        <a:p>
          <a:endParaRPr lang="en-US"/>
        </a:p>
      </dgm:t>
    </dgm:pt>
    <dgm:pt modelId="{147C8191-D70F-49A4-BEBA-E5B6682142EE}">
      <dgm:prSet/>
      <dgm:spPr/>
      <dgm:t>
        <a:bodyPr/>
        <a:lstStyle/>
        <a:p>
          <a:pPr rtl="0"/>
          <a:r>
            <a:rPr lang="en-CA" smtClean="0"/>
            <a:t>They Constantly Keep Learning</a:t>
          </a:r>
          <a:endParaRPr lang="en-CA"/>
        </a:p>
      </dgm:t>
    </dgm:pt>
    <dgm:pt modelId="{B0BB0D86-FD13-4108-8DEA-4711985569CA}" type="parTrans" cxnId="{60F36574-606F-4F31-ABF0-DA21A8BDC604}">
      <dgm:prSet/>
      <dgm:spPr/>
      <dgm:t>
        <a:bodyPr/>
        <a:lstStyle/>
        <a:p>
          <a:endParaRPr lang="en-US"/>
        </a:p>
      </dgm:t>
    </dgm:pt>
    <dgm:pt modelId="{1859E7F2-7BB0-416E-80EF-B72F34BBB876}" type="sibTrans" cxnId="{60F36574-606F-4F31-ABF0-DA21A8BDC604}">
      <dgm:prSet/>
      <dgm:spPr/>
      <dgm:t>
        <a:bodyPr/>
        <a:lstStyle/>
        <a:p>
          <a:endParaRPr lang="en-US"/>
        </a:p>
      </dgm:t>
    </dgm:pt>
    <dgm:pt modelId="{64C1DA0E-3C2D-4BE0-863A-4E256BF9FE1B}">
      <dgm:prSet/>
      <dgm:spPr/>
      <dgm:t>
        <a:bodyPr/>
        <a:lstStyle/>
        <a:p>
          <a:pPr rtl="0"/>
          <a:r>
            <a:rPr lang="en-CA" smtClean="0"/>
            <a:t>They Like Taking Risks</a:t>
          </a:r>
          <a:endParaRPr lang="en-CA"/>
        </a:p>
      </dgm:t>
    </dgm:pt>
    <dgm:pt modelId="{6A872006-D413-47F3-A23E-487DB1682689}" type="parTrans" cxnId="{412F4677-6DFB-41AD-9FC4-D1D13BE22295}">
      <dgm:prSet/>
      <dgm:spPr/>
      <dgm:t>
        <a:bodyPr/>
        <a:lstStyle/>
        <a:p>
          <a:endParaRPr lang="en-US"/>
        </a:p>
      </dgm:t>
    </dgm:pt>
    <dgm:pt modelId="{DF98DEE3-05B6-48BA-A7B5-57F435EDE324}" type="sibTrans" cxnId="{412F4677-6DFB-41AD-9FC4-D1D13BE22295}">
      <dgm:prSet/>
      <dgm:spPr/>
      <dgm:t>
        <a:bodyPr/>
        <a:lstStyle/>
        <a:p>
          <a:endParaRPr lang="en-US"/>
        </a:p>
      </dgm:t>
    </dgm:pt>
    <dgm:pt modelId="{CDBFE02E-B55E-4D16-89EF-970A49FCC257}">
      <dgm:prSet/>
      <dgm:spPr/>
      <dgm:t>
        <a:bodyPr/>
        <a:lstStyle/>
        <a:p>
          <a:pPr rtl="0"/>
          <a:r>
            <a:rPr lang="en-CA" smtClean="0"/>
            <a:t>They Like to Build Networks</a:t>
          </a:r>
          <a:endParaRPr lang="en-CA"/>
        </a:p>
      </dgm:t>
    </dgm:pt>
    <dgm:pt modelId="{DF476F83-E564-4323-820A-2D5A7F831A2A}" type="parTrans" cxnId="{0A205272-E41B-49A6-844B-CE6949345A7A}">
      <dgm:prSet/>
      <dgm:spPr/>
      <dgm:t>
        <a:bodyPr/>
        <a:lstStyle/>
        <a:p>
          <a:endParaRPr lang="en-US"/>
        </a:p>
      </dgm:t>
    </dgm:pt>
    <dgm:pt modelId="{40D4AC48-5BFD-42EC-9E44-E6A13588183A}" type="sibTrans" cxnId="{0A205272-E41B-49A6-844B-CE6949345A7A}">
      <dgm:prSet/>
      <dgm:spPr/>
      <dgm:t>
        <a:bodyPr/>
        <a:lstStyle/>
        <a:p>
          <a:endParaRPr lang="en-US"/>
        </a:p>
      </dgm:t>
    </dgm:pt>
    <dgm:pt modelId="{98EA7D9A-ABC4-4E82-8BAC-F8D7277BCBE9}">
      <dgm:prSet/>
      <dgm:spPr/>
      <dgm:t>
        <a:bodyPr/>
        <a:lstStyle/>
        <a:p>
          <a:pPr rtl="0"/>
          <a:r>
            <a:rPr lang="en-CA" smtClean="0"/>
            <a:t>They Have a Sense of Curiosity</a:t>
          </a:r>
          <a:endParaRPr lang="en-CA"/>
        </a:p>
      </dgm:t>
    </dgm:pt>
    <dgm:pt modelId="{F956FEA0-CD7C-4F86-B714-7C0FD3521909}" type="parTrans" cxnId="{8401FE48-8BD4-4CD3-B08D-1FA6BFC2B659}">
      <dgm:prSet/>
      <dgm:spPr/>
      <dgm:t>
        <a:bodyPr/>
        <a:lstStyle/>
        <a:p>
          <a:endParaRPr lang="en-US"/>
        </a:p>
      </dgm:t>
    </dgm:pt>
    <dgm:pt modelId="{0CBDC04F-67A1-4FD5-BB2C-05F6FA51A341}" type="sibTrans" cxnId="{8401FE48-8BD4-4CD3-B08D-1FA6BFC2B659}">
      <dgm:prSet/>
      <dgm:spPr/>
      <dgm:t>
        <a:bodyPr/>
        <a:lstStyle/>
        <a:p>
          <a:endParaRPr lang="en-US"/>
        </a:p>
      </dgm:t>
    </dgm:pt>
    <dgm:pt modelId="{FB20F253-0F2F-46FB-A6C2-0ADFDA98CEDE}" type="pres">
      <dgm:prSet presAssocID="{0BD4DC62-560D-45FA-A72C-9F65FD99512F}" presName="compositeShape" presStyleCnt="0">
        <dgm:presLayoutVars>
          <dgm:dir/>
          <dgm:resizeHandles/>
        </dgm:presLayoutVars>
      </dgm:prSet>
      <dgm:spPr/>
      <dgm:t>
        <a:bodyPr/>
        <a:lstStyle/>
        <a:p>
          <a:endParaRPr lang="en-US"/>
        </a:p>
      </dgm:t>
    </dgm:pt>
    <dgm:pt modelId="{1EE5E13D-0389-4C0E-8C4B-22524484AAC4}" type="pres">
      <dgm:prSet presAssocID="{0BD4DC62-560D-45FA-A72C-9F65FD99512F}" presName="pyramid" presStyleLbl="node1" presStyleIdx="0" presStyleCnt="1"/>
      <dgm:spPr>
        <a:solidFill>
          <a:schemeClr val="tx1">
            <a:lumMod val="50000"/>
            <a:lumOff val="50000"/>
          </a:schemeClr>
        </a:solidFill>
      </dgm:spPr>
    </dgm:pt>
    <dgm:pt modelId="{69375BA9-D55E-44AA-BFC9-C301E7A1AB18}" type="pres">
      <dgm:prSet presAssocID="{0BD4DC62-560D-45FA-A72C-9F65FD99512F}" presName="theList" presStyleCnt="0"/>
      <dgm:spPr/>
    </dgm:pt>
    <dgm:pt modelId="{78409232-2BEA-41A1-B778-37C875C35ACD}" type="pres">
      <dgm:prSet presAssocID="{F215001F-3967-4AD6-9E1F-DA6A0839CAA0}" presName="aNode" presStyleLbl="fgAcc1" presStyleIdx="0" presStyleCnt="9">
        <dgm:presLayoutVars>
          <dgm:bulletEnabled val="1"/>
        </dgm:presLayoutVars>
      </dgm:prSet>
      <dgm:spPr/>
      <dgm:t>
        <a:bodyPr/>
        <a:lstStyle/>
        <a:p>
          <a:endParaRPr lang="en-US"/>
        </a:p>
      </dgm:t>
    </dgm:pt>
    <dgm:pt modelId="{15BF1A21-5C50-443D-BF71-B92BCC9279F6}" type="pres">
      <dgm:prSet presAssocID="{F215001F-3967-4AD6-9E1F-DA6A0839CAA0}" presName="aSpace" presStyleCnt="0"/>
      <dgm:spPr/>
    </dgm:pt>
    <dgm:pt modelId="{A1A56688-D985-45B4-A6AE-8E3B0CE3C841}" type="pres">
      <dgm:prSet presAssocID="{42B585BB-8C9D-403A-8D8B-924F43D1D5BD}" presName="aNode" presStyleLbl="fgAcc1" presStyleIdx="1" presStyleCnt="9">
        <dgm:presLayoutVars>
          <dgm:bulletEnabled val="1"/>
        </dgm:presLayoutVars>
      </dgm:prSet>
      <dgm:spPr/>
      <dgm:t>
        <a:bodyPr/>
        <a:lstStyle/>
        <a:p>
          <a:endParaRPr lang="en-US"/>
        </a:p>
      </dgm:t>
    </dgm:pt>
    <dgm:pt modelId="{89E81495-9007-4052-9C30-E3559DCAEEA7}" type="pres">
      <dgm:prSet presAssocID="{42B585BB-8C9D-403A-8D8B-924F43D1D5BD}" presName="aSpace" presStyleCnt="0"/>
      <dgm:spPr/>
    </dgm:pt>
    <dgm:pt modelId="{E1ACD216-42AC-4CDC-A73E-3BCAC8120B21}" type="pres">
      <dgm:prSet presAssocID="{7D67D542-B657-4D6D-A376-B55CD7158147}" presName="aNode" presStyleLbl="fgAcc1" presStyleIdx="2" presStyleCnt="9">
        <dgm:presLayoutVars>
          <dgm:bulletEnabled val="1"/>
        </dgm:presLayoutVars>
      </dgm:prSet>
      <dgm:spPr/>
      <dgm:t>
        <a:bodyPr/>
        <a:lstStyle/>
        <a:p>
          <a:endParaRPr lang="en-US"/>
        </a:p>
      </dgm:t>
    </dgm:pt>
    <dgm:pt modelId="{9D03A460-1BEB-4232-9DFC-E1AD294F04F2}" type="pres">
      <dgm:prSet presAssocID="{7D67D542-B657-4D6D-A376-B55CD7158147}" presName="aSpace" presStyleCnt="0"/>
      <dgm:spPr/>
    </dgm:pt>
    <dgm:pt modelId="{905F3FEE-4A6A-497F-94CF-E010C579E694}" type="pres">
      <dgm:prSet presAssocID="{D0E90919-15C8-4510-8B37-9BA27179EAB0}" presName="aNode" presStyleLbl="fgAcc1" presStyleIdx="3" presStyleCnt="9">
        <dgm:presLayoutVars>
          <dgm:bulletEnabled val="1"/>
        </dgm:presLayoutVars>
      </dgm:prSet>
      <dgm:spPr/>
      <dgm:t>
        <a:bodyPr/>
        <a:lstStyle/>
        <a:p>
          <a:endParaRPr lang="en-US"/>
        </a:p>
      </dgm:t>
    </dgm:pt>
    <dgm:pt modelId="{B69A74E2-4F07-4307-B9CF-B00816E40562}" type="pres">
      <dgm:prSet presAssocID="{D0E90919-15C8-4510-8B37-9BA27179EAB0}" presName="aSpace" presStyleCnt="0"/>
      <dgm:spPr/>
    </dgm:pt>
    <dgm:pt modelId="{C9E9FD7B-E17D-49EB-B016-5DBCA763CF60}" type="pres">
      <dgm:prSet presAssocID="{3A314D12-A6CA-4E6C-A1F5-2DD9BC9548EA}" presName="aNode" presStyleLbl="fgAcc1" presStyleIdx="4" presStyleCnt="9">
        <dgm:presLayoutVars>
          <dgm:bulletEnabled val="1"/>
        </dgm:presLayoutVars>
      </dgm:prSet>
      <dgm:spPr/>
      <dgm:t>
        <a:bodyPr/>
        <a:lstStyle/>
        <a:p>
          <a:endParaRPr lang="en-US"/>
        </a:p>
      </dgm:t>
    </dgm:pt>
    <dgm:pt modelId="{9E510169-3531-45E8-B8AD-D80E267E2907}" type="pres">
      <dgm:prSet presAssocID="{3A314D12-A6CA-4E6C-A1F5-2DD9BC9548EA}" presName="aSpace" presStyleCnt="0"/>
      <dgm:spPr/>
    </dgm:pt>
    <dgm:pt modelId="{8B3C7317-89CB-4D85-997F-833A54811F27}" type="pres">
      <dgm:prSet presAssocID="{147C8191-D70F-49A4-BEBA-E5B6682142EE}" presName="aNode" presStyleLbl="fgAcc1" presStyleIdx="5" presStyleCnt="9">
        <dgm:presLayoutVars>
          <dgm:bulletEnabled val="1"/>
        </dgm:presLayoutVars>
      </dgm:prSet>
      <dgm:spPr/>
      <dgm:t>
        <a:bodyPr/>
        <a:lstStyle/>
        <a:p>
          <a:endParaRPr lang="en-US"/>
        </a:p>
      </dgm:t>
    </dgm:pt>
    <dgm:pt modelId="{126B9E0D-E421-4938-9409-1BEE5CCA4B4D}" type="pres">
      <dgm:prSet presAssocID="{147C8191-D70F-49A4-BEBA-E5B6682142EE}" presName="aSpace" presStyleCnt="0"/>
      <dgm:spPr/>
    </dgm:pt>
    <dgm:pt modelId="{C488550A-C274-409E-B65B-5237E92962EC}" type="pres">
      <dgm:prSet presAssocID="{64C1DA0E-3C2D-4BE0-863A-4E256BF9FE1B}" presName="aNode" presStyleLbl="fgAcc1" presStyleIdx="6" presStyleCnt="9">
        <dgm:presLayoutVars>
          <dgm:bulletEnabled val="1"/>
        </dgm:presLayoutVars>
      </dgm:prSet>
      <dgm:spPr/>
      <dgm:t>
        <a:bodyPr/>
        <a:lstStyle/>
        <a:p>
          <a:endParaRPr lang="en-US"/>
        </a:p>
      </dgm:t>
    </dgm:pt>
    <dgm:pt modelId="{3DCCA790-9A47-4603-8336-99E48D209296}" type="pres">
      <dgm:prSet presAssocID="{64C1DA0E-3C2D-4BE0-863A-4E256BF9FE1B}" presName="aSpace" presStyleCnt="0"/>
      <dgm:spPr/>
    </dgm:pt>
    <dgm:pt modelId="{594BF559-BBF7-40C0-9373-AC44FB50D43B}" type="pres">
      <dgm:prSet presAssocID="{CDBFE02E-B55E-4D16-89EF-970A49FCC257}" presName="aNode" presStyleLbl="fgAcc1" presStyleIdx="7" presStyleCnt="9">
        <dgm:presLayoutVars>
          <dgm:bulletEnabled val="1"/>
        </dgm:presLayoutVars>
      </dgm:prSet>
      <dgm:spPr/>
      <dgm:t>
        <a:bodyPr/>
        <a:lstStyle/>
        <a:p>
          <a:endParaRPr lang="en-US"/>
        </a:p>
      </dgm:t>
    </dgm:pt>
    <dgm:pt modelId="{FB00222E-20CC-416C-B447-D2C663910EE6}" type="pres">
      <dgm:prSet presAssocID="{CDBFE02E-B55E-4D16-89EF-970A49FCC257}" presName="aSpace" presStyleCnt="0"/>
      <dgm:spPr/>
    </dgm:pt>
    <dgm:pt modelId="{FBF94FBE-721C-4CD9-878E-2AD294A2B72B}" type="pres">
      <dgm:prSet presAssocID="{98EA7D9A-ABC4-4E82-8BAC-F8D7277BCBE9}" presName="aNode" presStyleLbl="fgAcc1" presStyleIdx="8" presStyleCnt="9">
        <dgm:presLayoutVars>
          <dgm:bulletEnabled val="1"/>
        </dgm:presLayoutVars>
      </dgm:prSet>
      <dgm:spPr/>
      <dgm:t>
        <a:bodyPr/>
        <a:lstStyle/>
        <a:p>
          <a:endParaRPr lang="en-US"/>
        </a:p>
      </dgm:t>
    </dgm:pt>
    <dgm:pt modelId="{36527565-625F-4663-8F8E-9EA56DF9166E}" type="pres">
      <dgm:prSet presAssocID="{98EA7D9A-ABC4-4E82-8BAC-F8D7277BCBE9}" presName="aSpace" presStyleCnt="0"/>
      <dgm:spPr/>
    </dgm:pt>
  </dgm:ptLst>
  <dgm:cxnLst>
    <dgm:cxn modelId="{C4198AF1-3270-4919-BB82-1AC6594CCB7A}" type="presOf" srcId="{7D67D542-B657-4D6D-A376-B55CD7158147}" destId="{E1ACD216-42AC-4CDC-A73E-3BCAC8120B21}" srcOrd="0" destOrd="0" presId="urn:microsoft.com/office/officeart/2005/8/layout/pyramid2"/>
    <dgm:cxn modelId="{7500EF7F-38E0-4BB2-9BC1-9BEC9E5DE4F3}" srcId="{0BD4DC62-560D-45FA-A72C-9F65FD99512F}" destId="{42B585BB-8C9D-403A-8D8B-924F43D1D5BD}" srcOrd="1" destOrd="0" parTransId="{B63D68D8-AB24-434A-B1CC-498449A270C3}" sibTransId="{AA33487E-28C1-4524-A5A4-2360E54115FF}"/>
    <dgm:cxn modelId="{DC13B243-BC03-40FF-A90B-659CECD95180}" type="presOf" srcId="{98EA7D9A-ABC4-4E82-8BAC-F8D7277BCBE9}" destId="{FBF94FBE-721C-4CD9-878E-2AD294A2B72B}" srcOrd="0" destOrd="0" presId="urn:microsoft.com/office/officeart/2005/8/layout/pyramid2"/>
    <dgm:cxn modelId="{FF533942-3DE3-45EA-900C-78A040705AC8}" type="presOf" srcId="{42B585BB-8C9D-403A-8D8B-924F43D1D5BD}" destId="{A1A56688-D985-45B4-A6AE-8E3B0CE3C841}" srcOrd="0" destOrd="0" presId="urn:microsoft.com/office/officeart/2005/8/layout/pyramid2"/>
    <dgm:cxn modelId="{CD981E75-B71E-4DAB-A47B-BF4309AEC363}" srcId="{0BD4DC62-560D-45FA-A72C-9F65FD99512F}" destId="{D0E90919-15C8-4510-8B37-9BA27179EAB0}" srcOrd="3" destOrd="0" parTransId="{2CF975BC-89B0-47B5-A2C5-6817703B2953}" sibTransId="{642E85B8-BCF7-4367-8792-7F13E06C6877}"/>
    <dgm:cxn modelId="{8401FE48-8BD4-4CD3-B08D-1FA6BFC2B659}" srcId="{0BD4DC62-560D-45FA-A72C-9F65FD99512F}" destId="{98EA7D9A-ABC4-4E82-8BAC-F8D7277BCBE9}" srcOrd="8" destOrd="0" parTransId="{F956FEA0-CD7C-4F86-B714-7C0FD3521909}" sibTransId="{0CBDC04F-67A1-4FD5-BB2C-05F6FA51A341}"/>
    <dgm:cxn modelId="{FB6F80CD-3EE3-4914-9662-F2FC971746B6}" type="presOf" srcId="{CDBFE02E-B55E-4D16-89EF-970A49FCC257}" destId="{594BF559-BBF7-40C0-9373-AC44FB50D43B}" srcOrd="0" destOrd="0" presId="urn:microsoft.com/office/officeart/2005/8/layout/pyramid2"/>
    <dgm:cxn modelId="{5375E74F-C874-4662-8865-23503848F387}" srcId="{0BD4DC62-560D-45FA-A72C-9F65FD99512F}" destId="{F215001F-3967-4AD6-9E1F-DA6A0839CAA0}" srcOrd="0" destOrd="0" parTransId="{58C461C4-8141-40FB-97FE-A55424FFDA36}" sibTransId="{1E632774-0662-4B5D-BD78-2B2627C8B028}"/>
    <dgm:cxn modelId="{2BB28ABF-F2F1-4CEA-AC64-2A99CB0CCBBB}" type="presOf" srcId="{147C8191-D70F-49A4-BEBA-E5B6682142EE}" destId="{8B3C7317-89CB-4D85-997F-833A54811F27}" srcOrd="0" destOrd="0" presId="urn:microsoft.com/office/officeart/2005/8/layout/pyramid2"/>
    <dgm:cxn modelId="{014DB025-DA0C-4E1B-825E-1F0C0B538515}" type="presOf" srcId="{3A314D12-A6CA-4E6C-A1F5-2DD9BC9548EA}" destId="{C9E9FD7B-E17D-49EB-B016-5DBCA763CF60}" srcOrd="0" destOrd="0" presId="urn:microsoft.com/office/officeart/2005/8/layout/pyramid2"/>
    <dgm:cxn modelId="{E2DD1BBE-CEAE-403B-8194-DDA255D510F1}" type="presOf" srcId="{64C1DA0E-3C2D-4BE0-863A-4E256BF9FE1B}" destId="{C488550A-C274-409E-B65B-5237E92962EC}" srcOrd="0" destOrd="0" presId="urn:microsoft.com/office/officeart/2005/8/layout/pyramid2"/>
    <dgm:cxn modelId="{3ED3B021-6B32-406B-8677-9BC01B8BA5A1}" srcId="{0BD4DC62-560D-45FA-A72C-9F65FD99512F}" destId="{7D67D542-B657-4D6D-A376-B55CD7158147}" srcOrd="2" destOrd="0" parTransId="{3F6D81AF-0AE7-4A3D-9715-1C04260821C4}" sibTransId="{FF7E87D5-ED31-4552-9449-C51A352D732F}"/>
    <dgm:cxn modelId="{60F36574-606F-4F31-ABF0-DA21A8BDC604}" srcId="{0BD4DC62-560D-45FA-A72C-9F65FD99512F}" destId="{147C8191-D70F-49A4-BEBA-E5B6682142EE}" srcOrd="5" destOrd="0" parTransId="{B0BB0D86-FD13-4108-8DEA-4711985569CA}" sibTransId="{1859E7F2-7BB0-416E-80EF-B72F34BBB876}"/>
    <dgm:cxn modelId="{4DEE4B14-7377-49B3-B19F-6A939AFD6D57}" srcId="{0BD4DC62-560D-45FA-A72C-9F65FD99512F}" destId="{3A314D12-A6CA-4E6C-A1F5-2DD9BC9548EA}" srcOrd="4" destOrd="0" parTransId="{25DF0FDD-1A7C-4BFE-83BA-1FC6C40C4B4E}" sibTransId="{D5400E07-E888-41D3-AB90-ED9FC8E46042}"/>
    <dgm:cxn modelId="{412F4677-6DFB-41AD-9FC4-D1D13BE22295}" srcId="{0BD4DC62-560D-45FA-A72C-9F65FD99512F}" destId="{64C1DA0E-3C2D-4BE0-863A-4E256BF9FE1B}" srcOrd="6" destOrd="0" parTransId="{6A872006-D413-47F3-A23E-487DB1682689}" sibTransId="{DF98DEE3-05B6-48BA-A7B5-57F435EDE324}"/>
    <dgm:cxn modelId="{89E6E644-2270-4B8B-B86B-8FEA097763BB}" type="presOf" srcId="{0BD4DC62-560D-45FA-A72C-9F65FD99512F}" destId="{FB20F253-0F2F-46FB-A6C2-0ADFDA98CEDE}" srcOrd="0" destOrd="0" presId="urn:microsoft.com/office/officeart/2005/8/layout/pyramid2"/>
    <dgm:cxn modelId="{927AA288-9DD5-4C03-92FC-551DABD97754}" type="presOf" srcId="{D0E90919-15C8-4510-8B37-9BA27179EAB0}" destId="{905F3FEE-4A6A-497F-94CF-E010C579E694}" srcOrd="0" destOrd="0" presId="urn:microsoft.com/office/officeart/2005/8/layout/pyramid2"/>
    <dgm:cxn modelId="{254098A9-511E-468D-B9C3-55D835BD5C0C}" type="presOf" srcId="{F215001F-3967-4AD6-9E1F-DA6A0839CAA0}" destId="{78409232-2BEA-41A1-B778-37C875C35ACD}" srcOrd="0" destOrd="0" presId="urn:microsoft.com/office/officeart/2005/8/layout/pyramid2"/>
    <dgm:cxn modelId="{0A205272-E41B-49A6-844B-CE6949345A7A}" srcId="{0BD4DC62-560D-45FA-A72C-9F65FD99512F}" destId="{CDBFE02E-B55E-4D16-89EF-970A49FCC257}" srcOrd="7" destOrd="0" parTransId="{DF476F83-E564-4323-820A-2D5A7F831A2A}" sibTransId="{40D4AC48-5BFD-42EC-9E44-E6A13588183A}"/>
    <dgm:cxn modelId="{34501AC0-F276-4CA7-8B50-AE298127D156}" type="presParOf" srcId="{FB20F253-0F2F-46FB-A6C2-0ADFDA98CEDE}" destId="{1EE5E13D-0389-4C0E-8C4B-22524484AAC4}" srcOrd="0" destOrd="0" presId="urn:microsoft.com/office/officeart/2005/8/layout/pyramid2"/>
    <dgm:cxn modelId="{AA085A9A-5E1C-4AB6-B62F-029C7E197E78}" type="presParOf" srcId="{FB20F253-0F2F-46FB-A6C2-0ADFDA98CEDE}" destId="{69375BA9-D55E-44AA-BFC9-C301E7A1AB18}" srcOrd="1" destOrd="0" presId="urn:microsoft.com/office/officeart/2005/8/layout/pyramid2"/>
    <dgm:cxn modelId="{6748955B-61FD-4EA7-A675-CA6B3A2C72AD}" type="presParOf" srcId="{69375BA9-D55E-44AA-BFC9-C301E7A1AB18}" destId="{78409232-2BEA-41A1-B778-37C875C35ACD}" srcOrd="0" destOrd="0" presId="urn:microsoft.com/office/officeart/2005/8/layout/pyramid2"/>
    <dgm:cxn modelId="{B5E80A1C-02E7-4190-A60D-BCE169331DAC}" type="presParOf" srcId="{69375BA9-D55E-44AA-BFC9-C301E7A1AB18}" destId="{15BF1A21-5C50-443D-BF71-B92BCC9279F6}" srcOrd="1" destOrd="0" presId="urn:microsoft.com/office/officeart/2005/8/layout/pyramid2"/>
    <dgm:cxn modelId="{D50D549D-ED9E-4004-A04E-BEF86BD1AF84}" type="presParOf" srcId="{69375BA9-D55E-44AA-BFC9-C301E7A1AB18}" destId="{A1A56688-D985-45B4-A6AE-8E3B0CE3C841}" srcOrd="2" destOrd="0" presId="urn:microsoft.com/office/officeart/2005/8/layout/pyramid2"/>
    <dgm:cxn modelId="{43615CC9-3469-4D92-AA89-00CD398D86BF}" type="presParOf" srcId="{69375BA9-D55E-44AA-BFC9-C301E7A1AB18}" destId="{89E81495-9007-4052-9C30-E3559DCAEEA7}" srcOrd="3" destOrd="0" presId="urn:microsoft.com/office/officeart/2005/8/layout/pyramid2"/>
    <dgm:cxn modelId="{CD173C01-45BE-42F9-B7EF-E602D171ADF8}" type="presParOf" srcId="{69375BA9-D55E-44AA-BFC9-C301E7A1AB18}" destId="{E1ACD216-42AC-4CDC-A73E-3BCAC8120B21}" srcOrd="4" destOrd="0" presId="urn:microsoft.com/office/officeart/2005/8/layout/pyramid2"/>
    <dgm:cxn modelId="{6A3FD888-8028-4571-9CDF-C7108EC9B7F0}" type="presParOf" srcId="{69375BA9-D55E-44AA-BFC9-C301E7A1AB18}" destId="{9D03A460-1BEB-4232-9DFC-E1AD294F04F2}" srcOrd="5" destOrd="0" presId="urn:microsoft.com/office/officeart/2005/8/layout/pyramid2"/>
    <dgm:cxn modelId="{EA562A6A-3FA3-4934-B609-2827D8B2F4A8}" type="presParOf" srcId="{69375BA9-D55E-44AA-BFC9-C301E7A1AB18}" destId="{905F3FEE-4A6A-497F-94CF-E010C579E694}" srcOrd="6" destOrd="0" presId="urn:microsoft.com/office/officeart/2005/8/layout/pyramid2"/>
    <dgm:cxn modelId="{A1B82656-31C0-48D7-A185-86590AF42087}" type="presParOf" srcId="{69375BA9-D55E-44AA-BFC9-C301E7A1AB18}" destId="{B69A74E2-4F07-4307-B9CF-B00816E40562}" srcOrd="7" destOrd="0" presId="urn:microsoft.com/office/officeart/2005/8/layout/pyramid2"/>
    <dgm:cxn modelId="{DAC6AF32-F206-40A9-9C50-BFCEE1A89B2D}" type="presParOf" srcId="{69375BA9-D55E-44AA-BFC9-C301E7A1AB18}" destId="{C9E9FD7B-E17D-49EB-B016-5DBCA763CF60}" srcOrd="8" destOrd="0" presId="urn:microsoft.com/office/officeart/2005/8/layout/pyramid2"/>
    <dgm:cxn modelId="{9AB99203-01AB-4D63-A895-C4B2F6AC0F31}" type="presParOf" srcId="{69375BA9-D55E-44AA-BFC9-C301E7A1AB18}" destId="{9E510169-3531-45E8-B8AD-D80E267E2907}" srcOrd="9" destOrd="0" presId="urn:microsoft.com/office/officeart/2005/8/layout/pyramid2"/>
    <dgm:cxn modelId="{73CF1768-1F91-45DA-A6CB-CD6FBFECEF78}" type="presParOf" srcId="{69375BA9-D55E-44AA-BFC9-C301E7A1AB18}" destId="{8B3C7317-89CB-4D85-997F-833A54811F27}" srcOrd="10" destOrd="0" presId="urn:microsoft.com/office/officeart/2005/8/layout/pyramid2"/>
    <dgm:cxn modelId="{CCBA610F-1F33-48F7-9EE1-F51222A342EC}" type="presParOf" srcId="{69375BA9-D55E-44AA-BFC9-C301E7A1AB18}" destId="{126B9E0D-E421-4938-9409-1BEE5CCA4B4D}" srcOrd="11" destOrd="0" presId="urn:microsoft.com/office/officeart/2005/8/layout/pyramid2"/>
    <dgm:cxn modelId="{E0764A85-6F8E-4294-B87D-B515954C262D}" type="presParOf" srcId="{69375BA9-D55E-44AA-BFC9-C301E7A1AB18}" destId="{C488550A-C274-409E-B65B-5237E92962EC}" srcOrd="12" destOrd="0" presId="urn:microsoft.com/office/officeart/2005/8/layout/pyramid2"/>
    <dgm:cxn modelId="{B7967A98-5906-4D39-B341-0E6C0D199831}" type="presParOf" srcId="{69375BA9-D55E-44AA-BFC9-C301E7A1AB18}" destId="{3DCCA790-9A47-4603-8336-99E48D209296}" srcOrd="13" destOrd="0" presId="urn:microsoft.com/office/officeart/2005/8/layout/pyramid2"/>
    <dgm:cxn modelId="{C42905A0-5FDD-4DF8-84E3-B7F55BD9BFB0}" type="presParOf" srcId="{69375BA9-D55E-44AA-BFC9-C301E7A1AB18}" destId="{594BF559-BBF7-40C0-9373-AC44FB50D43B}" srcOrd="14" destOrd="0" presId="urn:microsoft.com/office/officeart/2005/8/layout/pyramid2"/>
    <dgm:cxn modelId="{80C6F8E2-511B-4E38-B82D-9848DD3E37C0}" type="presParOf" srcId="{69375BA9-D55E-44AA-BFC9-C301E7A1AB18}" destId="{FB00222E-20CC-416C-B447-D2C663910EE6}" srcOrd="15" destOrd="0" presId="urn:microsoft.com/office/officeart/2005/8/layout/pyramid2"/>
    <dgm:cxn modelId="{60554F49-0C8B-4364-845A-BF1662D51FFB}" type="presParOf" srcId="{69375BA9-D55E-44AA-BFC9-C301E7A1AB18}" destId="{FBF94FBE-721C-4CD9-878E-2AD294A2B72B}" srcOrd="16" destOrd="0" presId="urn:microsoft.com/office/officeart/2005/8/layout/pyramid2"/>
    <dgm:cxn modelId="{38CEA49C-409B-44AA-9625-FF8A8B1D536C}" type="presParOf" srcId="{69375BA9-D55E-44AA-BFC9-C301E7A1AB18}" destId="{36527565-625F-4663-8F8E-9EA56DF9166E}" srcOrd="17"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4B8C8D-906D-4540-95E7-FBA6DDEEBC03}"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IN"/>
        </a:p>
      </dgm:t>
    </dgm:pt>
    <dgm:pt modelId="{528AF31A-43D5-4CD4-BC29-D301F808E367}">
      <dgm:prSet/>
      <dgm:spPr>
        <a:solidFill>
          <a:srgbClr val="7030A0"/>
        </a:solidFill>
      </dgm:spPr>
      <dgm:t>
        <a:bodyPr/>
        <a:lstStyle/>
        <a:p>
          <a:r>
            <a:rPr lang="en-IN" b="1"/>
            <a:t>On the Basis of Business Type</a:t>
          </a:r>
          <a:endParaRPr lang="en-IN"/>
        </a:p>
      </dgm:t>
    </dgm:pt>
    <dgm:pt modelId="{6FAFA767-C49C-4EAB-8589-F8DB87B79179}" type="parTrans" cxnId="{88B600BB-E282-4105-904A-2C9BA0D27558}">
      <dgm:prSet/>
      <dgm:spPr/>
      <dgm:t>
        <a:bodyPr/>
        <a:lstStyle/>
        <a:p>
          <a:endParaRPr lang="en-IN"/>
        </a:p>
      </dgm:t>
    </dgm:pt>
    <dgm:pt modelId="{9AD16A10-A285-48A4-BA5E-3CFFAABC648D}" type="sibTrans" cxnId="{88B600BB-E282-4105-904A-2C9BA0D27558}">
      <dgm:prSet/>
      <dgm:spPr/>
      <dgm:t>
        <a:bodyPr/>
        <a:lstStyle/>
        <a:p>
          <a:endParaRPr lang="en-IN"/>
        </a:p>
      </dgm:t>
    </dgm:pt>
    <dgm:pt modelId="{CEE47A9C-5195-4EE5-846B-FCD9235E8CEA}">
      <dgm:prSet/>
      <dgm:spPr>
        <a:solidFill>
          <a:srgbClr val="9954CC"/>
        </a:solidFill>
      </dgm:spPr>
      <dgm:t>
        <a:bodyPr/>
        <a:lstStyle/>
        <a:p>
          <a:r>
            <a:rPr lang="en-IN" b="1" dirty="0"/>
            <a:t>On the Basis of Technology</a:t>
          </a:r>
          <a:endParaRPr lang="en-IN" dirty="0"/>
        </a:p>
      </dgm:t>
    </dgm:pt>
    <dgm:pt modelId="{2A5A9F11-295D-4A16-A22E-311E8D7AC064}" type="parTrans" cxnId="{CB60129E-07C3-4256-8D1A-95EA509986A9}">
      <dgm:prSet/>
      <dgm:spPr/>
      <dgm:t>
        <a:bodyPr/>
        <a:lstStyle/>
        <a:p>
          <a:endParaRPr lang="en-IN"/>
        </a:p>
      </dgm:t>
    </dgm:pt>
    <dgm:pt modelId="{3E82F349-1EE4-4A32-80C3-5D1C82FF50DC}" type="sibTrans" cxnId="{CB60129E-07C3-4256-8D1A-95EA509986A9}">
      <dgm:prSet/>
      <dgm:spPr/>
      <dgm:t>
        <a:bodyPr/>
        <a:lstStyle/>
        <a:p>
          <a:endParaRPr lang="en-IN"/>
        </a:p>
      </dgm:t>
    </dgm:pt>
    <dgm:pt modelId="{131AB6E9-F2AF-4729-9777-88067B4885C9}">
      <dgm:prSet/>
      <dgm:spPr>
        <a:solidFill>
          <a:srgbClr val="7030A0"/>
        </a:solidFill>
      </dgm:spPr>
      <dgm:t>
        <a:bodyPr/>
        <a:lstStyle/>
        <a:p>
          <a:r>
            <a:rPr lang="en-IN" b="1"/>
            <a:t>On the Basis of Motivation</a:t>
          </a:r>
          <a:endParaRPr lang="en-IN"/>
        </a:p>
      </dgm:t>
    </dgm:pt>
    <dgm:pt modelId="{0589D106-CE6E-42E5-9321-92F6CBF22BA7}" type="parTrans" cxnId="{7D805D79-908D-43AA-B1C2-CE93321F420C}">
      <dgm:prSet/>
      <dgm:spPr/>
      <dgm:t>
        <a:bodyPr/>
        <a:lstStyle/>
        <a:p>
          <a:endParaRPr lang="en-IN"/>
        </a:p>
      </dgm:t>
    </dgm:pt>
    <dgm:pt modelId="{E0408FCD-018A-485D-B603-EB0360080DF1}" type="sibTrans" cxnId="{7D805D79-908D-43AA-B1C2-CE93321F420C}">
      <dgm:prSet/>
      <dgm:spPr/>
      <dgm:t>
        <a:bodyPr/>
        <a:lstStyle/>
        <a:p>
          <a:endParaRPr lang="en-IN"/>
        </a:p>
      </dgm:t>
    </dgm:pt>
    <dgm:pt modelId="{7F56A2B2-E669-4B41-901F-9A66A6284430}" type="pres">
      <dgm:prSet presAssocID="{764B8C8D-906D-4540-95E7-FBA6DDEEBC03}" presName="CompostProcess" presStyleCnt="0">
        <dgm:presLayoutVars>
          <dgm:dir/>
          <dgm:resizeHandles val="exact"/>
        </dgm:presLayoutVars>
      </dgm:prSet>
      <dgm:spPr/>
      <dgm:t>
        <a:bodyPr/>
        <a:lstStyle/>
        <a:p>
          <a:endParaRPr lang="en-US"/>
        </a:p>
      </dgm:t>
    </dgm:pt>
    <dgm:pt modelId="{95547C72-4A63-4CBD-85AF-6DC8653AEB37}" type="pres">
      <dgm:prSet presAssocID="{764B8C8D-906D-4540-95E7-FBA6DDEEBC03}" presName="arrow" presStyleLbl="bgShp" presStyleIdx="0" presStyleCnt="1"/>
      <dgm:spPr>
        <a:solidFill>
          <a:srgbClr val="7030A0"/>
        </a:solidFill>
      </dgm:spPr>
    </dgm:pt>
    <dgm:pt modelId="{499E7FF0-B499-4C22-812A-C4C2CE6DDC9B}" type="pres">
      <dgm:prSet presAssocID="{764B8C8D-906D-4540-95E7-FBA6DDEEBC03}" presName="linearProcess" presStyleCnt="0"/>
      <dgm:spPr/>
    </dgm:pt>
    <dgm:pt modelId="{5B38F875-DF2B-4700-8AA6-D6B741476F67}" type="pres">
      <dgm:prSet presAssocID="{528AF31A-43D5-4CD4-BC29-D301F808E367}" presName="textNode" presStyleLbl="node1" presStyleIdx="0" presStyleCnt="3">
        <dgm:presLayoutVars>
          <dgm:bulletEnabled val="1"/>
        </dgm:presLayoutVars>
      </dgm:prSet>
      <dgm:spPr/>
      <dgm:t>
        <a:bodyPr/>
        <a:lstStyle/>
        <a:p>
          <a:endParaRPr lang="en-US"/>
        </a:p>
      </dgm:t>
    </dgm:pt>
    <dgm:pt modelId="{5B34F2E4-46BC-4DD2-9451-D2360BE5FDB5}" type="pres">
      <dgm:prSet presAssocID="{9AD16A10-A285-48A4-BA5E-3CFFAABC648D}" presName="sibTrans" presStyleCnt="0"/>
      <dgm:spPr/>
    </dgm:pt>
    <dgm:pt modelId="{E461D87A-79AA-402A-ABF4-BD3749DB3582}" type="pres">
      <dgm:prSet presAssocID="{CEE47A9C-5195-4EE5-846B-FCD9235E8CEA}" presName="textNode" presStyleLbl="node1" presStyleIdx="1" presStyleCnt="3">
        <dgm:presLayoutVars>
          <dgm:bulletEnabled val="1"/>
        </dgm:presLayoutVars>
      </dgm:prSet>
      <dgm:spPr/>
      <dgm:t>
        <a:bodyPr/>
        <a:lstStyle/>
        <a:p>
          <a:endParaRPr lang="en-US"/>
        </a:p>
      </dgm:t>
    </dgm:pt>
    <dgm:pt modelId="{D5483B3E-1D93-4B54-89CB-4107BF7C2DEF}" type="pres">
      <dgm:prSet presAssocID="{3E82F349-1EE4-4A32-80C3-5D1C82FF50DC}" presName="sibTrans" presStyleCnt="0"/>
      <dgm:spPr/>
    </dgm:pt>
    <dgm:pt modelId="{BA5C802E-C78D-40F7-9F70-85DA3AEBEEDE}" type="pres">
      <dgm:prSet presAssocID="{131AB6E9-F2AF-4729-9777-88067B4885C9}" presName="textNode" presStyleLbl="node1" presStyleIdx="2" presStyleCnt="3">
        <dgm:presLayoutVars>
          <dgm:bulletEnabled val="1"/>
        </dgm:presLayoutVars>
      </dgm:prSet>
      <dgm:spPr/>
      <dgm:t>
        <a:bodyPr/>
        <a:lstStyle/>
        <a:p>
          <a:endParaRPr lang="en-US"/>
        </a:p>
      </dgm:t>
    </dgm:pt>
  </dgm:ptLst>
  <dgm:cxnLst>
    <dgm:cxn modelId="{CB60129E-07C3-4256-8D1A-95EA509986A9}" srcId="{764B8C8D-906D-4540-95E7-FBA6DDEEBC03}" destId="{CEE47A9C-5195-4EE5-846B-FCD9235E8CEA}" srcOrd="1" destOrd="0" parTransId="{2A5A9F11-295D-4A16-A22E-311E8D7AC064}" sibTransId="{3E82F349-1EE4-4A32-80C3-5D1C82FF50DC}"/>
    <dgm:cxn modelId="{88B600BB-E282-4105-904A-2C9BA0D27558}" srcId="{764B8C8D-906D-4540-95E7-FBA6DDEEBC03}" destId="{528AF31A-43D5-4CD4-BC29-D301F808E367}" srcOrd="0" destOrd="0" parTransId="{6FAFA767-C49C-4EAB-8589-F8DB87B79179}" sibTransId="{9AD16A10-A285-48A4-BA5E-3CFFAABC648D}"/>
    <dgm:cxn modelId="{D55EFCCC-FEF0-4157-801C-572044632312}" type="presOf" srcId="{CEE47A9C-5195-4EE5-846B-FCD9235E8CEA}" destId="{E461D87A-79AA-402A-ABF4-BD3749DB3582}" srcOrd="0" destOrd="0" presId="urn:microsoft.com/office/officeart/2005/8/layout/hProcess9"/>
    <dgm:cxn modelId="{D34924D6-81E1-44E0-AFAA-84F17386DFBB}" type="presOf" srcId="{764B8C8D-906D-4540-95E7-FBA6DDEEBC03}" destId="{7F56A2B2-E669-4B41-901F-9A66A6284430}" srcOrd="0" destOrd="0" presId="urn:microsoft.com/office/officeart/2005/8/layout/hProcess9"/>
    <dgm:cxn modelId="{7D805D79-908D-43AA-B1C2-CE93321F420C}" srcId="{764B8C8D-906D-4540-95E7-FBA6DDEEBC03}" destId="{131AB6E9-F2AF-4729-9777-88067B4885C9}" srcOrd="2" destOrd="0" parTransId="{0589D106-CE6E-42E5-9321-92F6CBF22BA7}" sibTransId="{E0408FCD-018A-485D-B603-EB0360080DF1}"/>
    <dgm:cxn modelId="{E8829D50-B722-45B4-8A17-B9A097A902A8}" type="presOf" srcId="{528AF31A-43D5-4CD4-BC29-D301F808E367}" destId="{5B38F875-DF2B-4700-8AA6-D6B741476F67}" srcOrd="0" destOrd="0" presId="urn:microsoft.com/office/officeart/2005/8/layout/hProcess9"/>
    <dgm:cxn modelId="{F2FB0BDB-6725-46CF-B6DB-2ED72FFF429D}" type="presOf" srcId="{131AB6E9-F2AF-4729-9777-88067B4885C9}" destId="{BA5C802E-C78D-40F7-9F70-85DA3AEBEEDE}" srcOrd="0" destOrd="0" presId="urn:microsoft.com/office/officeart/2005/8/layout/hProcess9"/>
    <dgm:cxn modelId="{54568265-F4A5-4951-8C25-428AD2AB5624}" type="presParOf" srcId="{7F56A2B2-E669-4B41-901F-9A66A6284430}" destId="{95547C72-4A63-4CBD-85AF-6DC8653AEB37}" srcOrd="0" destOrd="0" presId="urn:microsoft.com/office/officeart/2005/8/layout/hProcess9"/>
    <dgm:cxn modelId="{91874819-47F4-4CEC-BB18-44A888391C6B}" type="presParOf" srcId="{7F56A2B2-E669-4B41-901F-9A66A6284430}" destId="{499E7FF0-B499-4C22-812A-C4C2CE6DDC9B}" srcOrd="1" destOrd="0" presId="urn:microsoft.com/office/officeart/2005/8/layout/hProcess9"/>
    <dgm:cxn modelId="{B1ADB401-47E2-40F7-B5D9-0166F8056EFB}" type="presParOf" srcId="{499E7FF0-B499-4C22-812A-C4C2CE6DDC9B}" destId="{5B38F875-DF2B-4700-8AA6-D6B741476F67}" srcOrd="0" destOrd="0" presId="urn:microsoft.com/office/officeart/2005/8/layout/hProcess9"/>
    <dgm:cxn modelId="{6665EFAE-F09D-4690-82C1-0A36BC09208E}" type="presParOf" srcId="{499E7FF0-B499-4C22-812A-C4C2CE6DDC9B}" destId="{5B34F2E4-46BC-4DD2-9451-D2360BE5FDB5}" srcOrd="1" destOrd="0" presId="urn:microsoft.com/office/officeart/2005/8/layout/hProcess9"/>
    <dgm:cxn modelId="{DC29AC87-D60E-4E61-A071-5EBD86F80F63}" type="presParOf" srcId="{499E7FF0-B499-4C22-812A-C4C2CE6DDC9B}" destId="{E461D87A-79AA-402A-ABF4-BD3749DB3582}" srcOrd="2" destOrd="0" presId="urn:microsoft.com/office/officeart/2005/8/layout/hProcess9"/>
    <dgm:cxn modelId="{C943B848-2BAF-440E-84AE-A651CCA45945}" type="presParOf" srcId="{499E7FF0-B499-4C22-812A-C4C2CE6DDC9B}" destId="{D5483B3E-1D93-4B54-89CB-4107BF7C2DEF}" srcOrd="3" destOrd="0" presId="urn:microsoft.com/office/officeart/2005/8/layout/hProcess9"/>
    <dgm:cxn modelId="{8AC48DF5-3302-4BA6-814E-099BD4B08602}" type="presParOf" srcId="{499E7FF0-B499-4C22-812A-C4C2CE6DDC9B}" destId="{BA5C802E-C78D-40F7-9F70-85DA3AEBEEDE}"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D63E0E-118B-4EFA-8844-4B5B67FD4899}" type="doc">
      <dgm:prSet loTypeId="urn:microsoft.com/office/officeart/2005/8/layout/vList5" loCatId="list" qsTypeId="urn:microsoft.com/office/officeart/2005/8/quickstyle/3d1" qsCatId="3D" csTypeId="urn:microsoft.com/office/officeart/2005/8/colors/accent0_3" csCatId="mainScheme" phldr="1"/>
      <dgm:spPr/>
      <dgm:t>
        <a:bodyPr/>
        <a:lstStyle/>
        <a:p>
          <a:endParaRPr lang="en-IN"/>
        </a:p>
      </dgm:t>
    </dgm:pt>
    <dgm:pt modelId="{0C5582EE-3465-442D-B0FC-BD1516230801}">
      <dgm:prSet custT="1"/>
      <dgm:spPr/>
      <dgm:t>
        <a:bodyPr/>
        <a:lstStyle/>
        <a:p>
          <a:r>
            <a:rPr lang="en-IN" sz="2800" b="1" dirty="0"/>
            <a:t>On the Basis of Business Type</a:t>
          </a:r>
          <a:endParaRPr lang="en-IN" sz="2800" dirty="0"/>
        </a:p>
      </dgm:t>
    </dgm:pt>
    <dgm:pt modelId="{881A1E21-772C-40F5-8DB0-BDCE3DF5418D}" type="parTrans" cxnId="{B84D32B6-A040-402E-9DE2-BBB236DF44BF}">
      <dgm:prSet/>
      <dgm:spPr/>
      <dgm:t>
        <a:bodyPr/>
        <a:lstStyle/>
        <a:p>
          <a:endParaRPr lang="en-IN"/>
        </a:p>
      </dgm:t>
    </dgm:pt>
    <dgm:pt modelId="{E7108ED9-0B05-4C51-947C-A7580C65B860}" type="sibTrans" cxnId="{B84D32B6-A040-402E-9DE2-BBB236DF44BF}">
      <dgm:prSet/>
      <dgm:spPr/>
      <dgm:t>
        <a:bodyPr/>
        <a:lstStyle/>
        <a:p>
          <a:endParaRPr lang="en-IN"/>
        </a:p>
      </dgm:t>
    </dgm:pt>
    <dgm:pt modelId="{12901968-1B3D-42EE-9D47-302E09D2A987}">
      <dgm:prSet custT="1"/>
      <dgm:spPr/>
      <dgm:t>
        <a:bodyPr/>
        <a:lstStyle/>
        <a:p>
          <a:r>
            <a:rPr lang="en-IN" sz="2000" b="1"/>
            <a:t>Business Entrepreneur</a:t>
          </a:r>
          <a:endParaRPr lang="en-IN" sz="2000"/>
        </a:p>
      </dgm:t>
    </dgm:pt>
    <dgm:pt modelId="{8E308773-3CEB-4DC4-861F-2EE5FCC924C6}" type="parTrans" cxnId="{9A5ED1C6-2E8C-4048-A619-E64FCF0F61FE}">
      <dgm:prSet/>
      <dgm:spPr/>
      <dgm:t>
        <a:bodyPr/>
        <a:lstStyle/>
        <a:p>
          <a:endParaRPr lang="en-IN"/>
        </a:p>
      </dgm:t>
    </dgm:pt>
    <dgm:pt modelId="{2F84080F-0425-4BCC-8494-654EEC02AEE6}" type="sibTrans" cxnId="{9A5ED1C6-2E8C-4048-A619-E64FCF0F61FE}">
      <dgm:prSet/>
      <dgm:spPr/>
      <dgm:t>
        <a:bodyPr/>
        <a:lstStyle/>
        <a:p>
          <a:endParaRPr lang="en-IN"/>
        </a:p>
      </dgm:t>
    </dgm:pt>
    <dgm:pt modelId="{A82736C4-EACC-40E1-BBAC-0CFC5FEAB38C}">
      <dgm:prSet custT="1"/>
      <dgm:spPr/>
      <dgm:t>
        <a:bodyPr/>
        <a:lstStyle/>
        <a:p>
          <a:r>
            <a:rPr lang="en-IN" sz="1600" dirty="0"/>
            <a:t>Business entrepreneurs start and manage businesses in various sectors. </a:t>
          </a:r>
        </a:p>
      </dgm:t>
    </dgm:pt>
    <dgm:pt modelId="{319CAB0F-B9C1-4C2E-9068-5D023AAC9BC1}" type="parTrans" cxnId="{4EE31A2C-A047-4D49-8216-10CDD592DAF1}">
      <dgm:prSet/>
      <dgm:spPr/>
      <dgm:t>
        <a:bodyPr/>
        <a:lstStyle/>
        <a:p>
          <a:endParaRPr lang="en-IN"/>
        </a:p>
      </dgm:t>
    </dgm:pt>
    <dgm:pt modelId="{7FAE7E9F-FE08-4993-8418-30D1707D4BF7}" type="sibTrans" cxnId="{4EE31A2C-A047-4D49-8216-10CDD592DAF1}">
      <dgm:prSet/>
      <dgm:spPr/>
      <dgm:t>
        <a:bodyPr/>
        <a:lstStyle/>
        <a:p>
          <a:endParaRPr lang="en-IN"/>
        </a:p>
      </dgm:t>
    </dgm:pt>
    <dgm:pt modelId="{8CB4516F-4558-4841-8A07-A4C8C7BBC702}">
      <dgm:prSet/>
      <dgm:spPr/>
      <dgm:t>
        <a:bodyPr/>
        <a:lstStyle/>
        <a:p>
          <a:r>
            <a:rPr lang="en-IN" b="1"/>
            <a:t>Example:</a:t>
          </a:r>
          <a:r>
            <a:rPr lang="en-IN"/>
            <a:t> Mark Zuckerberg, the co-founder of Facebook</a:t>
          </a:r>
        </a:p>
      </dgm:t>
    </dgm:pt>
    <dgm:pt modelId="{31F4DE7A-CCD1-48E3-BD34-153EBD4AE7A7}" type="parTrans" cxnId="{8F6544B0-EBC9-465F-95D2-A889286A3F4C}">
      <dgm:prSet/>
      <dgm:spPr/>
      <dgm:t>
        <a:bodyPr/>
        <a:lstStyle/>
        <a:p>
          <a:endParaRPr lang="en-IN"/>
        </a:p>
      </dgm:t>
    </dgm:pt>
    <dgm:pt modelId="{FC58F505-0A29-4214-A0DB-4100C3C3E528}" type="sibTrans" cxnId="{8F6544B0-EBC9-465F-95D2-A889286A3F4C}">
      <dgm:prSet/>
      <dgm:spPr/>
      <dgm:t>
        <a:bodyPr/>
        <a:lstStyle/>
        <a:p>
          <a:endParaRPr lang="en-IN"/>
        </a:p>
      </dgm:t>
    </dgm:pt>
    <dgm:pt modelId="{257871D7-A721-4B69-9E50-B9011FE1545B}">
      <dgm:prSet custT="1"/>
      <dgm:spPr/>
      <dgm:t>
        <a:bodyPr/>
        <a:lstStyle/>
        <a:p>
          <a:r>
            <a:rPr lang="en-IN" sz="2000" b="1"/>
            <a:t>Trading Entrepreneur</a:t>
          </a:r>
          <a:endParaRPr lang="en-IN" sz="2000"/>
        </a:p>
      </dgm:t>
    </dgm:pt>
    <dgm:pt modelId="{417B2F8C-78C8-45D8-AFF2-8486D038DC0F}" type="parTrans" cxnId="{2239E23D-007A-463F-96BF-AF258033B441}">
      <dgm:prSet/>
      <dgm:spPr/>
      <dgm:t>
        <a:bodyPr/>
        <a:lstStyle/>
        <a:p>
          <a:endParaRPr lang="en-IN"/>
        </a:p>
      </dgm:t>
    </dgm:pt>
    <dgm:pt modelId="{6E10ABB2-E7B0-4423-BE5C-D14068C4C3DF}" type="sibTrans" cxnId="{2239E23D-007A-463F-96BF-AF258033B441}">
      <dgm:prSet/>
      <dgm:spPr/>
      <dgm:t>
        <a:bodyPr/>
        <a:lstStyle/>
        <a:p>
          <a:endParaRPr lang="en-IN"/>
        </a:p>
      </dgm:t>
    </dgm:pt>
    <dgm:pt modelId="{3781BB51-C8D4-485F-8861-C24473E2B29E}">
      <dgm:prSet custT="1"/>
      <dgm:spPr/>
      <dgm:t>
        <a:bodyPr/>
        <a:lstStyle/>
        <a:p>
          <a:r>
            <a:rPr lang="en-IN" sz="1800" dirty="0"/>
            <a:t>Trading entrepreneurs are involved in buying and selling goods or services. </a:t>
          </a:r>
        </a:p>
      </dgm:t>
    </dgm:pt>
    <dgm:pt modelId="{F86DB17B-AF03-4CAD-BB8E-B59BAF182DB6}" type="parTrans" cxnId="{E1362213-51C8-4F81-9BD2-C836F54C95D3}">
      <dgm:prSet/>
      <dgm:spPr/>
      <dgm:t>
        <a:bodyPr/>
        <a:lstStyle/>
        <a:p>
          <a:endParaRPr lang="en-IN"/>
        </a:p>
      </dgm:t>
    </dgm:pt>
    <dgm:pt modelId="{224ED2D2-7624-4FF1-9714-D7DFE90BB7D0}" type="sibTrans" cxnId="{E1362213-51C8-4F81-9BD2-C836F54C95D3}">
      <dgm:prSet/>
      <dgm:spPr/>
      <dgm:t>
        <a:bodyPr/>
        <a:lstStyle/>
        <a:p>
          <a:endParaRPr lang="en-IN"/>
        </a:p>
      </dgm:t>
    </dgm:pt>
    <dgm:pt modelId="{E8A9E135-1E3A-40DF-9C66-0B90BC8E9378}">
      <dgm:prSet/>
      <dgm:spPr/>
      <dgm:t>
        <a:bodyPr/>
        <a:lstStyle/>
        <a:p>
          <a:r>
            <a:rPr lang="en-IN" b="1"/>
            <a:t>Example: </a:t>
          </a:r>
          <a:r>
            <a:rPr lang="en-IN"/>
            <a:t>Jeff Bezos, the founder of Amazon</a:t>
          </a:r>
        </a:p>
      </dgm:t>
    </dgm:pt>
    <dgm:pt modelId="{899A8948-E27C-4902-87A5-8BBB1CF4115B}" type="parTrans" cxnId="{45E0CAF0-E061-4061-ACB3-CC332C298C8D}">
      <dgm:prSet/>
      <dgm:spPr/>
      <dgm:t>
        <a:bodyPr/>
        <a:lstStyle/>
        <a:p>
          <a:endParaRPr lang="en-IN"/>
        </a:p>
      </dgm:t>
    </dgm:pt>
    <dgm:pt modelId="{74E15C8A-3BB3-4C81-B3D9-3D3D1A5780B2}" type="sibTrans" cxnId="{45E0CAF0-E061-4061-ACB3-CC332C298C8D}">
      <dgm:prSet/>
      <dgm:spPr/>
      <dgm:t>
        <a:bodyPr/>
        <a:lstStyle/>
        <a:p>
          <a:endParaRPr lang="en-IN"/>
        </a:p>
      </dgm:t>
    </dgm:pt>
    <dgm:pt modelId="{ED7F662F-9FC1-4F4C-9F4E-0CEE90B17CE8}">
      <dgm:prSet custT="1"/>
      <dgm:spPr/>
      <dgm:t>
        <a:bodyPr/>
        <a:lstStyle/>
        <a:p>
          <a:r>
            <a:rPr lang="en-IN" sz="2000" b="1"/>
            <a:t>Industrial Entrepreneur</a:t>
          </a:r>
          <a:endParaRPr lang="en-IN" sz="2000"/>
        </a:p>
      </dgm:t>
    </dgm:pt>
    <dgm:pt modelId="{6863DD78-B182-43D0-AA22-BFBE4C25CDDC}" type="parTrans" cxnId="{D9C04B58-09E2-4F51-9DD1-48B9FA07345F}">
      <dgm:prSet/>
      <dgm:spPr/>
      <dgm:t>
        <a:bodyPr/>
        <a:lstStyle/>
        <a:p>
          <a:endParaRPr lang="en-IN"/>
        </a:p>
      </dgm:t>
    </dgm:pt>
    <dgm:pt modelId="{EFB0627B-6229-4FAB-A190-63E39047D4E6}" type="sibTrans" cxnId="{D9C04B58-09E2-4F51-9DD1-48B9FA07345F}">
      <dgm:prSet/>
      <dgm:spPr/>
      <dgm:t>
        <a:bodyPr/>
        <a:lstStyle/>
        <a:p>
          <a:endParaRPr lang="en-IN"/>
        </a:p>
      </dgm:t>
    </dgm:pt>
    <dgm:pt modelId="{4314E26A-5A94-47CB-8E64-FDF3701B9942}">
      <dgm:prSet custT="1"/>
      <dgm:spPr/>
      <dgm:t>
        <a:bodyPr/>
        <a:lstStyle/>
        <a:p>
          <a:r>
            <a:rPr lang="en-IN" sz="1800" dirty="0"/>
            <a:t>Industrial entrepreneurs are involved in manufacturing and industrial sectors. </a:t>
          </a:r>
        </a:p>
      </dgm:t>
    </dgm:pt>
    <dgm:pt modelId="{B6143FD6-9C40-490C-AF2E-B8F5699A4D11}" type="parTrans" cxnId="{C5544F8C-FDFF-4684-AF70-D2A22BD39A8C}">
      <dgm:prSet/>
      <dgm:spPr/>
      <dgm:t>
        <a:bodyPr/>
        <a:lstStyle/>
        <a:p>
          <a:endParaRPr lang="en-IN"/>
        </a:p>
      </dgm:t>
    </dgm:pt>
    <dgm:pt modelId="{0A86683B-9967-4A78-9737-7FE888BB0427}" type="sibTrans" cxnId="{C5544F8C-FDFF-4684-AF70-D2A22BD39A8C}">
      <dgm:prSet/>
      <dgm:spPr/>
      <dgm:t>
        <a:bodyPr/>
        <a:lstStyle/>
        <a:p>
          <a:endParaRPr lang="en-IN"/>
        </a:p>
      </dgm:t>
    </dgm:pt>
    <dgm:pt modelId="{EF60D291-00E2-4517-A464-C135ECD7193D}">
      <dgm:prSet/>
      <dgm:spPr/>
      <dgm:t>
        <a:bodyPr/>
        <a:lstStyle/>
        <a:p>
          <a:r>
            <a:rPr lang="en-IN" b="1" dirty="0"/>
            <a:t>Example:</a:t>
          </a:r>
          <a:r>
            <a:rPr lang="en-IN" dirty="0"/>
            <a:t> Elon Musk, the CEO of Tesla and SpaceX, </a:t>
          </a:r>
        </a:p>
      </dgm:t>
    </dgm:pt>
    <dgm:pt modelId="{9DB4421A-8EC9-4648-A73A-709D7C6AE719}" type="parTrans" cxnId="{3A2C9CDA-A31E-4198-8941-ACA7AEF2119A}">
      <dgm:prSet/>
      <dgm:spPr/>
      <dgm:t>
        <a:bodyPr/>
        <a:lstStyle/>
        <a:p>
          <a:endParaRPr lang="en-IN"/>
        </a:p>
      </dgm:t>
    </dgm:pt>
    <dgm:pt modelId="{13437EBE-55DE-49DA-A1F5-4719D3F3D836}" type="sibTrans" cxnId="{3A2C9CDA-A31E-4198-8941-ACA7AEF2119A}">
      <dgm:prSet/>
      <dgm:spPr/>
      <dgm:t>
        <a:bodyPr/>
        <a:lstStyle/>
        <a:p>
          <a:endParaRPr lang="en-IN"/>
        </a:p>
      </dgm:t>
    </dgm:pt>
    <dgm:pt modelId="{638E2D17-84E1-4CFE-94A0-F21525004A5B}">
      <dgm:prSet custT="1"/>
      <dgm:spPr/>
      <dgm:t>
        <a:bodyPr/>
        <a:lstStyle/>
        <a:p>
          <a:r>
            <a:rPr lang="en-IN" sz="2000" b="1" dirty="0"/>
            <a:t>Corporate Entrepreneur</a:t>
          </a:r>
          <a:endParaRPr lang="en-IN" sz="2000" dirty="0"/>
        </a:p>
      </dgm:t>
    </dgm:pt>
    <dgm:pt modelId="{B59D0DFD-9843-4D66-97ED-1DA10B9D4AB4}" type="parTrans" cxnId="{EBB0BA6A-8B4F-472B-8B4E-DA8B2180EE1B}">
      <dgm:prSet/>
      <dgm:spPr/>
      <dgm:t>
        <a:bodyPr/>
        <a:lstStyle/>
        <a:p>
          <a:endParaRPr lang="en-IN"/>
        </a:p>
      </dgm:t>
    </dgm:pt>
    <dgm:pt modelId="{308C16DE-EBBB-4040-88EF-9A9B63664C47}" type="sibTrans" cxnId="{EBB0BA6A-8B4F-472B-8B4E-DA8B2180EE1B}">
      <dgm:prSet/>
      <dgm:spPr/>
      <dgm:t>
        <a:bodyPr/>
        <a:lstStyle/>
        <a:p>
          <a:endParaRPr lang="en-IN"/>
        </a:p>
      </dgm:t>
    </dgm:pt>
    <dgm:pt modelId="{218EDB67-082C-468C-AC1E-03A832500848}">
      <dgm:prSet custT="1"/>
      <dgm:spPr/>
      <dgm:t>
        <a:bodyPr/>
        <a:lstStyle/>
        <a:p>
          <a:r>
            <a:rPr lang="en-IN" sz="1400" dirty="0"/>
            <a:t>Corporate or intrapreneurs exhibit entrepreneurial characteristics within existing organizations.</a:t>
          </a:r>
        </a:p>
      </dgm:t>
    </dgm:pt>
    <dgm:pt modelId="{FC0878BF-5BA6-4388-A8BF-059D1DBAFB65}" type="parTrans" cxnId="{B3C4ADBF-B124-4B22-9DBA-F54CBDC8607D}">
      <dgm:prSet/>
      <dgm:spPr/>
      <dgm:t>
        <a:bodyPr/>
        <a:lstStyle/>
        <a:p>
          <a:endParaRPr lang="en-IN"/>
        </a:p>
      </dgm:t>
    </dgm:pt>
    <dgm:pt modelId="{F7E65158-0F3C-4CB0-AAEC-E1350ECC4308}" type="sibTrans" cxnId="{B3C4ADBF-B124-4B22-9DBA-F54CBDC8607D}">
      <dgm:prSet/>
      <dgm:spPr/>
      <dgm:t>
        <a:bodyPr/>
        <a:lstStyle/>
        <a:p>
          <a:endParaRPr lang="en-IN"/>
        </a:p>
      </dgm:t>
    </dgm:pt>
    <dgm:pt modelId="{C383878F-4361-4E40-A61D-A6C3D67C7C88}">
      <dgm:prSet/>
      <dgm:spPr/>
      <dgm:t>
        <a:bodyPr/>
        <a:lstStyle/>
        <a:p>
          <a:r>
            <a:rPr lang="en-IN" b="1"/>
            <a:t>Example:</a:t>
          </a:r>
          <a:r>
            <a:rPr lang="en-IN"/>
            <a:t> Google’s “20% time” policy allows employees to work on personal projects</a:t>
          </a:r>
        </a:p>
      </dgm:t>
    </dgm:pt>
    <dgm:pt modelId="{C74DF56C-65BC-4780-9CE1-265D3B83003B}" type="parTrans" cxnId="{3E8FC3F6-06F1-4DB6-998A-944110AFC611}">
      <dgm:prSet/>
      <dgm:spPr/>
      <dgm:t>
        <a:bodyPr/>
        <a:lstStyle/>
        <a:p>
          <a:endParaRPr lang="en-IN"/>
        </a:p>
      </dgm:t>
    </dgm:pt>
    <dgm:pt modelId="{61443026-8E3F-4B0C-86A0-0CDF2B5FCACD}" type="sibTrans" cxnId="{3E8FC3F6-06F1-4DB6-998A-944110AFC611}">
      <dgm:prSet/>
      <dgm:spPr/>
      <dgm:t>
        <a:bodyPr/>
        <a:lstStyle/>
        <a:p>
          <a:endParaRPr lang="en-IN"/>
        </a:p>
      </dgm:t>
    </dgm:pt>
    <dgm:pt modelId="{37CC8B7D-6417-499C-BDCA-2DF5F62A4E1E}">
      <dgm:prSet custT="1"/>
      <dgm:spPr/>
      <dgm:t>
        <a:bodyPr/>
        <a:lstStyle/>
        <a:p>
          <a:r>
            <a:rPr lang="en-IN" sz="2000" b="1"/>
            <a:t>Agricultural Entrepreneur</a:t>
          </a:r>
          <a:endParaRPr lang="en-IN" sz="2000"/>
        </a:p>
      </dgm:t>
    </dgm:pt>
    <dgm:pt modelId="{9C1F8304-8CB1-4CB3-8931-19F7C90A33F4}" type="parTrans" cxnId="{CFE27945-C361-48BC-BE59-7CE03ADC2403}">
      <dgm:prSet/>
      <dgm:spPr/>
      <dgm:t>
        <a:bodyPr/>
        <a:lstStyle/>
        <a:p>
          <a:endParaRPr lang="en-IN"/>
        </a:p>
      </dgm:t>
    </dgm:pt>
    <dgm:pt modelId="{CAF7E7AE-C18C-49AE-BFEB-6E3797247A6F}" type="sibTrans" cxnId="{CFE27945-C361-48BC-BE59-7CE03ADC2403}">
      <dgm:prSet/>
      <dgm:spPr/>
      <dgm:t>
        <a:bodyPr/>
        <a:lstStyle/>
        <a:p>
          <a:endParaRPr lang="en-IN"/>
        </a:p>
      </dgm:t>
    </dgm:pt>
    <dgm:pt modelId="{188326D9-54BA-43F0-8E33-B3EA855ADCDA}">
      <dgm:prSet custT="1"/>
      <dgm:spPr/>
      <dgm:t>
        <a:bodyPr/>
        <a:lstStyle/>
        <a:p>
          <a:r>
            <a:rPr lang="en-IN" sz="1200" dirty="0"/>
            <a:t>Agricultural entrepreneurs are involved in agricultural activities, including farming, livestock production, and agribusiness</a:t>
          </a:r>
        </a:p>
      </dgm:t>
    </dgm:pt>
    <dgm:pt modelId="{DFB7C403-7A0A-4371-AFE5-E684C67AA0F2}" type="parTrans" cxnId="{4823A9E3-1DC8-4BA0-AF3B-6B4C3E99C4DB}">
      <dgm:prSet/>
      <dgm:spPr/>
      <dgm:t>
        <a:bodyPr/>
        <a:lstStyle/>
        <a:p>
          <a:endParaRPr lang="en-IN"/>
        </a:p>
      </dgm:t>
    </dgm:pt>
    <dgm:pt modelId="{2312F45A-0CD9-4621-8FD5-4B35BB8C68D9}" type="sibTrans" cxnId="{4823A9E3-1DC8-4BA0-AF3B-6B4C3E99C4DB}">
      <dgm:prSet/>
      <dgm:spPr/>
      <dgm:t>
        <a:bodyPr/>
        <a:lstStyle/>
        <a:p>
          <a:endParaRPr lang="en-IN"/>
        </a:p>
      </dgm:t>
    </dgm:pt>
    <dgm:pt modelId="{BD13B4B6-D3EA-469F-AAFF-EAD53B956A4C}">
      <dgm:prSet/>
      <dgm:spPr/>
      <dgm:t>
        <a:bodyPr/>
        <a:lstStyle/>
        <a:p>
          <a:r>
            <a:rPr lang="en-IN" b="1" dirty="0"/>
            <a:t>Example:</a:t>
          </a:r>
          <a:r>
            <a:rPr lang="en-IN" dirty="0"/>
            <a:t> Joel </a:t>
          </a:r>
          <a:r>
            <a:rPr lang="en-IN" dirty="0" err="1"/>
            <a:t>Salatin</a:t>
          </a:r>
          <a:r>
            <a:rPr lang="en-IN" dirty="0"/>
            <a:t>, a sustainable farmer and advocate for regenerative agriculture</a:t>
          </a:r>
        </a:p>
      </dgm:t>
    </dgm:pt>
    <dgm:pt modelId="{D023D565-2599-403D-B96E-00774A2EF03A}" type="parTrans" cxnId="{DBF4938C-4790-4F56-A3D7-A017E0D29B81}">
      <dgm:prSet/>
      <dgm:spPr/>
      <dgm:t>
        <a:bodyPr/>
        <a:lstStyle/>
        <a:p>
          <a:endParaRPr lang="en-IN"/>
        </a:p>
      </dgm:t>
    </dgm:pt>
    <dgm:pt modelId="{A5D6F67E-7E29-4A5E-BEDF-8A467408C522}" type="sibTrans" cxnId="{DBF4938C-4790-4F56-A3D7-A017E0D29B81}">
      <dgm:prSet/>
      <dgm:spPr/>
      <dgm:t>
        <a:bodyPr/>
        <a:lstStyle/>
        <a:p>
          <a:endParaRPr lang="en-IN"/>
        </a:p>
      </dgm:t>
    </dgm:pt>
    <dgm:pt modelId="{3742DDA5-E728-4F33-AA4B-F126CB2358B7}" type="pres">
      <dgm:prSet presAssocID="{FAD63E0E-118B-4EFA-8844-4B5B67FD4899}" presName="Name0" presStyleCnt="0">
        <dgm:presLayoutVars>
          <dgm:dir/>
          <dgm:animLvl val="lvl"/>
          <dgm:resizeHandles val="exact"/>
        </dgm:presLayoutVars>
      </dgm:prSet>
      <dgm:spPr/>
      <dgm:t>
        <a:bodyPr/>
        <a:lstStyle/>
        <a:p>
          <a:endParaRPr lang="en-US"/>
        </a:p>
      </dgm:t>
    </dgm:pt>
    <dgm:pt modelId="{C6BA46E2-0875-4A24-962B-3BF6D5536507}" type="pres">
      <dgm:prSet presAssocID="{0C5582EE-3465-442D-B0FC-BD1516230801}" presName="linNode" presStyleCnt="0"/>
      <dgm:spPr/>
    </dgm:pt>
    <dgm:pt modelId="{D4CFD13D-2C86-4A5D-A5E0-2EAD1A723195}" type="pres">
      <dgm:prSet presAssocID="{0C5582EE-3465-442D-B0FC-BD1516230801}" presName="parentText" presStyleLbl="node1" presStyleIdx="0" presStyleCnt="11" custScaleX="277778">
        <dgm:presLayoutVars>
          <dgm:chMax val="1"/>
          <dgm:bulletEnabled val="1"/>
        </dgm:presLayoutVars>
      </dgm:prSet>
      <dgm:spPr/>
      <dgm:t>
        <a:bodyPr/>
        <a:lstStyle/>
        <a:p>
          <a:endParaRPr lang="en-US"/>
        </a:p>
      </dgm:t>
    </dgm:pt>
    <dgm:pt modelId="{8F548AA8-F1BD-4620-B638-F89F8920601F}" type="pres">
      <dgm:prSet presAssocID="{E7108ED9-0B05-4C51-947C-A7580C65B860}" presName="sp" presStyleCnt="0"/>
      <dgm:spPr/>
    </dgm:pt>
    <dgm:pt modelId="{DEF91DF1-D84A-452A-97D3-53A72426BD89}" type="pres">
      <dgm:prSet presAssocID="{12901968-1B3D-42EE-9D47-302E09D2A987}" presName="linNode" presStyleCnt="0"/>
      <dgm:spPr/>
    </dgm:pt>
    <dgm:pt modelId="{1AE472A8-200A-4BC4-9A0F-67973D9C01EC}" type="pres">
      <dgm:prSet presAssocID="{12901968-1B3D-42EE-9D47-302E09D2A987}" presName="parentText" presStyleLbl="node1" presStyleIdx="1" presStyleCnt="11" custScaleX="277778">
        <dgm:presLayoutVars>
          <dgm:chMax val="1"/>
          <dgm:bulletEnabled val="1"/>
        </dgm:presLayoutVars>
      </dgm:prSet>
      <dgm:spPr/>
      <dgm:t>
        <a:bodyPr/>
        <a:lstStyle/>
        <a:p>
          <a:endParaRPr lang="en-US"/>
        </a:p>
      </dgm:t>
    </dgm:pt>
    <dgm:pt modelId="{0B41510A-40E4-46D3-9D4F-F2CA507925D1}" type="pres">
      <dgm:prSet presAssocID="{2F84080F-0425-4BCC-8494-654EEC02AEE6}" presName="sp" presStyleCnt="0"/>
      <dgm:spPr/>
    </dgm:pt>
    <dgm:pt modelId="{8DC8FFE7-F848-496B-8606-498F47D2EED4}" type="pres">
      <dgm:prSet presAssocID="{A82736C4-EACC-40E1-BBAC-0CFC5FEAB38C}" presName="linNode" presStyleCnt="0"/>
      <dgm:spPr/>
    </dgm:pt>
    <dgm:pt modelId="{5FD1AE8D-06DA-4369-A29D-6C0147F35FB8}" type="pres">
      <dgm:prSet presAssocID="{A82736C4-EACC-40E1-BBAC-0CFC5FEAB38C}" presName="parentText" presStyleLbl="node1" presStyleIdx="2" presStyleCnt="11">
        <dgm:presLayoutVars>
          <dgm:chMax val="1"/>
          <dgm:bulletEnabled val="1"/>
        </dgm:presLayoutVars>
      </dgm:prSet>
      <dgm:spPr/>
      <dgm:t>
        <a:bodyPr/>
        <a:lstStyle/>
        <a:p>
          <a:endParaRPr lang="en-US"/>
        </a:p>
      </dgm:t>
    </dgm:pt>
    <dgm:pt modelId="{C4FF4BA7-CCAC-407C-976D-BBEC65550612}" type="pres">
      <dgm:prSet presAssocID="{A82736C4-EACC-40E1-BBAC-0CFC5FEAB38C}" presName="descendantText" presStyleLbl="alignAccFollowNode1" presStyleIdx="0" presStyleCnt="5">
        <dgm:presLayoutVars>
          <dgm:bulletEnabled val="1"/>
        </dgm:presLayoutVars>
      </dgm:prSet>
      <dgm:spPr/>
      <dgm:t>
        <a:bodyPr/>
        <a:lstStyle/>
        <a:p>
          <a:endParaRPr lang="en-US"/>
        </a:p>
      </dgm:t>
    </dgm:pt>
    <dgm:pt modelId="{03993274-E301-4C9B-A31B-1004C499A176}" type="pres">
      <dgm:prSet presAssocID="{7FAE7E9F-FE08-4993-8418-30D1707D4BF7}" presName="sp" presStyleCnt="0"/>
      <dgm:spPr/>
    </dgm:pt>
    <dgm:pt modelId="{2E73126E-77E1-416E-BE6C-0B48D5E63AD1}" type="pres">
      <dgm:prSet presAssocID="{257871D7-A721-4B69-9E50-B9011FE1545B}" presName="linNode" presStyleCnt="0"/>
      <dgm:spPr/>
    </dgm:pt>
    <dgm:pt modelId="{DD5C0A6E-B731-4D4D-AB41-B6D74E0B18A9}" type="pres">
      <dgm:prSet presAssocID="{257871D7-A721-4B69-9E50-B9011FE1545B}" presName="parentText" presStyleLbl="node1" presStyleIdx="3" presStyleCnt="11" custScaleX="277778">
        <dgm:presLayoutVars>
          <dgm:chMax val="1"/>
          <dgm:bulletEnabled val="1"/>
        </dgm:presLayoutVars>
      </dgm:prSet>
      <dgm:spPr/>
      <dgm:t>
        <a:bodyPr/>
        <a:lstStyle/>
        <a:p>
          <a:endParaRPr lang="en-US"/>
        </a:p>
      </dgm:t>
    </dgm:pt>
    <dgm:pt modelId="{89092426-08DE-4B21-A3DE-59A43DADCCC7}" type="pres">
      <dgm:prSet presAssocID="{6E10ABB2-E7B0-4423-BE5C-D14068C4C3DF}" presName="sp" presStyleCnt="0"/>
      <dgm:spPr/>
    </dgm:pt>
    <dgm:pt modelId="{F37A5A44-0C84-4415-BA92-E93346613D88}" type="pres">
      <dgm:prSet presAssocID="{3781BB51-C8D4-485F-8861-C24473E2B29E}" presName="linNode" presStyleCnt="0"/>
      <dgm:spPr/>
    </dgm:pt>
    <dgm:pt modelId="{F3A6389E-9F11-46C8-8548-54D1B3A92F83}" type="pres">
      <dgm:prSet presAssocID="{3781BB51-C8D4-485F-8861-C24473E2B29E}" presName="parentText" presStyleLbl="node1" presStyleIdx="4" presStyleCnt="11">
        <dgm:presLayoutVars>
          <dgm:chMax val="1"/>
          <dgm:bulletEnabled val="1"/>
        </dgm:presLayoutVars>
      </dgm:prSet>
      <dgm:spPr/>
      <dgm:t>
        <a:bodyPr/>
        <a:lstStyle/>
        <a:p>
          <a:endParaRPr lang="en-US"/>
        </a:p>
      </dgm:t>
    </dgm:pt>
    <dgm:pt modelId="{63AB52B8-64E2-4EF4-BFFC-C4FF41B5C71D}" type="pres">
      <dgm:prSet presAssocID="{3781BB51-C8D4-485F-8861-C24473E2B29E}" presName="descendantText" presStyleLbl="alignAccFollowNode1" presStyleIdx="1" presStyleCnt="5">
        <dgm:presLayoutVars>
          <dgm:bulletEnabled val="1"/>
        </dgm:presLayoutVars>
      </dgm:prSet>
      <dgm:spPr/>
      <dgm:t>
        <a:bodyPr/>
        <a:lstStyle/>
        <a:p>
          <a:endParaRPr lang="en-US"/>
        </a:p>
      </dgm:t>
    </dgm:pt>
    <dgm:pt modelId="{C0A428E3-45C6-4315-93BF-0956E6429852}" type="pres">
      <dgm:prSet presAssocID="{224ED2D2-7624-4FF1-9714-D7DFE90BB7D0}" presName="sp" presStyleCnt="0"/>
      <dgm:spPr/>
    </dgm:pt>
    <dgm:pt modelId="{A2E265F9-8972-4AE9-B28C-99F098EA0C6D}" type="pres">
      <dgm:prSet presAssocID="{ED7F662F-9FC1-4F4C-9F4E-0CEE90B17CE8}" presName="linNode" presStyleCnt="0"/>
      <dgm:spPr/>
    </dgm:pt>
    <dgm:pt modelId="{75491EDA-8D8A-4442-9834-63477D431319}" type="pres">
      <dgm:prSet presAssocID="{ED7F662F-9FC1-4F4C-9F4E-0CEE90B17CE8}" presName="parentText" presStyleLbl="node1" presStyleIdx="5" presStyleCnt="11" custScaleX="277778">
        <dgm:presLayoutVars>
          <dgm:chMax val="1"/>
          <dgm:bulletEnabled val="1"/>
        </dgm:presLayoutVars>
      </dgm:prSet>
      <dgm:spPr/>
      <dgm:t>
        <a:bodyPr/>
        <a:lstStyle/>
        <a:p>
          <a:endParaRPr lang="en-US"/>
        </a:p>
      </dgm:t>
    </dgm:pt>
    <dgm:pt modelId="{755BEEA4-08CF-4A7E-94DE-1C3BA684DFAA}" type="pres">
      <dgm:prSet presAssocID="{EFB0627B-6229-4FAB-A190-63E39047D4E6}" presName="sp" presStyleCnt="0"/>
      <dgm:spPr/>
    </dgm:pt>
    <dgm:pt modelId="{7BCEE2DF-E6DE-4F11-BE4F-1705303F897F}" type="pres">
      <dgm:prSet presAssocID="{4314E26A-5A94-47CB-8E64-FDF3701B9942}" presName="linNode" presStyleCnt="0"/>
      <dgm:spPr/>
    </dgm:pt>
    <dgm:pt modelId="{AF4213FC-2CD5-4F90-8BF5-EF1C2F883FA0}" type="pres">
      <dgm:prSet presAssocID="{4314E26A-5A94-47CB-8E64-FDF3701B9942}" presName="parentText" presStyleLbl="node1" presStyleIdx="6" presStyleCnt="11">
        <dgm:presLayoutVars>
          <dgm:chMax val="1"/>
          <dgm:bulletEnabled val="1"/>
        </dgm:presLayoutVars>
      </dgm:prSet>
      <dgm:spPr/>
      <dgm:t>
        <a:bodyPr/>
        <a:lstStyle/>
        <a:p>
          <a:endParaRPr lang="en-US"/>
        </a:p>
      </dgm:t>
    </dgm:pt>
    <dgm:pt modelId="{D38EEAB4-2A0F-4EC4-8104-597DBB6AEF2B}" type="pres">
      <dgm:prSet presAssocID="{4314E26A-5A94-47CB-8E64-FDF3701B9942}" presName="descendantText" presStyleLbl="alignAccFollowNode1" presStyleIdx="2" presStyleCnt="5">
        <dgm:presLayoutVars>
          <dgm:bulletEnabled val="1"/>
        </dgm:presLayoutVars>
      </dgm:prSet>
      <dgm:spPr/>
      <dgm:t>
        <a:bodyPr/>
        <a:lstStyle/>
        <a:p>
          <a:endParaRPr lang="en-US"/>
        </a:p>
      </dgm:t>
    </dgm:pt>
    <dgm:pt modelId="{5FEFDF85-6CD9-4472-8F9E-4832009FEB16}" type="pres">
      <dgm:prSet presAssocID="{0A86683B-9967-4A78-9737-7FE888BB0427}" presName="sp" presStyleCnt="0"/>
      <dgm:spPr/>
    </dgm:pt>
    <dgm:pt modelId="{538B4E54-0918-4972-8135-62C59C0F3AB0}" type="pres">
      <dgm:prSet presAssocID="{638E2D17-84E1-4CFE-94A0-F21525004A5B}" presName="linNode" presStyleCnt="0"/>
      <dgm:spPr/>
    </dgm:pt>
    <dgm:pt modelId="{6EC8894E-E950-4EC1-920A-0874D1DED27A}" type="pres">
      <dgm:prSet presAssocID="{638E2D17-84E1-4CFE-94A0-F21525004A5B}" presName="parentText" presStyleLbl="node1" presStyleIdx="7" presStyleCnt="11" custScaleX="277778">
        <dgm:presLayoutVars>
          <dgm:chMax val="1"/>
          <dgm:bulletEnabled val="1"/>
        </dgm:presLayoutVars>
      </dgm:prSet>
      <dgm:spPr/>
      <dgm:t>
        <a:bodyPr/>
        <a:lstStyle/>
        <a:p>
          <a:endParaRPr lang="en-US"/>
        </a:p>
      </dgm:t>
    </dgm:pt>
    <dgm:pt modelId="{0A63B68F-1E93-42A9-9455-952DD12CAE46}" type="pres">
      <dgm:prSet presAssocID="{308C16DE-EBBB-4040-88EF-9A9B63664C47}" presName="sp" presStyleCnt="0"/>
      <dgm:spPr/>
    </dgm:pt>
    <dgm:pt modelId="{E037E52F-E003-4899-B640-B86959F7CD9B}" type="pres">
      <dgm:prSet presAssocID="{218EDB67-082C-468C-AC1E-03A832500848}" presName="linNode" presStyleCnt="0"/>
      <dgm:spPr/>
    </dgm:pt>
    <dgm:pt modelId="{E8A61E0D-609A-4442-A813-2E191776AFE3}" type="pres">
      <dgm:prSet presAssocID="{218EDB67-082C-468C-AC1E-03A832500848}" presName="parentText" presStyleLbl="node1" presStyleIdx="8" presStyleCnt="11">
        <dgm:presLayoutVars>
          <dgm:chMax val="1"/>
          <dgm:bulletEnabled val="1"/>
        </dgm:presLayoutVars>
      </dgm:prSet>
      <dgm:spPr/>
      <dgm:t>
        <a:bodyPr/>
        <a:lstStyle/>
        <a:p>
          <a:endParaRPr lang="en-US"/>
        </a:p>
      </dgm:t>
    </dgm:pt>
    <dgm:pt modelId="{1A6C1CD5-21BC-4056-B01C-CC0B8B05B1CD}" type="pres">
      <dgm:prSet presAssocID="{218EDB67-082C-468C-AC1E-03A832500848}" presName="descendantText" presStyleLbl="alignAccFollowNode1" presStyleIdx="3" presStyleCnt="5">
        <dgm:presLayoutVars>
          <dgm:bulletEnabled val="1"/>
        </dgm:presLayoutVars>
      </dgm:prSet>
      <dgm:spPr/>
      <dgm:t>
        <a:bodyPr/>
        <a:lstStyle/>
        <a:p>
          <a:endParaRPr lang="en-US"/>
        </a:p>
      </dgm:t>
    </dgm:pt>
    <dgm:pt modelId="{B5B309CF-8956-4E94-8F20-7765563A1EC2}" type="pres">
      <dgm:prSet presAssocID="{F7E65158-0F3C-4CB0-AAEC-E1350ECC4308}" presName="sp" presStyleCnt="0"/>
      <dgm:spPr/>
    </dgm:pt>
    <dgm:pt modelId="{D80CC8EB-493D-477B-BA94-CD66A6AE8B1A}" type="pres">
      <dgm:prSet presAssocID="{37CC8B7D-6417-499C-BDCA-2DF5F62A4E1E}" presName="linNode" presStyleCnt="0"/>
      <dgm:spPr/>
    </dgm:pt>
    <dgm:pt modelId="{380332F9-DFEB-445F-BD18-78D347B88894}" type="pres">
      <dgm:prSet presAssocID="{37CC8B7D-6417-499C-BDCA-2DF5F62A4E1E}" presName="parentText" presStyleLbl="node1" presStyleIdx="9" presStyleCnt="11" custScaleX="277778">
        <dgm:presLayoutVars>
          <dgm:chMax val="1"/>
          <dgm:bulletEnabled val="1"/>
        </dgm:presLayoutVars>
      </dgm:prSet>
      <dgm:spPr/>
      <dgm:t>
        <a:bodyPr/>
        <a:lstStyle/>
        <a:p>
          <a:endParaRPr lang="en-US"/>
        </a:p>
      </dgm:t>
    </dgm:pt>
    <dgm:pt modelId="{9135CD47-C743-4446-B207-CA6DC694D063}" type="pres">
      <dgm:prSet presAssocID="{CAF7E7AE-C18C-49AE-BFEB-6E3797247A6F}" presName="sp" presStyleCnt="0"/>
      <dgm:spPr/>
    </dgm:pt>
    <dgm:pt modelId="{C96892EF-02FC-4E93-9E12-857CEF5275D9}" type="pres">
      <dgm:prSet presAssocID="{188326D9-54BA-43F0-8E33-B3EA855ADCDA}" presName="linNode" presStyleCnt="0"/>
      <dgm:spPr/>
    </dgm:pt>
    <dgm:pt modelId="{034E6FD5-C1F3-45EC-BAB3-625E66548B29}" type="pres">
      <dgm:prSet presAssocID="{188326D9-54BA-43F0-8E33-B3EA855ADCDA}" presName="parentText" presStyleLbl="node1" presStyleIdx="10" presStyleCnt="11">
        <dgm:presLayoutVars>
          <dgm:chMax val="1"/>
          <dgm:bulletEnabled val="1"/>
        </dgm:presLayoutVars>
      </dgm:prSet>
      <dgm:spPr/>
      <dgm:t>
        <a:bodyPr/>
        <a:lstStyle/>
        <a:p>
          <a:endParaRPr lang="en-US"/>
        </a:p>
      </dgm:t>
    </dgm:pt>
    <dgm:pt modelId="{6A214EA9-405C-466A-8937-CC432AE414DF}" type="pres">
      <dgm:prSet presAssocID="{188326D9-54BA-43F0-8E33-B3EA855ADCDA}" presName="descendantText" presStyleLbl="alignAccFollowNode1" presStyleIdx="4" presStyleCnt="5">
        <dgm:presLayoutVars>
          <dgm:bulletEnabled val="1"/>
        </dgm:presLayoutVars>
      </dgm:prSet>
      <dgm:spPr/>
      <dgm:t>
        <a:bodyPr/>
        <a:lstStyle/>
        <a:p>
          <a:endParaRPr lang="en-US"/>
        </a:p>
      </dgm:t>
    </dgm:pt>
  </dgm:ptLst>
  <dgm:cxnLst>
    <dgm:cxn modelId="{4EE31A2C-A047-4D49-8216-10CDD592DAF1}" srcId="{FAD63E0E-118B-4EFA-8844-4B5B67FD4899}" destId="{A82736C4-EACC-40E1-BBAC-0CFC5FEAB38C}" srcOrd="2" destOrd="0" parTransId="{319CAB0F-B9C1-4C2E-9068-5D023AAC9BC1}" sibTransId="{7FAE7E9F-FE08-4993-8418-30D1707D4BF7}"/>
    <dgm:cxn modelId="{1B4BE03F-B933-4BD1-BA22-4585D25BD3B0}" type="presOf" srcId="{ED7F662F-9FC1-4F4C-9F4E-0CEE90B17CE8}" destId="{75491EDA-8D8A-4442-9834-63477D431319}" srcOrd="0" destOrd="0" presId="urn:microsoft.com/office/officeart/2005/8/layout/vList5"/>
    <dgm:cxn modelId="{4823A9E3-1DC8-4BA0-AF3B-6B4C3E99C4DB}" srcId="{FAD63E0E-118B-4EFA-8844-4B5B67FD4899}" destId="{188326D9-54BA-43F0-8E33-B3EA855ADCDA}" srcOrd="10" destOrd="0" parTransId="{DFB7C403-7A0A-4371-AFE5-E684C67AA0F2}" sibTransId="{2312F45A-0CD9-4621-8FD5-4B35BB8C68D9}"/>
    <dgm:cxn modelId="{CFE27945-C361-48BC-BE59-7CE03ADC2403}" srcId="{FAD63E0E-118B-4EFA-8844-4B5B67FD4899}" destId="{37CC8B7D-6417-499C-BDCA-2DF5F62A4E1E}" srcOrd="9" destOrd="0" parTransId="{9C1F8304-8CB1-4CB3-8931-19F7C90A33F4}" sibTransId="{CAF7E7AE-C18C-49AE-BFEB-6E3797247A6F}"/>
    <dgm:cxn modelId="{C5544F8C-FDFF-4684-AF70-D2A22BD39A8C}" srcId="{FAD63E0E-118B-4EFA-8844-4B5B67FD4899}" destId="{4314E26A-5A94-47CB-8E64-FDF3701B9942}" srcOrd="6" destOrd="0" parTransId="{B6143FD6-9C40-490C-AF2E-B8F5699A4D11}" sibTransId="{0A86683B-9967-4A78-9737-7FE888BB0427}"/>
    <dgm:cxn modelId="{EBB0BA6A-8B4F-472B-8B4E-DA8B2180EE1B}" srcId="{FAD63E0E-118B-4EFA-8844-4B5B67FD4899}" destId="{638E2D17-84E1-4CFE-94A0-F21525004A5B}" srcOrd="7" destOrd="0" parTransId="{B59D0DFD-9843-4D66-97ED-1DA10B9D4AB4}" sibTransId="{308C16DE-EBBB-4040-88EF-9A9B63664C47}"/>
    <dgm:cxn modelId="{8F6544B0-EBC9-465F-95D2-A889286A3F4C}" srcId="{A82736C4-EACC-40E1-BBAC-0CFC5FEAB38C}" destId="{8CB4516F-4558-4841-8A07-A4C8C7BBC702}" srcOrd="0" destOrd="0" parTransId="{31F4DE7A-CCD1-48E3-BD34-153EBD4AE7A7}" sibTransId="{FC58F505-0A29-4214-A0DB-4100C3C3E528}"/>
    <dgm:cxn modelId="{76066A80-9EFD-4291-B23D-06FC8824A6A5}" type="presOf" srcId="{4314E26A-5A94-47CB-8E64-FDF3701B9942}" destId="{AF4213FC-2CD5-4F90-8BF5-EF1C2F883FA0}" srcOrd="0" destOrd="0" presId="urn:microsoft.com/office/officeart/2005/8/layout/vList5"/>
    <dgm:cxn modelId="{97D79C2F-B264-458D-B4FD-44634373CBAC}" type="presOf" srcId="{3781BB51-C8D4-485F-8861-C24473E2B29E}" destId="{F3A6389E-9F11-46C8-8548-54D1B3A92F83}" srcOrd="0" destOrd="0" presId="urn:microsoft.com/office/officeart/2005/8/layout/vList5"/>
    <dgm:cxn modelId="{2BEDBDED-7D8C-4B15-AAD2-C44D842B2D2E}" type="presOf" srcId="{BD13B4B6-D3EA-469F-AAFF-EAD53B956A4C}" destId="{6A214EA9-405C-466A-8937-CC432AE414DF}" srcOrd="0" destOrd="0" presId="urn:microsoft.com/office/officeart/2005/8/layout/vList5"/>
    <dgm:cxn modelId="{E1362213-51C8-4F81-9BD2-C836F54C95D3}" srcId="{FAD63E0E-118B-4EFA-8844-4B5B67FD4899}" destId="{3781BB51-C8D4-485F-8861-C24473E2B29E}" srcOrd="4" destOrd="0" parTransId="{F86DB17B-AF03-4CAD-BB8E-B59BAF182DB6}" sibTransId="{224ED2D2-7624-4FF1-9714-D7DFE90BB7D0}"/>
    <dgm:cxn modelId="{B84D32B6-A040-402E-9DE2-BBB236DF44BF}" srcId="{FAD63E0E-118B-4EFA-8844-4B5B67FD4899}" destId="{0C5582EE-3465-442D-B0FC-BD1516230801}" srcOrd="0" destOrd="0" parTransId="{881A1E21-772C-40F5-8DB0-BDCE3DF5418D}" sibTransId="{E7108ED9-0B05-4C51-947C-A7580C65B860}"/>
    <dgm:cxn modelId="{12050830-5C7C-418A-BB1E-2F6D6CA2CE67}" type="presOf" srcId="{218EDB67-082C-468C-AC1E-03A832500848}" destId="{E8A61E0D-609A-4442-A813-2E191776AFE3}" srcOrd="0" destOrd="0" presId="urn:microsoft.com/office/officeart/2005/8/layout/vList5"/>
    <dgm:cxn modelId="{ACEE9B14-C7E0-4D27-A963-21B6C998EEBE}" type="presOf" srcId="{257871D7-A721-4B69-9E50-B9011FE1545B}" destId="{DD5C0A6E-B731-4D4D-AB41-B6D74E0B18A9}" srcOrd="0" destOrd="0" presId="urn:microsoft.com/office/officeart/2005/8/layout/vList5"/>
    <dgm:cxn modelId="{A1CF83ED-1E0C-4781-AE31-B00E6AA29F58}" type="presOf" srcId="{C383878F-4361-4E40-A61D-A6C3D67C7C88}" destId="{1A6C1CD5-21BC-4056-B01C-CC0B8B05B1CD}" srcOrd="0" destOrd="0" presId="urn:microsoft.com/office/officeart/2005/8/layout/vList5"/>
    <dgm:cxn modelId="{3A2C9CDA-A31E-4198-8941-ACA7AEF2119A}" srcId="{4314E26A-5A94-47CB-8E64-FDF3701B9942}" destId="{EF60D291-00E2-4517-A464-C135ECD7193D}" srcOrd="0" destOrd="0" parTransId="{9DB4421A-8EC9-4648-A73A-709D7C6AE719}" sibTransId="{13437EBE-55DE-49DA-A1F5-4719D3F3D836}"/>
    <dgm:cxn modelId="{727504EE-D136-4B65-8A59-DBC037FE25F5}" type="presOf" srcId="{638E2D17-84E1-4CFE-94A0-F21525004A5B}" destId="{6EC8894E-E950-4EC1-920A-0874D1DED27A}" srcOrd="0" destOrd="0" presId="urn:microsoft.com/office/officeart/2005/8/layout/vList5"/>
    <dgm:cxn modelId="{B3C4ADBF-B124-4B22-9DBA-F54CBDC8607D}" srcId="{FAD63E0E-118B-4EFA-8844-4B5B67FD4899}" destId="{218EDB67-082C-468C-AC1E-03A832500848}" srcOrd="8" destOrd="0" parTransId="{FC0878BF-5BA6-4388-A8BF-059D1DBAFB65}" sibTransId="{F7E65158-0F3C-4CB0-AAEC-E1350ECC4308}"/>
    <dgm:cxn modelId="{B6854216-8A26-4F3B-B58C-1DB099FA4A2E}" type="presOf" srcId="{12901968-1B3D-42EE-9D47-302E09D2A987}" destId="{1AE472A8-200A-4BC4-9A0F-67973D9C01EC}" srcOrd="0" destOrd="0" presId="urn:microsoft.com/office/officeart/2005/8/layout/vList5"/>
    <dgm:cxn modelId="{CD4A668C-F5F4-46D0-81A9-FA59FD2EE196}" type="presOf" srcId="{A82736C4-EACC-40E1-BBAC-0CFC5FEAB38C}" destId="{5FD1AE8D-06DA-4369-A29D-6C0147F35FB8}" srcOrd="0" destOrd="0" presId="urn:microsoft.com/office/officeart/2005/8/layout/vList5"/>
    <dgm:cxn modelId="{A7DB18E2-2874-498A-A182-D25508348624}" type="presOf" srcId="{0C5582EE-3465-442D-B0FC-BD1516230801}" destId="{D4CFD13D-2C86-4A5D-A5E0-2EAD1A723195}" srcOrd="0" destOrd="0" presId="urn:microsoft.com/office/officeart/2005/8/layout/vList5"/>
    <dgm:cxn modelId="{DBF4938C-4790-4F56-A3D7-A017E0D29B81}" srcId="{188326D9-54BA-43F0-8E33-B3EA855ADCDA}" destId="{BD13B4B6-D3EA-469F-AAFF-EAD53B956A4C}" srcOrd="0" destOrd="0" parTransId="{D023D565-2599-403D-B96E-00774A2EF03A}" sibTransId="{A5D6F67E-7E29-4A5E-BEDF-8A467408C522}"/>
    <dgm:cxn modelId="{C1584AA0-6C2D-47F6-BC4F-F2C2E1FFCC9F}" type="presOf" srcId="{37CC8B7D-6417-499C-BDCA-2DF5F62A4E1E}" destId="{380332F9-DFEB-445F-BD18-78D347B88894}" srcOrd="0" destOrd="0" presId="urn:microsoft.com/office/officeart/2005/8/layout/vList5"/>
    <dgm:cxn modelId="{3FF4617A-401E-4CD7-871D-2C9E31F47E67}" type="presOf" srcId="{FAD63E0E-118B-4EFA-8844-4B5B67FD4899}" destId="{3742DDA5-E728-4F33-AA4B-F126CB2358B7}" srcOrd="0" destOrd="0" presId="urn:microsoft.com/office/officeart/2005/8/layout/vList5"/>
    <dgm:cxn modelId="{45E0CAF0-E061-4061-ACB3-CC332C298C8D}" srcId="{3781BB51-C8D4-485F-8861-C24473E2B29E}" destId="{E8A9E135-1E3A-40DF-9C66-0B90BC8E9378}" srcOrd="0" destOrd="0" parTransId="{899A8948-E27C-4902-87A5-8BBB1CF4115B}" sibTransId="{74E15C8A-3BB3-4C81-B3D9-3D3D1A5780B2}"/>
    <dgm:cxn modelId="{55BE11C2-9CFE-42F4-855E-8B24E3F814EB}" type="presOf" srcId="{EF60D291-00E2-4517-A464-C135ECD7193D}" destId="{D38EEAB4-2A0F-4EC4-8104-597DBB6AEF2B}" srcOrd="0" destOrd="0" presId="urn:microsoft.com/office/officeart/2005/8/layout/vList5"/>
    <dgm:cxn modelId="{D9C04B58-09E2-4F51-9DD1-48B9FA07345F}" srcId="{FAD63E0E-118B-4EFA-8844-4B5B67FD4899}" destId="{ED7F662F-9FC1-4F4C-9F4E-0CEE90B17CE8}" srcOrd="5" destOrd="0" parTransId="{6863DD78-B182-43D0-AA22-BFBE4C25CDDC}" sibTransId="{EFB0627B-6229-4FAB-A190-63E39047D4E6}"/>
    <dgm:cxn modelId="{298BA830-3360-4231-B298-5C2DB49DE8B1}" type="presOf" srcId="{8CB4516F-4558-4841-8A07-A4C8C7BBC702}" destId="{C4FF4BA7-CCAC-407C-976D-BBEC65550612}" srcOrd="0" destOrd="0" presId="urn:microsoft.com/office/officeart/2005/8/layout/vList5"/>
    <dgm:cxn modelId="{13DFCC3D-1E2D-4CAA-A6FF-19207A505C1C}" type="presOf" srcId="{E8A9E135-1E3A-40DF-9C66-0B90BC8E9378}" destId="{63AB52B8-64E2-4EF4-BFFC-C4FF41B5C71D}" srcOrd="0" destOrd="0" presId="urn:microsoft.com/office/officeart/2005/8/layout/vList5"/>
    <dgm:cxn modelId="{3E8FC3F6-06F1-4DB6-998A-944110AFC611}" srcId="{218EDB67-082C-468C-AC1E-03A832500848}" destId="{C383878F-4361-4E40-A61D-A6C3D67C7C88}" srcOrd="0" destOrd="0" parTransId="{C74DF56C-65BC-4780-9CE1-265D3B83003B}" sibTransId="{61443026-8E3F-4B0C-86A0-0CDF2B5FCACD}"/>
    <dgm:cxn modelId="{1CDC3CC7-4C66-4783-BEE8-F094C784B1A9}" type="presOf" srcId="{188326D9-54BA-43F0-8E33-B3EA855ADCDA}" destId="{034E6FD5-C1F3-45EC-BAB3-625E66548B29}" srcOrd="0" destOrd="0" presId="urn:microsoft.com/office/officeart/2005/8/layout/vList5"/>
    <dgm:cxn modelId="{9A5ED1C6-2E8C-4048-A619-E64FCF0F61FE}" srcId="{FAD63E0E-118B-4EFA-8844-4B5B67FD4899}" destId="{12901968-1B3D-42EE-9D47-302E09D2A987}" srcOrd="1" destOrd="0" parTransId="{8E308773-3CEB-4DC4-861F-2EE5FCC924C6}" sibTransId="{2F84080F-0425-4BCC-8494-654EEC02AEE6}"/>
    <dgm:cxn modelId="{2239E23D-007A-463F-96BF-AF258033B441}" srcId="{FAD63E0E-118B-4EFA-8844-4B5B67FD4899}" destId="{257871D7-A721-4B69-9E50-B9011FE1545B}" srcOrd="3" destOrd="0" parTransId="{417B2F8C-78C8-45D8-AFF2-8486D038DC0F}" sibTransId="{6E10ABB2-E7B0-4423-BE5C-D14068C4C3DF}"/>
    <dgm:cxn modelId="{66904AD4-34FF-424A-B96E-633921BCF7C4}" type="presParOf" srcId="{3742DDA5-E728-4F33-AA4B-F126CB2358B7}" destId="{C6BA46E2-0875-4A24-962B-3BF6D5536507}" srcOrd="0" destOrd="0" presId="urn:microsoft.com/office/officeart/2005/8/layout/vList5"/>
    <dgm:cxn modelId="{038CF35B-C5A2-42E4-BBA2-76EDA653CD5A}" type="presParOf" srcId="{C6BA46E2-0875-4A24-962B-3BF6D5536507}" destId="{D4CFD13D-2C86-4A5D-A5E0-2EAD1A723195}" srcOrd="0" destOrd="0" presId="urn:microsoft.com/office/officeart/2005/8/layout/vList5"/>
    <dgm:cxn modelId="{9B81CE7B-EABE-44C9-8A7F-155B4428640A}" type="presParOf" srcId="{3742DDA5-E728-4F33-AA4B-F126CB2358B7}" destId="{8F548AA8-F1BD-4620-B638-F89F8920601F}" srcOrd="1" destOrd="0" presId="urn:microsoft.com/office/officeart/2005/8/layout/vList5"/>
    <dgm:cxn modelId="{D391A461-B634-4FDD-961F-8067E9CCB6E0}" type="presParOf" srcId="{3742DDA5-E728-4F33-AA4B-F126CB2358B7}" destId="{DEF91DF1-D84A-452A-97D3-53A72426BD89}" srcOrd="2" destOrd="0" presId="urn:microsoft.com/office/officeart/2005/8/layout/vList5"/>
    <dgm:cxn modelId="{715E87BF-3383-4CCC-8591-00590AF3BF22}" type="presParOf" srcId="{DEF91DF1-D84A-452A-97D3-53A72426BD89}" destId="{1AE472A8-200A-4BC4-9A0F-67973D9C01EC}" srcOrd="0" destOrd="0" presId="urn:microsoft.com/office/officeart/2005/8/layout/vList5"/>
    <dgm:cxn modelId="{B19C8043-DC02-42C4-91E8-06354429E27F}" type="presParOf" srcId="{3742DDA5-E728-4F33-AA4B-F126CB2358B7}" destId="{0B41510A-40E4-46D3-9D4F-F2CA507925D1}" srcOrd="3" destOrd="0" presId="urn:microsoft.com/office/officeart/2005/8/layout/vList5"/>
    <dgm:cxn modelId="{D0B9B4A1-D6AC-46C4-B90A-C30DBBFAC3D6}" type="presParOf" srcId="{3742DDA5-E728-4F33-AA4B-F126CB2358B7}" destId="{8DC8FFE7-F848-496B-8606-498F47D2EED4}" srcOrd="4" destOrd="0" presId="urn:microsoft.com/office/officeart/2005/8/layout/vList5"/>
    <dgm:cxn modelId="{1C785D1E-FBA7-4BD9-B82C-38BF719466B0}" type="presParOf" srcId="{8DC8FFE7-F848-496B-8606-498F47D2EED4}" destId="{5FD1AE8D-06DA-4369-A29D-6C0147F35FB8}" srcOrd="0" destOrd="0" presId="urn:microsoft.com/office/officeart/2005/8/layout/vList5"/>
    <dgm:cxn modelId="{76ECA38B-B679-444D-B30C-721C4454636E}" type="presParOf" srcId="{8DC8FFE7-F848-496B-8606-498F47D2EED4}" destId="{C4FF4BA7-CCAC-407C-976D-BBEC65550612}" srcOrd="1" destOrd="0" presId="urn:microsoft.com/office/officeart/2005/8/layout/vList5"/>
    <dgm:cxn modelId="{EE2678CE-245E-4928-AC47-B14AD1CFAB86}" type="presParOf" srcId="{3742DDA5-E728-4F33-AA4B-F126CB2358B7}" destId="{03993274-E301-4C9B-A31B-1004C499A176}" srcOrd="5" destOrd="0" presId="urn:microsoft.com/office/officeart/2005/8/layout/vList5"/>
    <dgm:cxn modelId="{4239BB7C-A06C-48B2-821D-13AEEF55E17A}" type="presParOf" srcId="{3742DDA5-E728-4F33-AA4B-F126CB2358B7}" destId="{2E73126E-77E1-416E-BE6C-0B48D5E63AD1}" srcOrd="6" destOrd="0" presId="urn:microsoft.com/office/officeart/2005/8/layout/vList5"/>
    <dgm:cxn modelId="{7CA8B9EB-5619-4F00-9A07-4F58522C4051}" type="presParOf" srcId="{2E73126E-77E1-416E-BE6C-0B48D5E63AD1}" destId="{DD5C0A6E-B731-4D4D-AB41-B6D74E0B18A9}" srcOrd="0" destOrd="0" presId="urn:microsoft.com/office/officeart/2005/8/layout/vList5"/>
    <dgm:cxn modelId="{0D0079DD-1CA7-436E-8952-FD482046D1BF}" type="presParOf" srcId="{3742DDA5-E728-4F33-AA4B-F126CB2358B7}" destId="{89092426-08DE-4B21-A3DE-59A43DADCCC7}" srcOrd="7" destOrd="0" presId="urn:microsoft.com/office/officeart/2005/8/layout/vList5"/>
    <dgm:cxn modelId="{791D89DE-29D5-4565-856E-7AEEF4EBEEA6}" type="presParOf" srcId="{3742DDA5-E728-4F33-AA4B-F126CB2358B7}" destId="{F37A5A44-0C84-4415-BA92-E93346613D88}" srcOrd="8" destOrd="0" presId="urn:microsoft.com/office/officeart/2005/8/layout/vList5"/>
    <dgm:cxn modelId="{B3183C71-0507-4E58-A910-5EC1C4891058}" type="presParOf" srcId="{F37A5A44-0C84-4415-BA92-E93346613D88}" destId="{F3A6389E-9F11-46C8-8548-54D1B3A92F83}" srcOrd="0" destOrd="0" presId="urn:microsoft.com/office/officeart/2005/8/layout/vList5"/>
    <dgm:cxn modelId="{0505D876-1157-4A86-A76B-53C6B90041CC}" type="presParOf" srcId="{F37A5A44-0C84-4415-BA92-E93346613D88}" destId="{63AB52B8-64E2-4EF4-BFFC-C4FF41B5C71D}" srcOrd="1" destOrd="0" presId="urn:microsoft.com/office/officeart/2005/8/layout/vList5"/>
    <dgm:cxn modelId="{0870732D-780C-436B-AF9D-7F4431B4BA70}" type="presParOf" srcId="{3742DDA5-E728-4F33-AA4B-F126CB2358B7}" destId="{C0A428E3-45C6-4315-93BF-0956E6429852}" srcOrd="9" destOrd="0" presId="urn:microsoft.com/office/officeart/2005/8/layout/vList5"/>
    <dgm:cxn modelId="{CCF36D4D-DE3F-4A9A-B1D8-88330488CFE0}" type="presParOf" srcId="{3742DDA5-E728-4F33-AA4B-F126CB2358B7}" destId="{A2E265F9-8972-4AE9-B28C-99F098EA0C6D}" srcOrd="10" destOrd="0" presId="urn:microsoft.com/office/officeart/2005/8/layout/vList5"/>
    <dgm:cxn modelId="{8AEFD566-B409-4186-91FC-3DE7703B1FDF}" type="presParOf" srcId="{A2E265F9-8972-4AE9-B28C-99F098EA0C6D}" destId="{75491EDA-8D8A-4442-9834-63477D431319}" srcOrd="0" destOrd="0" presId="urn:microsoft.com/office/officeart/2005/8/layout/vList5"/>
    <dgm:cxn modelId="{B0E097CB-6E32-4528-B6F2-4CCF34C4DA20}" type="presParOf" srcId="{3742DDA5-E728-4F33-AA4B-F126CB2358B7}" destId="{755BEEA4-08CF-4A7E-94DE-1C3BA684DFAA}" srcOrd="11" destOrd="0" presId="urn:microsoft.com/office/officeart/2005/8/layout/vList5"/>
    <dgm:cxn modelId="{6D82DC35-DA92-4600-912A-9BD9AEF51AF8}" type="presParOf" srcId="{3742DDA5-E728-4F33-AA4B-F126CB2358B7}" destId="{7BCEE2DF-E6DE-4F11-BE4F-1705303F897F}" srcOrd="12" destOrd="0" presId="urn:microsoft.com/office/officeart/2005/8/layout/vList5"/>
    <dgm:cxn modelId="{A4275F9F-8545-425D-A130-D676CE12CC3D}" type="presParOf" srcId="{7BCEE2DF-E6DE-4F11-BE4F-1705303F897F}" destId="{AF4213FC-2CD5-4F90-8BF5-EF1C2F883FA0}" srcOrd="0" destOrd="0" presId="urn:microsoft.com/office/officeart/2005/8/layout/vList5"/>
    <dgm:cxn modelId="{969EC5CE-1B75-4198-AD36-70E385F85B90}" type="presParOf" srcId="{7BCEE2DF-E6DE-4F11-BE4F-1705303F897F}" destId="{D38EEAB4-2A0F-4EC4-8104-597DBB6AEF2B}" srcOrd="1" destOrd="0" presId="urn:microsoft.com/office/officeart/2005/8/layout/vList5"/>
    <dgm:cxn modelId="{49EE77B7-2B63-405C-8269-794B222D45F2}" type="presParOf" srcId="{3742DDA5-E728-4F33-AA4B-F126CB2358B7}" destId="{5FEFDF85-6CD9-4472-8F9E-4832009FEB16}" srcOrd="13" destOrd="0" presId="urn:microsoft.com/office/officeart/2005/8/layout/vList5"/>
    <dgm:cxn modelId="{1E616E29-645D-47A4-A353-DE683DC07714}" type="presParOf" srcId="{3742DDA5-E728-4F33-AA4B-F126CB2358B7}" destId="{538B4E54-0918-4972-8135-62C59C0F3AB0}" srcOrd="14" destOrd="0" presId="urn:microsoft.com/office/officeart/2005/8/layout/vList5"/>
    <dgm:cxn modelId="{E8D5DE66-12DF-4907-8202-0872FCE69483}" type="presParOf" srcId="{538B4E54-0918-4972-8135-62C59C0F3AB0}" destId="{6EC8894E-E950-4EC1-920A-0874D1DED27A}" srcOrd="0" destOrd="0" presId="urn:microsoft.com/office/officeart/2005/8/layout/vList5"/>
    <dgm:cxn modelId="{0F90443F-7DFC-47B1-B258-778EF1ECD27F}" type="presParOf" srcId="{3742DDA5-E728-4F33-AA4B-F126CB2358B7}" destId="{0A63B68F-1E93-42A9-9455-952DD12CAE46}" srcOrd="15" destOrd="0" presId="urn:microsoft.com/office/officeart/2005/8/layout/vList5"/>
    <dgm:cxn modelId="{A0DF373D-A21E-4183-AAEC-8604DD9956D7}" type="presParOf" srcId="{3742DDA5-E728-4F33-AA4B-F126CB2358B7}" destId="{E037E52F-E003-4899-B640-B86959F7CD9B}" srcOrd="16" destOrd="0" presId="urn:microsoft.com/office/officeart/2005/8/layout/vList5"/>
    <dgm:cxn modelId="{65B6F408-665B-451E-A775-47AB57EA76A7}" type="presParOf" srcId="{E037E52F-E003-4899-B640-B86959F7CD9B}" destId="{E8A61E0D-609A-4442-A813-2E191776AFE3}" srcOrd="0" destOrd="0" presId="urn:microsoft.com/office/officeart/2005/8/layout/vList5"/>
    <dgm:cxn modelId="{FD88035D-B18A-4D26-B594-9177E432B7D0}" type="presParOf" srcId="{E037E52F-E003-4899-B640-B86959F7CD9B}" destId="{1A6C1CD5-21BC-4056-B01C-CC0B8B05B1CD}" srcOrd="1" destOrd="0" presId="urn:microsoft.com/office/officeart/2005/8/layout/vList5"/>
    <dgm:cxn modelId="{2A03286B-01E8-4081-9EB7-BBEE8E14CD63}" type="presParOf" srcId="{3742DDA5-E728-4F33-AA4B-F126CB2358B7}" destId="{B5B309CF-8956-4E94-8F20-7765563A1EC2}" srcOrd="17" destOrd="0" presId="urn:microsoft.com/office/officeart/2005/8/layout/vList5"/>
    <dgm:cxn modelId="{A33308A8-2314-4BE5-8631-B6FE08B02A6C}" type="presParOf" srcId="{3742DDA5-E728-4F33-AA4B-F126CB2358B7}" destId="{D80CC8EB-493D-477B-BA94-CD66A6AE8B1A}" srcOrd="18" destOrd="0" presId="urn:microsoft.com/office/officeart/2005/8/layout/vList5"/>
    <dgm:cxn modelId="{5CB187BD-15E6-4117-AB46-59285BE9DD33}" type="presParOf" srcId="{D80CC8EB-493D-477B-BA94-CD66A6AE8B1A}" destId="{380332F9-DFEB-445F-BD18-78D347B88894}" srcOrd="0" destOrd="0" presId="urn:microsoft.com/office/officeart/2005/8/layout/vList5"/>
    <dgm:cxn modelId="{ECA63495-A692-4FE3-9F5D-F925D370E266}" type="presParOf" srcId="{3742DDA5-E728-4F33-AA4B-F126CB2358B7}" destId="{9135CD47-C743-4446-B207-CA6DC694D063}" srcOrd="19" destOrd="0" presId="urn:microsoft.com/office/officeart/2005/8/layout/vList5"/>
    <dgm:cxn modelId="{F67D5BE2-3BC5-4E02-B618-2192DD7F00A4}" type="presParOf" srcId="{3742DDA5-E728-4F33-AA4B-F126CB2358B7}" destId="{C96892EF-02FC-4E93-9E12-857CEF5275D9}" srcOrd="20" destOrd="0" presId="urn:microsoft.com/office/officeart/2005/8/layout/vList5"/>
    <dgm:cxn modelId="{B16F90EB-5CD4-480F-A020-D8EFC59BF1C0}" type="presParOf" srcId="{C96892EF-02FC-4E93-9E12-857CEF5275D9}" destId="{034E6FD5-C1F3-45EC-BAB3-625E66548B29}" srcOrd="0" destOrd="0" presId="urn:microsoft.com/office/officeart/2005/8/layout/vList5"/>
    <dgm:cxn modelId="{5FCA1015-0438-4244-B59B-CF84C14B0A1B}" type="presParOf" srcId="{C96892EF-02FC-4E93-9E12-857CEF5275D9}" destId="{6A214EA9-405C-466A-8937-CC432AE414D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76C54EC-3AE4-4A94-AB50-9A717720CF3E}" type="doc">
      <dgm:prSet loTypeId="urn:microsoft.com/office/officeart/2005/8/layout/vList5" loCatId="list" qsTypeId="urn:microsoft.com/office/officeart/2005/8/quickstyle/3d1" qsCatId="3D" csTypeId="urn:microsoft.com/office/officeart/2005/8/colors/accent0_3" csCatId="mainScheme" phldr="1"/>
      <dgm:spPr/>
      <dgm:t>
        <a:bodyPr/>
        <a:lstStyle/>
        <a:p>
          <a:endParaRPr lang="en-IN"/>
        </a:p>
      </dgm:t>
    </dgm:pt>
    <dgm:pt modelId="{96CC63B1-1A3A-468F-9628-8A17F2A8F8CA}">
      <dgm:prSet custT="1"/>
      <dgm:spPr/>
      <dgm:t>
        <a:bodyPr/>
        <a:lstStyle/>
        <a:p>
          <a:r>
            <a:rPr lang="en-IN" sz="2000" b="1" dirty="0"/>
            <a:t>On the Basis of Technology</a:t>
          </a:r>
          <a:endParaRPr lang="en-IN" sz="2000" dirty="0"/>
        </a:p>
      </dgm:t>
    </dgm:pt>
    <dgm:pt modelId="{D91AE18D-BAE7-4CE4-B2EE-90334935507D}" type="parTrans" cxnId="{6A64583A-0DD1-46ED-8BAE-5D3090C01D0C}">
      <dgm:prSet/>
      <dgm:spPr/>
      <dgm:t>
        <a:bodyPr/>
        <a:lstStyle/>
        <a:p>
          <a:endParaRPr lang="en-IN"/>
        </a:p>
      </dgm:t>
    </dgm:pt>
    <dgm:pt modelId="{F49AB987-4603-414E-9B47-59731F44DD4D}" type="sibTrans" cxnId="{6A64583A-0DD1-46ED-8BAE-5D3090C01D0C}">
      <dgm:prSet/>
      <dgm:spPr/>
      <dgm:t>
        <a:bodyPr/>
        <a:lstStyle/>
        <a:p>
          <a:endParaRPr lang="en-IN"/>
        </a:p>
      </dgm:t>
    </dgm:pt>
    <dgm:pt modelId="{4D2BC689-84B5-42C2-9A9E-CB3B9B3025EA}">
      <dgm:prSet custT="1"/>
      <dgm:spPr/>
      <dgm:t>
        <a:bodyPr/>
        <a:lstStyle/>
        <a:p>
          <a:r>
            <a:rPr lang="en-IN" sz="2000" b="1"/>
            <a:t>Technical Entrepreneurs</a:t>
          </a:r>
          <a:endParaRPr lang="en-IN" sz="2000"/>
        </a:p>
      </dgm:t>
    </dgm:pt>
    <dgm:pt modelId="{D6863535-88D1-4694-82B0-ABDA4D7E1D89}" type="parTrans" cxnId="{0F866677-FCEE-4AA0-9647-00E2288B9F5A}">
      <dgm:prSet/>
      <dgm:spPr/>
      <dgm:t>
        <a:bodyPr/>
        <a:lstStyle/>
        <a:p>
          <a:endParaRPr lang="en-IN"/>
        </a:p>
      </dgm:t>
    </dgm:pt>
    <dgm:pt modelId="{160CFC1B-3BC0-4F47-8F70-1F8124E42370}" type="sibTrans" cxnId="{0F866677-FCEE-4AA0-9647-00E2288B9F5A}">
      <dgm:prSet/>
      <dgm:spPr/>
      <dgm:t>
        <a:bodyPr/>
        <a:lstStyle/>
        <a:p>
          <a:endParaRPr lang="en-IN"/>
        </a:p>
      </dgm:t>
    </dgm:pt>
    <dgm:pt modelId="{C8BF8180-A9B5-45E7-AB8B-50C6BE3CC6E3}">
      <dgm:prSet custT="1"/>
      <dgm:spPr/>
      <dgm:t>
        <a:bodyPr/>
        <a:lstStyle/>
        <a:p>
          <a:r>
            <a:rPr lang="en-IN" sz="1600" dirty="0"/>
            <a:t>Technical entrepreneurs possess specialized technical knowledge or skills in a specific field or industry.</a:t>
          </a:r>
        </a:p>
      </dgm:t>
    </dgm:pt>
    <dgm:pt modelId="{B5299973-A39F-4B00-940D-3B35E230B08C}" type="parTrans" cxnId="{13361F79-A3F6-42AD-A458-FF95C1152DBE}">
      <dgm:prSet/>
      <dgm:spPr/>
      <dgm:t>
        <a:bodyPr/>
        <a:lstStyle/>
        <a:p>
          <a:endParaRPr lang="en-IN"/>
        </a:p>
      </dgm:t>
    </dgm:pt>
    <dgm:pt modelId="{6FBF43A4-66B6-4A21-98FB-B1F45C8AC1BD}" type="sibTrans" cxnId="{13361F79-A3F6-42AD-A458-FF95C1152DBE}">
      <dgm:prSet/>
      <dgm:spPr/>
      <dgm:t>
        <a:bodyPr/>
        <a:lstStyle/>
        <a:p>
          <a:endParaRPr lang="en-IN"/>
        </a:p>
      </dgm:t>
    </dgm:pt>
    <dgm:pt modelId="{35E35E2A-626D-4601-9420-77BC4CFDC145}">
      <dgm:prSet/>
      <dgm:spPr/>
      <dgm:t>
        <a:bodyPr/>
        <a:lstStyle/>
        <a:p>
          <a:r>
            <a:rPr lang="en-IN" b="1"/>
            <a:t>Example:</a:t>
          </a:r>
          <a:r>
            <a:rPr lang="en-IN"/>
            <a:t> Bill Gates, the co-founder of Microsoft</a:t>
          </a:r>
        </a:p>
      </dgm:t>
    </dgm:pt>
    <dgm:pt modelId="{C8FD1E01-FE25-427A-9635-FB437783536A}" type="parTrans" cxnId="{AB4256DA-96A6-4018-A4C3-615B7CBAE377}">
      <dgm:prSet/>
      <dgm:spPr/>
      <dgm:t>
        <a:bodyPr/>
        <a:lstStyle/>
        <a:p>
          <a:endParaRPr lang="en-IN"/>
        </a:p>
      </dgm:t>
    </dgm:pt>
    <dgm:pt modelId="{AD142821-D5C6-40E4-AE1E-93B8F762C9B4}" type="sibTrans" cxnId="{AB4256DA-96A6-4018-A4C3-615B7CBAE377}">
      <dgm:prSet/>
      <dgm:spPr/>
      <dgm:t>
        <a:bodyPr/>
        <a:lstStyle/>
        <a:p>
          <a:endParaRPr lang="en-IN"/>
        </a:p>
      </dgm:t>
    </dgm:pt>
    <dgm:pt modelId="{8004CD2C-71C2-4FE2-92E8-8C53AB8462E6}">
      <dgm:prSet custT="1"/>
      <dgm:spPr/>
      <dgm:t>
        <a:bodyPr/>
        <a:lstStyle/>
        <a:p>
          <a:r>
            <a:rPr lang="en-IN" sz="2000" b="1" dirty="0"/>
            <a:t>Non-Technical Entrepreneur</a:t>
          </a:r>
          <a:endParaRPr lang="en-IN" sz="2000" dirty="0"/>
        </a:p>
      </dgm:t>
    </dgm:pt>
    <dgm:pt modelId="{F9FCFFE7-445B-4057-A4F7-50A2DE6A015A}" type="parTrans" cxnId="{EC130603-163C-47D3-B593-9CFF1ED0961D}">
      <dgm:prSet/>
      <dgm:spPr/>
      <dgm:t>
        <a:bodyPr/>
        <a:lstStyle/>
        <a:p>
          <a:endParaRPr lang="en-IN"/>
        </a:p>
      </dgm:t>
    </dgm:pt>
    <dgm:pt modelId="{52263D1F-07E6-4883-A9DF-813107F0F9E2}" type="sibTrans" cxnId="{EC130603-163C-47D3-B593-9CFF1ED0961D}">
      <dgm:prSet/>
      <dgm:spPr/>
      <dgm:t>
        <a:bodyPr/>
        <a:lstStyle/>
        <a:p>
          <a:endParaRPr lang="en-IN"/>
        </a:p>
      </dgm:t>
    </dgm:pt>
    <dgm:pt modelId="{4235BFDB-F8A2-4AD5-B81A-202092A3ED94}">
      <dgm:prSet/>
      <dgm:spPr/>
      <dgm:t>
        <a:bodyPr/>
        <a:lstStyle/>
        <a:p>
          <a:r>
            <a:rPr lang="en-IN" dirty="0"/>
            <a:t>Non-technical entrepreneurs may not possess specialized technical knowledge but excel 	in other areas such as business management, marketing, finance, or leadership. </a:t>
          </a:r>
        </a:p>
      </dgm:t>
    </dgm:pt>
    <dgm:pt modelId="{74A864EA-751D-4A3B-AE7A-EE50EF2BBB20}" type="parTrans" cxnId="{8CEC8D84-0844-4228-87A3-0DD1C0CB1433}">
      <dgm:prSet/>
      <dgm:spPr/>
      <dgm:t>
        <a:bodyPr/>
        <a:lstStyle/>
        <a:p>
          <a:endParaRPr lang="en-IN"/>
        </a:p>
      </dgm:t>
    </dgm:pt>
    <dgm:pt modelId="{57EDC4AE-33B4-448F-BB41-15954FA89805}" type="sibTrans" cxnId="{8CEC8D84-0844-4228-87A3-0DD1C0CB1433}">
      <dgm:prSet/>
      <dgm:spPr/>
      <dgm:t>
        <a:bodyPr/>
        <a:lstStyle/>
        <a:p>
          <a:endParaRPr lang="en-IN"/>
        </a:p>
      </dgm:t>
    </dgm:pt>
    <dgm:pt modelId="{F7AF21D6-3729-44E0-9CB8-96BE4D1C603D}">
      <dgm:prSet/>
      <dgm:spPr/>
      <dgm:t>
        <a:bodyPr/>
        <a:lstStyle/>
        <a:p>
          <a:r>
            <a:rPr lang="en-IN" b="1"/>
            <a:t>Example: </a:t>
          </a:r>
          <a:r>
            <a:rPr lang="en-IN"/>
            <a:t>Oprah Winfrey is a non-technical entrepreneur who built a media 		empire. While she did not have a technical background.</a:t>
          </a:r>
        </a:p>
      </dgm:t>
    </dgm:pt>
    <dgm:pt modelId="{7AB66B63-D9CC-4B46-A2C0-0B6655CA9D74}" type="parTrans" cxnId="{BAF8B052-14C5-41B4-8EEA-F0BD66B37CBA}">
      <dgm:prSet/>
      <dgm:spPr/>
      <dgm:t>
        <a:bodyPr/>
        <a:lstStyle/>
        <a:p>
          <a:endParaRPr lang="en-IN"/>
        </a:p>
      </dgm:t>
    </dgm:pt>
    <dgm:pt modelId="{70DD3C2B-64A9-47AB-8728-193CCDD64EAE}" type="sibTrans" cxnId="{BAF8B052-14C5-41B4-8EEA-F0BD66B37CBA}">
      <dgm:prSet/>
      <dgm:spPr/>
      <dgm:t>
        <a:bodyPr/>
        <a:lstStyle/>
        <a:p>
          <a:endParaRPr lang="en-IN"/>
        </a:p>
      </dgm:t>
    </dgm:pt>
    <dgm:pt modelId="{A7F5AC69-8721-4BDA-AC24-494A4B91114B}" type="pres">
      <dgm:prSet presAssocID="{376C54EC-3AE4-4A94-AB50-9A717720CF3E}" presName="Name0" presStyleCnt="0">
        <dgm:presLayoutVars>
          <dgm:dir/>
          <dgm:animLvl val="lvl"/>
          <dgm:resizeHandles val="exact"/>
        </dgm:presLayoutVars>
      </dgm:prSet>
      <dgm:spPr/>
      <dgm:t>
        <a:bodyPr/>
        <a:lstStyle/>
        <a:p>
          <a:endParaRPr lang="en-US"/>
        </a:p>
      </dgm:t>
    </dgm:pt>
    <dgm:pt modelId="{F7836AFD-D84F-4FAF-86E5-706E46C157FC}" type="pres">
      <dgm:prSet presAssocID="{96CC63B1-1A3A-468F-9628-8A17F2A8F8CA}" presName="linNode" presStyleCnt="0"/>
      <dgm:spPr/>
    </dgm:pt>
    <dgm:pt modelId="{A0248FF9-4DF1-4961-AEA4-E2C7FDE68A49}" type="pres">
      <dgm:prSet presAssocID="{96CC63B1-1A3A-468F-9628-8A17F2A8F8CA}" presName="parentText" presStyleLbl="node1" presStyleIdx="0" presStyleCnt="5" custScaleX="277778" custLinFactNeighborX="-11240" custLinFactNeighborY="-52621">
        <dgm:presLayoutVars>
          <dgm:chMax val="1"/>
          <dgm:bulletEnabled val="1"/>
        </dgm:presLayoutVars>
      </dgm:prSet>
      <dgm:spPr/>
      <dgm:t>
        <a:bodyPr/>
        <a:lstStyle/>
        <a:p>
          <a:endParaRPr lang="en-US"/>
        </a:p>
      </dgm:t>
    </dgm:pt>
    <dgm:pt modelId="{CEDDD7E1-5C86-474E-A03D-3E000F00C635}" type="pres">
      <dgm:prSet presAssocID="{F49AB987-4603-414E-9B47-59731F44DD4D}" presName="sp" presStyleCnt="0"/>
      <dgm:spPr/>
    </dgm:pt>
    <dgm:pt modelId="{E516E709-288E-40A3-BEDA-5EAE81CE6BC4}" type="pres">
      <dgm:prSet presAssocID="{4D2BC689-84B5-42C2-9A9E-CB3B9B3025EA}" presName="linNode" presStyleCnt="0"/>
      <dgm:spPr/>
    </dgm:pt>
    <dgm:pt modelId="{D9D6B7F5-3966-4096-BAB2-3D0FB1EBCCBC}" type="pres">
      <dgm:prSet presAssocID="{4D2BC689-84B5-42C2-9A9E-CB3B9B3025EA}" presName="parentText" presStyleLbl="node1" presStyleIdx="1" presStyleCnt="5" custScaleX="277778">
        <dgm:presLayoutVars>
          <dgm:chMax val="1"/>
          <dgm:bulletEnabled val="1"/>
        </dgm:presLayoutVars>
      </dgm:prSet>
      <dgm:spPr/>
      <dgm:t>
        <a:bodyPr/>
        <a:lstStyle/>
        <a:p>
          <a:endParaRPr lang="en-US"/>
        </a:p>
      </dgm:t>
    </dgm:pt>
    <dgm:pt modelId="{7D9CC231-E686-4A78-92D3-0B31E4EDCDC4}" type="pres">
      <dgm:prSet presAssocID="{160CFC1B-3BC0-4F47-8F70-1F8124E42370}" presName="sp" presStyleCnt="0"/>
      <dgm:spPr/>
    </dgm:pt>
    <dgm:pt modelId="{C0B5DB02-C0CD-444D-B0E0-6C5448388D4B}" type="pres">
      <dgm:prSet presAssocID="{C8BF8180-A9B5-45E7-AB8B-50C6BE3CC6E3}" presName="linNode" presStyleCnt="0"/>
      <dgm:spPr/>
    </dgm:pt>
    <dgm:pt modelId="{65135D87-CBCF-403B-897F-3B41C4A40B34}" type="pres">
      <dgm:prSet presAssocID="{C8BF8180-A9B5-45E7-AB8B-50C6BE3CC6E3}" presName="parentText" presStyleLbl="node1" presStyleIdx="2" presStyleCnt="5">
        <dgm:presLayoutVars>
          <dgm:chMax val="1"/>
          <dgm:bulletEnabled val="1"/>
        </dgm:presLayoutVars>
      </dgm:prSet>
      <dgm:spPr/>
      <dgm:t>
        <a:bodyPr/>
        <a:lstStyle/>
        <a:p>
          <a:endParaRPr lang="en-US"/>
        </a:p>
      </dgm:t>
    </dgm:pt>
    <dgm:pt modelId="{186DD626-920B-4AC2-A9BB-5EEEF0DB7418}" type="pres">
      <dgm:prSet presAssocID="{C8BF8180-A9B5-45E7-AB8B-50C6BE3CC6E3}" presName="descendantText" presStyleLbl="alignAccFollowNode1" presStyleIdx="0" presStyleCnt="2">
        <dgm:presLayoutVars>
          <dgm:bulletEnabled val="1"/>
        </dgm:presLayoutVars>
      </dgm:prSet>
      <dgm:spPr/>
      <dgm:t>
        <a:bodyPr/>
        <a:lstStyle/>
        <a:p>
          <a:endParaRPr lang="en-US"/>
        </a:p>
      </dgm:t>
    </dgm:pt>
    <dgm:pt modelId="{0CA3F5BF-64E4-4972-AE22-9F338F3E6D62}" type="pres">
      <dgm:prSet presAssocID="{6FBF43A4-66B6-4A21-98FB-B1F45C8AC1BD}" presName="sp" presStyleCnt="0"/>
      <dgm:spPr/>
    </dgm:pt>
    <dgm:pt modelId="{B0BAFBD9-AD0D-4D2F-8658-C337E214232D}" type="pres">
      <dgm:prSet presAssocID="{8004CD2C-71C2-4FE2-92E8-8C53AB8462E6}" presName="linNode" presStyleCnt="0"/>
      <dgm:spPr/>
    </dgm:pt>
    <dgm:pt modelId="{2828A7DE-CFE9-4FAC-B8B6-1FD6BA208826}" type="pres">
      <dgm:prSet presAssocID="{8004CD2C-71C2-4FE2-92E8-8C53AB8462E6}" presName="parentText" presStyleLbl="node1" presStyleIdx="3" presStyleCnt="5" custScaleX="277778">
        <dgm:presLayoutVars>
          <dgm:chMax val="1"/>
          <dgm:bulletEnabled val="1"/>
        </dgm:presLayoutVars>
      </dgm:prSet>
      <dgm:spPr/>
      <dgm:t>
        <a:bodyPr/>
        <a:lstStyle/>
        <a:p>
          <a:endParaRPr lang="en-US"/>
        </a:p>
      </dgm:t>
    </dgm:pt>
    <dgm:pt modelId="{C3841C3C-7C19-4DA7-B974-0E49CAEABB44}" type="pres">
      <dgm:prSet presAssocID="{52263D1F-07E6-4883-A9DF-813107F0F9E2}" presName="sp" presStyleCnt="0"/>
      <dgm:spPr/>
    </dgm:pt>
    <dgm:pt modelId="{3DDB47EA-DDBF-4BD4-8B85-82F4280D1ACB}" type="pres">
      <dgm:prSet presAssocID="{4235BFDB-F8A2-4AD5-B81A-202092A3ED94}" presName="linNode" presStyleCnt="0"/>
      <dgm:spPr/>
    </dgm:pt>
    <dgm:pt modelId="{1402B977-88F7-4701-B7EF-6B5B63E177A7}" type="pres">
      <dgm:prSet presAssocID="{4235BFDB-F8A2-4AD5-B81A-202092A3ED94}" presName="parentText" presStyleLbl="node1" presStyleIdx="4" presStyleCnt="5">
        <dgm:presLayoutVars>
          <dgm:chMax val="1"/>
          <dgm:bulletEnabled val="1"/>
        </dgm:presLayoutVars>
      </dgm:prSet>
      <dgm:spPr/>
      <dgm:t>
        <a:bodyPr/>
        <a:lstStyle/>
        <a:p>
          <a:endParaRPr lang="en-US"/>
        </a:p>
      </dgm:t>
    </dgm:pt>
    <dgm:pt modelId="{4071512C-F64E-47AB-93B0-8521DC110155}" type="pres">
      <dgm:prSet presAssocID="{4235BFDB-F8A2-4AD5-B81A-202092A3ED94}" presName="descendantText" presStyleLbl="alignAccFollowNode1" presStyleIdx="1" presStyleCnt="2">
        <dgm:presLayoutVars>
          <dgm:bulletEnabled val="1"/>
        </dgm:presLayoutVars>
      </dgm:prSet>
      <dgm:spPr/>
      <dgm:t>
        <a:bodyPr/>
        <a:lstStyle/>
        <a:p>
          <a:endParaRPr lang="en-US"/>
        </a:p>
      </dgm:t>
    </dgm:pt>
  </dgm:ptLst>
  <dgm:cxnLst>
    <dgm:cxn modelId="{51452161-FD72-4B15-B85A-46D6DDF11204}" type="presOf" srcId="{376C54EC-3AE4-4A94-AB50-9A717720CF3E}" destId="{A7F5AC69-8721-4BDA-AC24-494A4B91114B}" srcOrd="0" destOrd="0" presId="urn:microsoft.com/office/officeart/2005/8/layout/vList5"/>
    <dgm:cxn modelId="{A17CAABD-D9D6-43B2-A484-FFB197F9A06F}" type="presOf" srcId="{8004CD2C-71C2-4FE2-92E8-8C53AB8462E6}" destId="{2828A7DE-CFE9-4FAC-B8B6-1FD6BA208826}" srcOrd="0" destOrd="0" presId="urn:microsoft.com/office/officeart/2005/8/layout/vList5"/>
    <dgm:cxn modelId="{BAF8B052-14C5-41B4-8EEA-F0BD66B37CBA}" srcId="{4235BFDB-F8A2-4AD5-B81A-202092A3ED94}" destId="{F7AF21D6-3729-44E0-9CB8-96BE4D1C603D}" srcOrd="0" destOrd="0" parTransId="{7AB66B63-D9CC-4B46-A2C0-0B6655CA9D74}" sibTransId="{70DD3C2B-64A9-47AB-8728-193CCDD64EAE}"/>
    <dgm:cxn modelId="{2DE814AD-9832-494D-A9BC-A547B9DB48E6}" type="presOf" srcId="{F7AF21D6-3729-44E0-9CB8-96BE4D1C603D}" destId="{4071512C-F64E-47AB-93B0-8521DC110155}" srcOrd="0" destOrd="0" presId="urn:microsoft.com/office/officeart/2005/8/layout/vList5"/>
    <dgm:cxn modelId="{AB4256DA-96A6-4018-A4C3-615B7CBAE377}" srcId="{C8BF8180-A9B5-45E7-AB8B-50C6BE3CC6E3}" destId="{35E35E2A-626D-4601-9420-77BC4CFDC145}" srcOrd="0" destOrd="0" parTransId="{C8FD1E01-FE25-427A-9635-FB437783536A}" sibTransId="{AD142821-D5C6-40E4-AE1E-93B8F762C9B4}"/>
    <dgm:cxn modelId="{8CEC8D84-0844-4228-87A3-0DD1C0CB1433}" srcId="{376C54EC-3AE4-4A94-AB50-9A717720CF3E}" destId="{4235BFDB-F8A2-4AD5-B81A-202092A3ED94}" srcOrd="4" destOrd="0" parTransId="{74A864EA-751D-4A3B-AE7A-EE50EF2BBB20}" sibTransId="{57EDC4AE-33B4-448F-BB41-15954FA89805}"/>
    <dgm:cxn modelId="{39D06D52-9CE9-4E3A-B362-9BC1A2F0107A}" type="presOf" srcId="{4D2BC689-84B5-42C2-9A9E-CB3B9B3025EA}" destId="{D9D6B7F5-3966-4096-BAB2-3D0FB1EBCCBC}" srcOrd="0" destOrd="0" presId="urn:microsoft.com/office/officeart/2005/8/layout/vList5"/>
    <dgm:cxn modelId="{EC130603-163C-47D3-B593-9CFF1ED0961D}" srcId="{376C54EC-3AE4-4A94-AB50-9A717720CF3E}" destId="{8004CD2C-71C2-4FE2-92E8-8C53AB8462E6}" srcOrd="3" destOrd="0" parTransId="{F9FCFFE7-445B-4057-A4F7-50A2DE6A015A}" sibTransId="{52263D1F-07E6-4883-A9DF-813107F0F9E2}"/>
    <dgm:cxn modelId="{0F866677-FCEE-4AA0-9647-00E2288B9F5A}" srcId="{376C54EC-3AE4-4A94-AB50-9A717720CF3E}" destId="{4D2BC689-84B5-42C2-9A9E-CB3B9B3025EA}" srcOrd="1" destOrd="0" parTransId="{D6863535-88D1-4694-82B0-ABDA4D7E1D89}" sibTransId="{160CFC1B-3BC0-4F47-8F70-1F8124E42370}"/>
    <dgm:cxn modelId="{38149CC3-4463-479C-8A30-EC9E930300B3}" type="presOf" srcId="{96CC63B1-1A3A-468F-9628-8A17F2A8F8CA}" destId="{A0248FF9-4DF1-4961-AEA4-E2C7FDE68A49}" srcOrd="0" destOrd="0" presId="urn:microsoft.com/office/officeart/2005/8/layout/vList5"/>
    <dgm:cxn modelId="{F90D315E-BFAF-4C14-89AD-C3CEF62D7421}" type="presOf" srcId="{4235BFDB-F8A2-4AD5-B81A-202092A3ED94}" destId="{1402B977-88F7-4701-B7EF-6B5B63E177A7}" srcOrd="0" destOrd="0" presId="urn:microsoft.com/office/officeart/2005/8/layout/vList5"/>
    <dgm:cxn modelId="{6A64583A-0DD1-46ED-8BAE-5D3090C01D0C}" srcId="{376C54EC-3AE4-4A94-AB50-9A717720CF3E}" destId="{96CC63B1-1A3A-468F-9628-8A17F2A8F8CA}" srcOrd="0" destOrd="0" parTransId="{D91AE18D-BAE7-4CE4-B2EE-90334935507D}" sibTransId="{F49AB987-4603-414E-9B47-59731F44DD4D}"/>
    <dgm:cxn modelId="{13361F79-A3F6-42AD-A458-FF95C1152DBE}" srcId="{376C54EC-3AE4-4A94-AB50-9A717720CF3E}" destId="{C8BF8180-A9B5-45E7-AB8B-50C6BE3CC6E3}" srcOrd="2" destOrd="0" parTransId="{B5299973-A39F-4B00-940D-3B35E230B08C}" sibTransId="{6FBF43A4-66B6-4A21-98FB-B1F45C8AC1BD}"/>
    <dgm:cxn modelId="{6F802C9E-66B9-4DE4-9241-5CA0D7181FB7}" type="presOf" srcId="{35E35E2A-626D-4601-9420-77BC4CFDC145}" destId="{186DD626-920B-4AC2-A9BB-5EEEF0DB7418}" srcOrd="0" destOrd="0" presId="urn:microsoft.com/office/officeart/2005/8/layout/vList5"/>
    <dgm:cxn modelId="{EA2CA52E-D947-4A69-BB3D-6A3654BA368B}" type="presOf" srcId="{C8BF8180-A9B5-45E7-AB8B-50C6BE3CC6E3}" destId="{65135D87-CBCF-403B-897F-3B41C4A40B34}" srcOrd="0" destOrd="0" presId="urn:microsoft.com/office/officeart/2005/8/layout/vList5"/>
    <dgm:cxn modelId="{7835CBC9-01C3-426A-8292-144C1A4FB864}" type="presParOf" srcId="{A7F5AC69-8721-4BDA-AC24-494A4B91114B}" destId="{F7836AFD-D84F-4FAF-86E5-706E46C157FC}" srcOrd="0" destOrd="0" presId="urn:microsoft.com/office/officeart/2005/8/layout/vList5"/>
    <dgm:cxn modelId="{697339C5-795C-4A0D-817E-717086900242}" type="presParOf" srcId="{F7836AFD-D84F-4FAF-86E5-706E46C157FC}" destId="{A0248FF9-4DF1-4961-AEA4-E2C7FDE68A49}" srcOrd="0" destOrd="0" presId="urn:microsoft.com/office/officeart/2005/8/layout/vList5"/>
    <dgm:cxn modelId="{4454F63D-1AF3-42E4-BDCE-29FF7F46745D}" type="presParOf" srcId="{A7F5AC69-8721-4BDA-AC24-494A4B91114B}" destId="{CEDDD7E1-5C86-474E-A03D-3E000F00C635}" srcOrd="1" destOrd="0" presId="urn:microsoft.com/office/officeart/2005/8/layout/vList5"/>
    <dgm:cxn modelId="{94FBA277-9261-4068-A436-929100E330D9}" type="presParOf" srcId="{A7F5AC69-8721-4BDA-AC24-494A4B91114B}" destId="{E516E709-288E-40A3-BEDA-5EAE81CE6BC4}" srcOrd="2" destOrd="0" presId="urn:microsoft.com/office/officeart/2005/8/layout/vList5"/>
    <dgm:cxn modelId="{054D0EFB-D352-416D-B1DE-12A6D7E23CBB}" type="presParOf" srcId="{E516E709-288E-40A3-BEDA-5EAE81CE6BC4}" destId="{D9D6B7F5-3966-4096-BAB2-3D0FB1EBCCBC}" srcOrd="0" destOrd="0" presId="urn:microsoft.com/office/officeart/2005/8/layout/vList5"/>
    <dgm:cxn modelId="{E48FAD72-A35E-4E2B-B2FA-5B2165D84AE4}" type="presParOf" srcId="{A7F5AC69-8721-4BDA-AC24-494A4B91114B}" destId="{7D9CC231-E686-4A78-92D3-0B31E4EDCDC4}" srcOrd="3" destOrd="0" presId="urn:microsoft.com/office/officeart/2005/8/layout/vList5"/>
    <dgm:cxn modelId="{7ADD3647-B134-4C52-825E-E94814490810}" type="presParOf" srcId="{A7F5AC69-8721-4BDA-AC24-494A4B91114B}" destId="{C0B5DB02-C0CD-444D-B0E0-6C5448388D4B}" srcOrd="4" destOrd="0" presId="urn:microsoft.com/office/officeart/2005/8/layout/vList5"/>
    <dgm:cxn modelId="{4C940A56-88F0-426C-A7C5-089732D7E4BF}" type="presParOf" srcId="{C0B5DB02-C0CD-444D-B0E0-6C5448388D4B}" destId="{65135D87-CBCF-403B-897F-3B41C4A40B34}" srcOrd="0" destOrd="0" presId="urn:microsoft.com/office/officeart/2005/8/layout/vList5"/>
    <dgm:cxn modelId="{A54DF2E1-14FD-4BA0-A583-28E77EAB89C9}" type="presParOf" srcId="{C0B5DB02-C0CD-444D-B0E0-6C5448388D4B}" destId="{186DD626-920B-4AC2-A9BB-5EEEF0DB7418}" srcOrd="1" destOrd="0" presId="urn:microsoft.com/office/officeart/2005/8/layout/vList5"/>
    <dgm:cxn modelId="{297C4056-D0AB-4638-A355-8CFD931B1776}" type="presParOf" srcId="{A7F5AC69-8721-4BDA-AC24-494A4B91114B}" destId="{0CA3F5BF-64E4-4972-AE22-9F338F3E6D62}" srcOrd="5" destOrd="0" presId="urn:microsoft.com/office/officeart/2005/8/layout/vList5"/>
    <dgm:cxn modelId="{18134A2F-DA2C-4CA4-A4B9-3FE187215512}" type="presParOf" srcId="{A7F5AC69-8721-4BDA-AC24-494A4B91114B}" destId="{B0BAFBD9-AD0D-4D2F-8658-C337E214232D}" srcOrd="6" destOrd="0" presId="urn:microsoft.com/office/officeart/2005/8/layout/vList5"/>
    <dgm:cxn modelId="{0D91AE63-9221-443B-8820-3889EAD18A58}" type="presParOf" srcId="{B0BAFBD9-AD0D-4D2F-8658-C337E214232D}" destId="{2828A7DE-CFE9-4FAC-B8B6-1FD6BA208826}" srcOrd="0" destOrd="0" presId="urn:microsoft.com/office/officeart/2005/8/layout/vList5"/>
    <dgm:cxn modelId="{C82877BF-7BC2-45C0-AC9A-47A8F38F5219}" type="presParOf" srcId="{A7F5AC69-8721-4BDA-AC24-494A4B91114B}" destId="{C3841C3C-7C19-4DA7-B974-0E49CAEABB44}" srcOrd="7" destOrd="0" presId="urn:microsoft.com/office/officeart/2005/8/layout/vList5"/>
    <dgm:cxn modelId="{E803D707-A5FB-4710-9CAA-84B338893071}" type="presParOf" srcId="{A7F5AC69-8721-4BDA-AC24-494A4B91114B}" destId="{3DDB47EA-DDBF-4BD4-8B85-82F4280D1ACB}" srcOrd="8" destOrd="0" presId="urn:microsoft.com/office/officeart/2005/8/layout/vList5"/>
    <dgm:cxn modelId="{6CB69470-AD0B-4A57-975D-DED3DA65069E}" type="presParOf" srcId="{3DDB47EA-DDBF-4BD4-8B85-82F4280D1ACB}" destId="{1402B977-88F7-4701-B7EF-6B5B63E177A7}" srcOrd="0" destOrd="0" presId="urn:microsoft.com/office/officeart/2005/8/layout/vList5"/>
    <dgm:cxn modelId="{7C238A5A-B69D-4EA6-B351-87477448F236}" type="presParOf" srcId="{3DDB47EA-DDBF-4BD4-8B85-82F4280D1ACB}" destId="{4071512C-F64E-47AB-93B0-8521DC11015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44E350A-87B9-405A-B60F-4C784257F3BC}" type="doc">
      <dgm:prSet loTypeId="urn:microsoft.com/office/officeart/2005/8/layout/vList5" loCatId="list" qsTypeId="urn:microsoft.com/office/officeart/2005/8/quickstyle/3d1" qsCatId="3D" csTypeId="urn:microsoft.com/office/officeart/2005/8/colors/accent0_3" csCatId="mainScheme" phldr="1"/>
      <dgm:spPr/>
      <dgm:t>
        <a:bodyPr/>
        <a:lstStyle/>
        <a:p>
          <a:endParaRPr lang="en-IN"/>
        </a:p>
      </dgm:t>
    </dgm:pt>
    <dgm:pt modelId="{FD69046C-A263-4280-BF33-CC9BDAD1596A}">
      <dgm:prSet custT="1"/>
      <dgm:spPr/>
      <dgm:t>
        <a:bodyPr/>
        <a:lstStyle/>
        <a:p>
          <a:r>
            <a:rPr lang="en-IN" sz="2400" b="1"/>
            <a:t>On the Basis of Motivation</a:t>
          </a:r>
          <a:endParaRPr lang="en-IN" sz="2400"/>
        </a:p>
      </dgm:t>
    </dgm:pt>
    <dgm:pt modelId="{AD70F8D3-C832-42D6-951A-4BD2276A1E8E}" type="parTrans" cxnId="{FEC2153D-0A1D-4856-A6BE-CEC79C0D95FD}">
      <dgm:prSet/>
      <dgm:spPr/>
      <dgm:t>
        <a:bodyPr/>
        <a:lstStyle/>
        <a:p>
          <a:endParaRPr lang="en-IN"/>
        </a:p>
      </dgm:t>
    </dgm:pt>
    <dgm:pt modelId="{C168AD05-4E66-4E4C-9162-111CE568F0A3}" type="sibTrans" cxnId="{FEC2153D-0A1D-4856-A6BE-CEC79C0D95FD}">
      <dgm:prSet/>
      <dgm:spPr/>
      <dgm:t>
        <a:bodyPr/>
        <a:lstStyle/>
        <a:p>
          <a:endParaRPr lang="en-IN"/>
        </a:p>
      </dgm:t>
    </dgm:pt>
    <dgm:pt modelId="{56A7E90C-BC8F-4FD0-AF2A-323026BE08B5}">
      <dgm:prSet custT="1"/>
      <dgm:spPr/>
      <dgm:t>
        <a:bodyPr/>
        <a:lstStyle/>
        <a:p>
          <a:r>
            <a:rPr lang="en-IN" sz="2000" b="1"/>
            <a:t>Social Entrepreneur</a:t>
          </a:r>
          <a:endParaRPr lang="en-IN" sz="2000"/>
        </a:p>
      </dgm:t>
    </dgm:pt>
    <dgm:pt modelId="{E279E99E-9A30-4D7C-B1C6-E2137123CAE2}" type="parTrans" cxnId="{3D6657F6-B876-4272-B8AC-8E8E58C1F616}">
      <dgm:prSet/>
      <dgm:spPr/>
      <dgm:t>
        <a:bodyPr/>
        <a:lstStyle/>
        <a:p>
          <a:endParaRPr lang="en-IN"/>
        </a:p>
      </dgm:t>
    </dgm:pt>
    <dgm:pt modelId="{B7318CE6-D087-44CD-9A30-A6AF48F87CDE}" type="sibTrans" cxnId="{3D6657F6-B876-4272-B8AC-8E8E58C1F616}">
      <dgm:prSet/>
      <dgm:spPr/>
      <dgm:t>
        <a:bodyPr/>
        <a:lstStyle/>
        <a:p>
          <a:endParaRPr lang="en-IN"/>
        </a:p>
      </dgm:t>
    </dgm:pt>
    <dgm:pt modelId="{0E4F32E5-CA2D-40BF-AD7B-46F086B0D928}">
      <dgm:prSet/>
      <dgm:spPr/>
      <dgm:t>
        <a:bodyPr/>
        <a:lstStyle/>
        <a:p>
          <a:r>
            <a:rPr lang="en-IN"/>
            <a:t>A social entrepreneur is someone who starts a business to solve social problems. Instead of just making a profit, they focus on making a positive impact on society.</a:t>
          </a:r>
        </a:p>
      </dgm:t>
    </dgm:pt>
    <dgm:pt modelId="{CAFC6EAC-B6FF-42AC-9446-F46B0B3FC9BA}" type="parTrans" cxnId="{37ECF670-7D95-43A6-B669-EE9D70CA0EC6}">
      <dgm:prSet/>
      <dgm:spPr/>
      <dgm:t>
        <a:bodyPr/>
        <a:lstStyle/>
        <a:p>
          <a:endParaRPr lang="en-IN"/>
        </a:p>
      </dgm:t>
    </dgm:pt>
    <dgm:pt modelId="{295E11B6-5109-43C6-A8AC-EC05E40A8CE4}" type="sibTrans" cxnId="{37ECF670-7D95-43A6-B669-EE9D70CA0EC6}">
      <dgm:prSet/>
      <dgm:spPr/>
      <dgm:t>
        <a:bodyPr/>
        <a:lstStyle/>
        <a:p>
          <a:endParaRPr lang="en-IN"/>
        </a:p>
      </dgm:t>
    </dgm:pt>
    <dgm:pt modelId="{8AB57B15-CFD7-41E9-93B2-9B0C82034A39}">
      <dgm:prSet/>
      <dgm:spPr/>
      <dgm:t>
        <a:bodyPr/>
        <a:lstStyle/>
        <a:p>
          <a:r>
            <a:rPr lang="en-IN" dirty="0"/>
            <a:t>Example: </a:t>
          </a:r>
          <a:r>
            <a:rPr lang="en-IN" dirty="0" err="1"/>
            <a:t>Anshu</a:t>
          </a:r>
          <a:r>
            <a:rPr lang="en-IN" dirty="0"/>
            <a:t> Gupta, founder of Goonj in India, exemplifies social entrepreneurship by repurposing 	urban surplus for rural needs, addressing clothing scarcity and boosting dignity among  the underprivileged.</a:t>
          </a:r>
        </a:p>
      </dgm:t>
    </dgm:pt>
    <dgm:pt modelId="{29A13CBC-65D4-42B5-B9B9-92913E850939}" type="parTrans" cxnId="{B61BA177-0E34-42A3-86EC-8E5B01D4304A}">
      <dgm:prSet/>
      <dgm:spPr/>
      <dgm:t>
        <a:bodyPr/>
        <a:lstStyle/>
        <a:p>
          <a:endParaRPr lang="en-IN"/>
        </a:p>
      </dgm:t>
    </dgm:pt>
    <dgm:pt modelId="{C84DED61-6560-4F67-A6F7-32D655FBE113}" type="sibTrans" cxnId="{B61BA177-0E34-42A3-86EC-8E5B01D4304A}">
      <dgm:prSet/>
      <dgm:spPr/>
      <dgm:t>
        <a:bodyPr/>
        <a:lstStyle/>
        <a:p>
          <a:endParaRPr lang="en-IN"/>
        </a:p>
      </dgm:t>
    </dgm:pt>
    <dgm:pt modelId="{C204EAAF-AC0E-47D6-8311-1C98B346409A}">
      <dgm:prSet custT="1"/>
      <dgm:spPr/>
      <dgm:t>
        <a:bodyPr/>
        <a:lstStyle/>
        <a:p>
          <a:r>
            <a:rPr lang="en-IN" sz="2000" b="1" dirty="0"/>
            <a:t>Spontaneous Entrepreneur</a:t>
          </a:r>
          <a:endParaRPr lang="en-IN" sz="2000" dirty="0"/>
        </a:p>
      </dgm:t>
    </dgm:pt>
    <dgm:pt modelId="{4FE20541-D9B6-4709-802E-E96135BE7DDD}" type="parTrans" cxnId="{0E8C873A-99DB-4D9D-9F9D-DA5ADF7C6F20}">
      <dgm:prSet/>
      <dgm:spPr/>
      <dgm:t>
        <a:bodyPr/>
        <a:lstStyle/>
        <a:p>
          <a:endParaRPr lang="en-IN"/>
        </a:p>
      </dgm:t>
    </dgm:pt>
    <dgm:pt modelId="{7429EE35-F266-4EB4-A79F-2ECA10714CDC}" type="sibTrans" cxnId="{0E8C873A-99DB-4D9D-9F9D-DA5ADF7C6F20}">
      <dgm:prSet/>
      <dgm:spPr/>
      <dgm:t>
        <a:bodyPr/>
        <a:lstStyle/>
        <a:p>
          <a:endParaRPr lang="en-IN"/>
        </a:p>
      </dgm:t>
    </dgm:pt>
    <dgm:pt modelId="{5DFA687C-A10F-4B1D-BF28-52DEDF3E9306}">
      <dgm:prSet/>
      <dgm:spPr/>
      <dgm:t>
        <a:bodyPr/>
        <a:lstStyle/>
        <a:p>
          <a:r>
            <a:rPr lang="en-IN"/>
            <a:t>A spontaneous entrepreneur is an individual who starts a business or engages in entrepreneurial activities based on initiative and personal motivation rather than being prompted or influenced by external factors.</a:t>
          </a:r>
        </a:p>
      </dgm:t>
    </dgm:pt>
    <dgm:pt modelId="{56B6E272-9C6C-4D6A-BDDD-986A4DF1CA41}" type="parTrans" cxnId="{43D88C58-7802-4AFA-98C4-1FF906DEE9F9}">
      <dgm:prSet/>
      <dgm:spPr/>
      <dgm:t>
        <a:bodyPr/>
        <a:lstStyle/>
        <a:p>
          <a:endParaRPr lang="en-IN"/>
        </a:p>
      </dgm:t>
    </dgm:pt>
    <dgm:pt modelId="{9FA7444E-866D-4B61-848B-9BA06EE0C47C}" type="sibTrans" cxnId="{43D88C58-7802-4AFA-98C4-1FF906DEE9F9}">
      <dgm:prSet/>
      <dgm:spPr/>
      <dgm:t>
        <a:bodyPr/>
        <a:lstStyle/>
        <a:p>
          <a:endParaRPr lang="en-IN"/>
        </a:p>
      </dgm:t>
    </dgm:pt>
    <dgm:pt modelId="{0261C17C-9B7B-40FC-91AF-98744DB11957}">
      <dgm:prSet/>
      <dgm:spPr/>
      <dgm:t>
        <a:bodyPr/>
        <a:lstStyle/>
        <a:p>
          <a:r>
            <a:rPr lang="en-IN" b="1" dirty="0"/>
            <a:t>Example:</a:t>
          </a:r>
          <a:r>
            <a:rPr lang="en-IN" dirty="0"/>
            <a:t> Mark Zuckerberg, the co-founder of Facebook, can be considered a spontaneous  entrepreneur. </a:t>
          </a:r>
        </a:p>
      </dgm:t>
    </dgm:pt>
    <dgm:pt modelId="{80A82796-B40D-4A88-841D-E79C251714EF}" type="parTrans" cxnId="{1C9E1A13-9BB3-462A-A097-F9CDCAEB4051}">
      <dgm:prSet/>
      <dgm:spPr/>
      <dgm:t>
        <a:bodyPr/>
        <a:lstStyle/>
        <a:p>
          <a:endParaRPr lang="en-IN"/>
        </a:p>
      </dgm:t>
    </dgm:pt>
    <dgm:pt modelId="{2CFD851A-640F-4F5E-AC17-8286E6D1B0C5}" type="sibTrans" cxnId="{1C9E1A13-9BB3-462A-A097-F9CDCAEB4051}">
      <dgm:prSet/>
      <dgm:spPr/>
      <dgm:t>
        <a:bodyPr/>
        <a:lstStyle/>
        <a:p>
          <a:endParaRPr lang="en-IN"/>
        </a:p>
      </dgm:t>
    </dgm:pt>
    <dgm:pt modelId="{CF25FB9B-46EE-4B2D-844D-0C054C25323E}">
      <dgm:prSet custT="1"/>
      <dgm:spPr/>
      <dgm:t>
        <a:bodyPr/>
        <a:lstStyle/>
        <a:p>
          <a:r>
            <a:rPr lang="en-IN" sz="2000" b="1" dirty="0"/>
            <a:t>Induced Entrepreneur</a:t>
          </a:r>
          <a:endParaRPr lang="en-IN" sz="2000" dirty="0"/>
        </a:p>
      </dgm:t>
    </dgm:pt>
    <dgm:pt modelId="{4B0637A5-3E3B-4CBE-9279-B25EC5CA2034}" type="parTrans" cxnId="{0138B716-E734-4EAE-978E-411364600A41}">
      <dgm:prSet/>
      <dgm:spPr/>
      <dgm:t>
        <a:bodyPr/>
        <a:lstStyle/>
        <a:p>
          <a:endParaRPr lang="en-IN"/>
        </a:p>
      </dgm:t>
    </dgm:pt>
    <dgm:pt modelId="{47738CF6-0AF7-495F-B0E8-22BA4D379B00}" type="sibTrans" cxnId="{0138B716-E734-4EAE-978E-411364600A41}">
      <dgm:prSet/>
      <dgm:spPr/>
      <dgm:t>
        <a:bodyPr/>
        <a:lstStyle/>
        <a:p>
          <a:endParaRPr lang="en-IN"/>
        </a:p>
      </dgm:t>
    </dgm:pt>
    <dgm:pt modelId="{DB613499-594A-437F-B37E-A77CCB99C333}">
      <dgm:prSet/>
      <dgm:spPr/>
      <dgm:t>
        <a:bodyPr/>
        <a:lstStyle/>
        <a:p>
          <a:r>
            <a:rPr lang="en-IN"/>
            <a:t>An induced entrepreneur enters entrepreneurial activities due to external factors or influences.</a:t>
          </a:r>
        </a:p>
      </dgm:t>
    </dgm:pt>
    <dgm:pt modelId="{E16237A0-2606-426D-9029-52FA769FF1CB}" type="parTrans" cxnId="{E5BEDE9C-AE6C-42B8-88A3-129816A7B788}">
      <dgm:prSet/>
      <dgm:spPr/>
      <dgm:t>
        <a:bodyPr/>
        <a:lstStyle/>
        <a:p>
          <a:endParaRPr lang="en-IN"/>
        </a:p>
      </dgm:t>
    </dgm:pt>
    <dgm:pt modelId="{BBBD6D9B-2B0B-4CE2-93B0-E066E8E83D3B}" type="sibTrans" cxnId="{E5BEDE9C-AE6C-42B8-88A3-129816A7B788}">
      <dgm:prSet/>
      <dgm:spPr/>
      <dgm:t>
        <a:bodyPr/>
        <a:lstStyle/>
        <a:p>
          <a:endParaRPr lang="en-IN"/>
        </a:p>
      </dgm:t>
    </dgm:pt>
    <dgm:pt modelId="{EF6EDD19-9458-4D15-B626-B724BFF21559}">
      <dgm:prSet/>
      <dgm:spPr/>
      <dgm:t>
        <a:bodyPr/>
        <a:lstStyle/>
        <a:p>
          <a:r>
            <a:rPr lang="en-IN" b="1"/>
            <a:t>Example:</a:t>
          </a:r>
          <a:r>
            <a:rPr lang="en-IN"/>
            <a:t> In response to government initiatives and incentives promoting renewable energy,</a:t>
          </a:r>
        </a:p>
      </dgm:t>
    </dgm:pt>
    <dgm:pt modelId="{40A59B6C-71FC-4CD7-905D-F6597C3CEFFE}" type="parTrans" cxnId="{BD2AEC7F-F51D-4B5A-8A7F-F6A6CCFB9497}">
      <dgm:prSet/>
      <dgm:spPr/>
      <dgm:t>
        <a:bodyPr/>
        <a:lstStyle/>
        <a:p>
          <a:endParaRPr lang="en-IN"/>
        </a:p>
      </dgm:t>
    </dgm:pt>
    <dgm:pt modelId="{BC6EF13B-B067-4C10-91AB-50CA05E4D0F4}" type="sibTrans" cxnId="{BD2AEC7F-F51D-4B5A-8A7F-F6A6CCFB9497}">
      <dgm:prSet/>
      <dgm:spPr/>
      <dgm:t>
        <a:bodyPr/>
        <a:lstStyle/>
        <a:p>
          <a:endParaRPr lang="en-IN"/>
        </a:p>
      </dgm:t>
    </dgm:pt>
    <dgm:pt modelId="{F6577AEE-E0B5-42B9-8CC3-6A635F8C1895}">
      <dgm:prSet custT="1"/>
      <dgm:spPr/>
      <dgm:t>
        <a:bodyPr/>
        <a:lstStyle/>
        <a:p>
          <a:r>
            <a:rPr lang="en-IN" sz="2000" b="1"/>
            <a:t>Motivated Entrepreneur</a:t>
          </a:r>
          <a:endParaRPr lang="en-IN" sz="2000"/>
        </a:p>
      </dgm:t>
    </dgm:pt>
    <dgm:pt modelId="{4C41C4DF-55BD-4041-95FA-9423E105BCEA}" type="parTrans" cxnId="{44E35ABD-4445-41FA-8738-7D25FE9DEC90}">
      <dgm:prSet/>
      <dgm:spPr/>
      <dgm:t>
        <a:bodyPr/>
        <a:lstStyle/>
        <a:p>
          <a:endParaRPr lang="en-IN"/>
        </a:p>
      </dgm:t>
    </dgm:pt>
    <dgm:pt modelId="{57473096-83C1-4F3C-AAE6-7541B854D4D3}" type="sibTrans" cxnId="{44E35ABD-4445-41FA-8738-7D25FE9DEC90}">
      <dgm:prSet/>
      <dgm:spPr/>
      <dgm:t>
        <a:bodyPr/>
        <a:lstStyle/>
        <a:p>
          <a:endParaRPr lang="en-IN"/>
        </a:p>
      </dgm:t>
    </dgm:pt>
    <dgm:pt modelId="{0CB67235-74C3-4E00-B804-37DA04377D0F}">
      <dgm:prSet/>
      <dgm:spPr/>
      <dgm:t>
        <a:bodyPr/>
        <a:lstStyle/>
        <a:p>
          <a:r>
            <a:rPr lang="en-IN"/>
            <a:t>A motivated entrepreneur is an individual who is driven by a specific motive or purpose to start and run a business. </a:t>
          </a:r>
        </a:p>
      </dgm:t>
    </dgm:pt>
    <dgm:pt modelId="{B3E17046-55FE-4C22-A9CF-FAC8BB4CE2F4}" type="parTrans" cxnId="{1BB9143C-761A-4452-AC72-85F8569A2A3C}">
      <dgm:prSet/>
      <dgm:spPr/>
      <dgm:t>
        <a:bodyPr/>
        <a:lstStyle/>
        <a:p>
          <a:endParaRPr lang="en-IN"/>
        </a:p>
      </dgm:t>
    </dgm:pt>
    <dgm:pt modelId="{2A30DF28-C71E-4ED5-91F0-99B544B6F378}" type="sibTrans" cxnId="{1BB9143C-761A-4452-AC72-85F8569A2A3C}">
      <dgm:prSet/>
      <dgm:spPr/>
      <dgm:t>
        <a:bodyPr/>
        <a:lstStyle/>
        <a:p>
          <a:endParaRPr lang="en-IN"/>
        </a:p>
      </dgm:t>
    </dgm:pt>
    <dgm:pt modelId="{6DE89392-E478-4765-801D-43003750EDE9}">
      <dgm:prSet/>
      <dgm:spPr/>
      <dgm:t>
        <a:bodyPr/>
        <a:lstStyle/>
        <a:p>
          <a:r>
            <a:rPr lang="en-IN" b="1"/>
            <a:t>Example: </a:t>
          </a:r>
          <a:r>
            <a:rPr lang="en-IN"/>
            <a:t>Anita Roddick, the founder of The Body Shop, was a motivated entrepreneur driven by her 	strong commitment to ethical and sustainable business practices.</a:t>
          </a:r>
        </a:p>
      </dgm:t>
    </dgm:pt>
    <dgm:pt modelId="{BF434775-5995-40D6-AC4B-0FBB513CBA34}" type="parTrans" cxnId="{004C1306-5C7A-4625-B985-8175B24B2C8F}">
      <dgm:prSet/>
      <dgm:spPr/>
      <dgm:t>
        <a:bodyPr/>
        <a:lstStyle/>
        <a:p>
          <a:endParaRPr lang="en-IN"/>
        </a:p>
      </dgm:t>
    </dgm:pt>
    <dgm:pt modelId="{FAFC960D-8AB9-4999-A89D-0DFD9826D76F}" type="sibTrans" cxnId="{004C1306-5C7A-4625-B985-8175B24B2C8F}">
      <dgm:prSet/>
      <dgm:spPr/>
      <dgm:t>
        <a:bodyPr/>
        <a:lstStyle/>
        <a:p>
          <a:endParaRPr lang="en-IN"/>
        </a:p>
      </dgm:t>
    </dgm:pt>
    <dgm:pt modelId="{BDD31CC2-DCE7-47BA-9F16-049E192DB805}" type="pres">
      <dgm:prSet presAssocID="{A44E350A-87B9-405A-B60F-4C784257F3BC}" presName="Name0" presStyleCnt="0">
        <dgm:presLayoutVars>
          <dgm:dir/>
          <dgm:animLvl val="lvl"/>
          <dgm:resizeHandles val="exact"/>
        </dgm:presLayoutVars>
      </dgm:prSet>
      <dgm:spPr/>
      <dgm:t>
        <a:bodyPr/>
        <a:lstStyle/>
        <a:p>
          <a:endParaRPr lang="en-US"/>
        </a:p>
      </dgm:t>
    </dgm:pt>
    <dgm:pt modelId="{CC7FC587-A0D9-4F87-85A5-77BAD10813C7}" type="pres">
      <dgm:prSet presAssocID="{FD69046C-A263-4280-BF33-CC9BDAD1596A}" presName="linNode" presStyleCnt="0"/>
      <dgm:spPr/>
    </dgm:pt>
    <dgm:pt modelId="{7054BDFA-920D-41CB-873E-745656DDBD3D}" type="pres">
      <dgm:prSet presAssocID="{FD69046C-A263-4280-BF33-CC9BDAD1596A}" presName="parentText" presStyleLbl="node1" presStyleIdx="0" presStyleCnt="9" custScaleX="277778">
        <dgm:presLayoutVars>
          <dgm:chMax val="1"/>
          <dgm:bulletEnabled val="1"/>
        </dgm:presLayoutVars>
      </dgm:prSet>
      <dgm:spPr/>
      <dgm:t>
        <a:bodyPr/>
        <a:lstStyle/>
        <a:p>
          <a:endParaRPr lang="en-US"/>
        </a:p>
      </dgm:t>
    </dgm:pt>
    <dgm:pt modelId="{0E28718F-58B5-4C00-97AA-AA61E2E45D08}" type="pres">
      <dgm:prSet presAssocID="{C168AD05-4E66-4E4C-9162-111CE568F0A3}" presName="sp" presStyleCnt="0"/>
      <dgm:spPr/>
    </dgm:pt>
    <dgm:pt modelId="{FBB08890-73C7-4923-B5E9-0FE76C4892F5}" type="pres">
      <dgm:prSet presAssocID="{56A7E90C-BC8F-4FD0-AF2A-323026BE08B5}" presName="linNode" presStyleCnt="0"/>
      <dgm:spPr/>
    </dgm:pt>
    <dgm:pt modelId="{B6FA5225-BF7A-4935-BE65-54BFE7AF830D}" type="pres">
      <dgm:prSet presAssocID="{56A7E90C-BC8F-4FD0-AF2A-323026BE08B5}" presName="parentText" presStyleLbl="node1" presStyleIdx="1" presStyleCnt="9" custScaleX="277778">
        <dgm:presLayoutVars>
          <dgm:chMax val="1"/>
          <dgm:bulletEnabled val="1"/>
        </dgm:presLayoutVars>
      </dgm:prSet>
      <dgm:spPr/>
      <dgm:t>
        <a:bodyPr/>
        <a:lstStyle/>
        <a:p>
          <a:endParaRPr lang="en-US"/>
        </a:p>
      </dgm:t>
    </dgm:pt>
    <dgm:pt modelId="{C8B85438-2074-413E-98E6-C1239DCB7129}" type="pres">
      <dgm:prSet presAssocID="{B7318CE6-D087-44CD-9A30-A6AF48F87CDE}" presName="sp" presStyleCnt="0"/>
      <dgm:spPr/>
    </dgm:pt>
    <dgm:pt modelId="{BC2DF4DA-2011-41A1-AEDB-7D7E20C440C3}" type="pres">
      <dgm:prSet presAssocID="{0E4F32E5-CA2D-40BF-AD7B-46F086B0D928}" presName="linNode" presStyleCnt="0"/>
      <dgm:spPr/>
    </dgm:pt>
    <dgm:pt modelId="{0A8522E8-A931-4EEF-A4AA-0C867F15B88E}" type="pres">
      <dgm:prSet presAssocID="{0E4F32E5-CA2D-40BF-AD7B-46F086B0D928}" presName="parentText" presStyleLbl="node1" presStyleIdx="2" presStyleCnt="9">
        <dgm:presLayoutVars>
          <dgm:chMax val="1"/>
          <dgm:bulletEnabled val="1"/>
        </dgm:presLayoutVars>
      </dgm:prSet>
      <dgm:spPr/>
      <dgm:t>
        <a:bodyPr/>
        <a:lstStyle/>
        <a:p>
          <a:endParaRPr lang="en-US"/>
        </a:p>
      </dgm:t>
    </dgm:pt>
    <dgm:pt modelId="{AB9BF51B-DCED-4E4C-86AA-C9C6F00FFADC}" type="pres">
      <dgm:prSet presAssocID="{0E4F32E5-CA2D-40BF-AD7B-46F086B0D928}" presName="descendantText" presStyleLbl="alignAccFollowNode1" presStyleIdx="0" presStyleCnt="4">
        <dgm:presLayoutVars>
          <dgm:bulletEnabled val="1"/>
        </dgm:presLayoutVars>
      </dgm:prSet>
      <dgm:spPr/>
      <dgm:t>
        <a:bodyPr/>
        <a:lstStyle/>
        <a:p>
          <a:endParaRPr lang="en-US"/>
        </a:p>
      </dgm:t>
    </dgm:pt>
    <dgm:pt modelId="{36611FD0-8FC2-4E63-9D4B-6A32873D2354}" type="pres">
      <dgm:prSet presAssocID="{295E11B6-5109-43C6-A8AC-EC05E40A8CE4}" presName="sp" presStyleCnt="0"/>
      <dgm:spPr/>
    </dgm:pt>
    <dgm:pt modelId="{267C1B21-8990-456F-94AA-005DC35B5796}" type="pres">
      <dgm:prSet presAssocID="{C204EAAF-AC0E-47D6-8311-1C98B346409A}" presName="linNode" presStyleCnt="0"/>
      <dgm:spPr/>
    </dgm:pt>
    <dgm:pt modelId="{3BAA12B4-D329-4674-9BDA-2EE3DCD46546}" type="pres">
      <dgm:prSet presAssocID="{C204EAAF-AC0E-47D6-8311-1C98B346409A}" presName="parentText" presStyleLbl="node1" presStyleIdx="3" presStyleCnt="9" custScaleX="277778">
        <dgm:presLayoutVars>
          <dgm:chMax val="1"/>
          <dgm:bulletEnabled val="1"/>
        </dgm:presLayoutVars>
      </dgm:prSet>
      <dgm:spPr/>
      <dgm:t>
        <a:bodyPr/>
        <a:lstStyle/>
        <a:p>
          <a:endParaRPr lang="en-US"/>
        </a:p>
      </dgm:t>
    </dgm:pt>
    <dgm:pt modelId="{993823D3-330F-4F8D-B5CB-C54CBB67EBF3}" type="pres">
      <dgm:prSet presAssocID="{7429EE35-F266-4EB4-A79F-2ECA10714CDC}" presName="sp" presStyleCnt="0"/>
      <dgm:spPr/>
    </dgm:pt>
    <dgm:pt modelId="{8AA84597-4721-4ABF-AB1C-DA3ACAB9E89D}" type="pres">
      <dgm:prSet presAssocID="{5DFA687C-A10F-4B1D-BF28-52DEDF3E9306}" presName="linNode" presStyleCnt="0"/>
      <dgm:spPr/>
    </dgm:pt>
    <dgm:pt modelId="{1617CB1A-FB6D-4170-8841-04B72270BC4F}" type="pres">
      <dgm:prSet presAssocID="{5DFA687C-A10F-4B1D-BF28-52DEDF3E9306}" presName="parentText" presStyleLbl="node1" presStyleIdx="4" presStyleCnt="9">
        <dgm:presLayoutVars>
          <dgm:chMax val="1"/>
          <dgm:bulletEnabled val="1"/>
        </dgm:presLayoutVars>
      </dgm:prSet>
      <dgm:spPr/>
      <dgm:t>
        <a:bodyPr/>
        <a:lstStyle/>
        <a:p>
          <a:endParaRPr lang="en-US"/>
        </a:p>
      </dgm:t>
    </dgm:pt>
    <dgm:pt modelId="{CA302A3D-ABB5-47AB-AEE1-DBD8660D9383}" type="pres">
      <dgm:prSet presAssocID="{5DFA687C-A10F-4B1D-BF28-52DEDF3E9306}" presName="descendantText" presStyleLbl="alignAccFollowNode1" presStyleIdx="1" presStyleCnt="4">
        <dgm:presLayoutVars>
          <dgm:bulletEnabled val="1"/>
        </dgm:presLayoutVars>
      </dgm:prSet>
      <dgm:spPr/>
      <dgm:t>
        <a:bodyPr/>
        <a:lstStyle/>
        <a:p>
          <a:endParaRPr lang="en-US"/>
        </a:p>
      </dgm:t>
    </dgm:pt>
    <dgm:pt modelId="{A9EE305A-E2ED-4393-B74A-DE0BCCDE9200}" type="pres">
      <dgm:prSet presAssocID="{9FA7444E-866D-4B61-848B-9BA06EE0C47C}" presName="sp" presStyleCnt="0"/>
      <dgm:spPr/>
    </dgm:pt>
    <dgm:pt modelId="{ACDEBD7E-73BE-4C6D-BDC1-3F9004FF2FE6}" type="pres">
      <dgm:prSet presAssocID="{CF25FB9B-46EE-4B2D-844D-0C054C25323E}" presName="linNode" presStyleCnt="0"/>
      <dgm:spPr/>
    </dgm:pt>
    <dgm:pt modelId="{5AA6DDF6-94E1-4A5F-AA22-FDB8F3F7EC2A}" type="pres">
      <dgm:prSet presAssocID="{CF25FB9B-46EE-4B2D-844D-0C054C25323E}" presName="parentText" presStyleLbl="node1" presStyleIdx="5" presStyleCnt="9" custScaleX="277778">
        <dgm:presLayoutVars>
          <dgm:chMax val="1"/>
          <dgm:bulletEnabled val="1"/>
        </dgm:presLayoutVars>
      </dgm:prSet>
      <dgm:spPr/>
      <dgm:t>
        <a:bodyPr/>
        <a:lstStyle/>
        <a:p>
          <a:endParaRPr lang="en-US"/>
        </a:p>
      </dgm:t>
    </dgm:pt>
    <dgm:pt modelId="{DADA9561-F271-4AC2-955D-DA274537BCED}" type="pres">
      <dgm:prSet presAssocID="{47738CF6-0AF7-495F-B0E8-22BA4D379B00}" presName="sp" presStyleCnt="0"/>
      <dgm:spPr/>
    </dgm:pt>
    <dgm:pt modelId="{D41127C2-6B67-4B18-AEBD-0FB75025FC77}" type="pres">
      <dgm:prSet presAssocID="{DB613499-594A-437F-B37E-A77CCB99C333}" presName="linNode" presStyleCnt="0"/>
      <dgm:spPr/>
    </dgm:pt>
    <dgm:pt modelId="{F4A87B2C-332D-4EFE-8E3B-F5977C3CE659}" type="pres">
      <dgm:prSet presAssocID="{DB613499-594A-437F-B37E-A77CCB99C333}" presName="parentText" presStyleLbl="node1" presStyleIdx="6" presStyleCnt="9">
        <dgm:presLayoutVars>
          <dgm:chMax val="1"/>
          <dgm:bulletEnabled val="1"/>
        </dgm:presLayoutVars>
      </dgm:prSet>
      <dgm:spPr/>
      <dgm:t>
        <a:bodyPr/>
        <a:lstStyle/>
        <a:p>
          <a:endParaRPr lang="en-US"/>
        </a:p>
      </dgm:t>
    </dgm:pt>
    <dgm:pt modelId="{CB68B347-EAA9-42A0-A070-B8B280403D58}" type="pres">
      <dgm:prSet presAssocID="{DB613499-594A-437F-B37E-A77CCB99C333}" presName="descendantText" presStyleLbl="alignAccFollowNode1" presStyleIdx="2" presStyleCnt="4">
        <dgm:presLayoutVars>
          <dgm:bulletEnabled val="1"/>
        </dgm:presLayoutVars>
      </dgm:prSet>
      <dgm:spPr/>
      <dgm:t>
        <a:bodyPr/>
        <a:lstStyle/>
        <a:p>
          <a:endParaRPr lang="en-US"/>
        </a:p>
      </dgm:t>
    </dgm:pt>
    <dgm:pt modelId="{8BB07CF7-B635-4082-99D6-358BB7F7E9C6}" type="pres">
      <dgm:prSet presAssocID="{BBBD6D9B-2B0B-4CE2-93B0-E066E8E83D3B}" presName="sp" presStyleCnt="0"/>
      <dgm:spPr/>
    </dgm:pt>
    <dgm:pt modelId="{BCC01B23-83BF-41AB-9469-4F3B1DCDEC85}" type="pres">
      <dgm:prSet presAssocID="{F6577AEE-E0B5-42B9-8CC3-6A635F8C1895}" presName="linNode" presStyleCnt="0"/>
      <dgm:spPr/>
    </dgm:pt>
    <dgm:pt modelId="{5DCD533F-AE31-49AC-8C5B-E7A4C48C77B1}" type="pres">
      <dgm:prSet presAssocID="{F6577AEE-E0B5-42B9-8CC3-6A635F8C1895}" presName="parentText" presStyleLbl="node1" presStyleIdx="7" presStyleCnt="9" custScaleX="277778">
        <dgm:presLayoutVars>
          <dgm:chMax val="1"/>
          <dgm:bulletEnabled val="1"/>
        </dgm:presLayoutVars>
      </dgm:prSet>
      <dgm:spPr/>
      <dgm:t>
        <a:bodyPr/>
        <a:lstStyle/>
        <a:p>
          <a:endParaRPr lang="en-US"/>
        </a:p>
      </dgm:t>
    </dgm:pt>
    <dgm:pt modelId="{5E47B8D7-7ED7-4AA3-8620-501D1857792E}" type="pres">
      <dgm:prSet presAssocID="{57473096-83C1-4F3C-AAE6-7541B854D4D3}" presName="sp" presStyleCnt="0"/>
      <dgm:spPr/>
    </dgm:pt>
    <dgm:pt modelId="{01500354-77F3-4BBA-8BE5-BF56E9901250}" type="pres">
      <dgm:prSet presAssocID="{0CB67235-74C3-4E00-B804-37DA04377D0F}" presName="linNode" presStyleCnt="0"/>
      <dgm:spPr/>
    </dgm:pt>
    <dgm:pt modelId="{887CD319-A994-4F94-A48A-6C387A77E9AB}" type="pres">
      <dgm:prSet presAssocID="{0CB67235-74C3-4E00-B804-37DA04377D0F}" presName="parentText" presStyleLbl="node1" presStyleIdx="8" presStyleCnt="9">
        <dgm:presLayoutVars>
          <dgm:chMax val="1"/>
          <dgm:bulletEnabled val="1"/>
        </dgm:presLayoutVars>
      </dgm:prSet>
      <dgm:spPr/>
      <dgm:t>
        <a:bodyPr/>
        <a:lstStyle/>
        <a:p>
          <a:endParaRPr lang="en-US"/>
        </a:p>
      </dgm:t>
    </dgm:pt>
    <dgm:pt modelId="{01E0FC38-969C-4D28-ABCA-AF1229DEC737}" type="pres">
      <dgm:prSet presAssocID="{0CB67235-74C3-4E00-B804-37DA04377D0F}" presName="descendantText" presStyleLbl="alignAccFollowNode1" presStyleIdx="3" presStyleCnt="4">
        <dgm:presLayoutVars>
          <dgm:bulletEnabled val="1"/>
        </dgm:presLayoutVars>
      </dgm:prSet>
      <dgm:spPr/>
      <dgm:t>
        <a:bodyPr/>
        <a:lstStyle/>
        <a:p>
          <a:endParaRPr lang="en-US"/>
        </a:p>
      </dgm:t>
    </dgm:pt>
  </dgm:ptLst>
  <dgm:cxnLst>
    <dgm:cxn modelId="{B61BA177-0E34-42A3-86EC-8E5B01D4304A}" srcId="{0E4F32E5-CA2D-40BF-AD7B-46F086B0D928}" destId="{8AB57B15-CFD7-41E9-93B2-9B0C82034A39}" srcOrd="0" destOrd="0" parTransId="{29A13CBC-65D4-42B5-B9B9-92913E850939}" sibTransId="{C84DED61-6560-4F67-A6F7-32D655FBE113}"/>
    <dgm:cxn modelId="{F7EB2CBD-825E-440C-9030-7D4D1A310FE5}" type="presOf" srcId="{5DFA687C-A10F-4B1D-BF28-52DEDF3E9306}" destId="{1617CB1A-FB6D-4170-8841-04B72270BC4F}" srcOrd="0" destOrd="0" presId="urn:microsoft.com/office/officeart/2005/8/layout/vList5"/>
    <dgm:cxn modelId="{CBD00E42-CB9D-4BE9-A04D-1782B726F38D}" type="presOf" srcId="{0CB67235-74C3-4E00-B804-37DA04377D0F}" destId="{887CD319-A994-4F94-A48A-6C387A77E9AB}" srcOrd="0" destOrd="0" presId="urn:microsoft.com/office/officeart/2005/8/layout/vList5"/>
    <dgm:cxn modelId="{442A7305-D84E-4008-A5A4-E4C295B74B18}" type="presOf" srcId="{0261C17C-9B7B-40FC-91AF-98744DB11957}" destId="{CA302A3D-ABB5-47AB-AEE1-DBD8660D9383}" srcOrd="0" destOrd="0" presId="urn:microsoft.com/office/officeart/2005/8/layout/vList5"/>
    <dgm:cxn modelId="{0846AD39-42E0-4079-A29C-A8692DCD4677}" type="presOf" srcId="{0E4F32E5-CA2D-40BF-AD7B-46F086B0D928}" destId="{0A8522E8-A931-4EEF-A4AA-0C867F15B88E}" srcOrd="0" destOrd="0" presId="urn:microsoft.com/office/officeart/2005/8/layout/vList5"/>
    <dgm:cxn modelId="{D9DE3F5E-0BF9-4F8D-A7D7-1836B9F784CA}" type="presOf" srcId="{56A7E90C-BC8F-4FD0-AF2A-323026BE08B5}" destId="{B6FA5225-BF7A-4935-BE65-54BFE7AF830D}" srcOrd="0" destOrd="0" presId="urn:microsoft.com/office/officeart/2005/8/layout/vList5"/>
    <dgm:cxn modelId="{4D356E64-C276-4D92-949C-8AEEB61AEB3E}" type="presOf" srcId="{6DE89392-E478-4765-801D-43003750EDE9}" destId="{01E0FC38-969C-4D28-ABCA-AF1229DEC737}" srcOrd="0" destOrd="0" presId="urn:microsoft.com/office/officeart/2005/8/layout/vList5"/>
    <dgm:cxn modelId="{9C9226B7-E889-41BF-8113-D529B6C39B94}" type="presOf" srcId="{A44E350A-87B9-405A-B60F-4C784257F3BC}" destId="{BDD31CC2-DCE7-47BA-9F16-049E192DB805}" srcOrd="0" destOrd="0" presId="urn:microsoft.com/office/officeart/2005/8/layout/vList5"/>
    <dgm:cxn modelId="{5ADDF971-6607-4F88-8EAD-E80221E68B02}" type="presOf" srcId="{C204EAAF-AC0E-47D6-8311-1C98B346409A}" destId="{3BAA12B4-D329-4674-9BDA-2EE3DCD46546}" srcOrd="0" destOrd="0" presId="urn:microsoft.com/office/officeart/2005/8/layout/vList5"/>
    <dgm:cxn modelId="{FEC2153D-0A1D-4856-A6BE-CEC79C0D95FD}" srcId="{A44E350A-87B9-405A-B60F-4C784257F3BC}" destId="{FD69046C-A263-4280-BF33-CC9BDAD1596A}" srcOrd="0" destOrd="0" parTransId="{AD70F8D3-C832-42D6-951A-4BD2276A1E8E}" sibTransId="{C168AD05-4E66-4E4C-9162-111CE568F0A3}"/>
    <dgm:cxn modelId="{3D6657F6-B876-4272-B8AC-8E8E58C1F616}" srcId="{A44E350A-87B9-405A-B60F-4C784257F3BC}" destId="{56A7E90C-BC8F-4FD0-AF2A-323026BE08B5}" srcOrd="1" destOrd="0" parTransId="{E279E99E-9A30-4D7C-B1C6-E2137123CAE2}" sibTransId="{B7318CE6-D087-44CD-9A30-A6AF48F87CDE}"/>
    <dgm:cxn modelId="{44E35ABD-4445-41FA-8738-7D25FE9DEC90}" srcId="{A44E350A-87B9-405A-B60F-4C784257F3BC}" destId="{F6577AEE-E0B5-42B9-8CC3-6A635F8C1895}" srcOrd="7" destOrd="0" parTransId="{4C41C4DF-55BD-4041-95FA-9423E105BCEA}" sibTransId="{57473096-83C1-4F3C-AAE6-7541B854D4D3}"/>
    <dgm:cxn modelId="{0138B716-E734-4EAE-978E-411364600A41}" srcId="{A44E350A-87B9-405A-B60F-4C784257F3BC}" destId="{CF25FB9B-46EE-4B2D-844D-0C054C25323E}" srcOrd="5" destOrd="0" parTransId="{4B0637A5-3E3B-4CBE-9279-B25EC5CA2034}" sibTransId="{47738CF6-0AF7-495F-B0E8-22BA4D379B00}"/>
    <dgm:cxn modelId="{93202992-D9AA-4613-99C7-BA7ABC635DE1}" type="presOf" srcId="{FD69046C-A263-4280-BF33-CC9BDAD1596A}" destId="{7054BDFA-920D-41CB-873E-745656DDBD3D}" srcOrd="0" destOrd="0" presId="urn:microsoft.com/office/officeart/2005/8/layout/vList5"/>
    <dgm:cxn modelId="{775A8B0E-9E78-4926-961B-3C8AF8A62994}" type="presOf" srcId="{8AB57B15-CFD7-41E9-93B2-9B0C82034A39}" destId="{AB9BF51B-DCED-4E4C-86AA-C9C6F00FFADC}" srcOrd="0" destOrd="0" presId="urn:microsoft.com/office/officeart/2005/8/layout/vList5"/>
    <dgm:cxn modelId="{37ECF670-7D95-43A6-B669-EE9D70CA0EC6}" srcId="{A44E350A-87B9-405A-B60F-4C784257F3BC}" destId="{0E4F32E5-CA2D-40BF-AD7B-46F086B0D928}" srcOrd="2" destOrd="0" parTransId="{CAFC6EAC-B6FF-42AC-9446-F46B0B3FC9BA}" sibTransId="{295E11B6-5109-43C6-A8AC-EC05E40A8CE4}"/>
    <dgm:cxn modelId="{05B04B6D-2A1A-4EF1-8949-0E10F0100BB3}" type="presOf" srcId="{CF25FB9B-46EE-4B2D-844D-0C054C25323E}" destId="{5AA6DDF6-94E1-4A5F-AA22-FDB8F3F7EC2A}" srcOrd="0" destOrd="0" presId="urn:microsoft.com/office/officeart/2005/8/layout/vList5"/>
    <dgm:cxn modelId="{1C9E1A13-9BB3-462A-A097-F9CDCAEB4051}" srcId="{5DFA687C-A10F-4B1D-BF28-52DEDF3E9306}" destId="{0261C17C-9B7B-40FC-91AF-98744DB11957}" srcOrd="0" destOrd="0" parTransId="{80A82796-B40D-4A88-841D-E79C251714EF}" sibTransId="{2CFD851A-640F-4F5E-AC17-8286E6D1B0C5}"/>
    <dgm:cxn modelId="{61410A2F-CCF3-457F-8FFD-2B466B517FC0}" type="presOf" srcId="{DB613499-594A-437F-B37E-A77CCB99C333}" destId="{F4A87B2C-332D-4EFE-8E3B-F5977C3CE659}" srcOrd="0" destOrd="0" presId="urn:microsoft.com/office/officeart/2005/8/layout/vList5"/>
    <dgm:cxn modelId="{279C381A-FC26-4A8C-8F0C-D248769A88E0}" type="presOf" srcId="{F6577AEE-E0B5-42B9-8CC3-6A635F8C1895}" destId="{5DCD533F-AE31-49AC-8C5B-E7A4C48C77B1}" srcOrd="0" destOrd="0" presId="urn:microsoft.com/office/officeart/2005/8/layout/vList5"/>
    <dgm:cxn modelId="{E5BEDE9C-AE6C-42B8-88A3-129816A7B788}" srcId="{A44E350A-87B9-405A-B60F-4C784257F3BC}" destId="{DB613499-594A-437F-B37E-A77CCB99C333}" srcOrd="6" destOrd="0" parTransId="{E16237A0-2606-426D-9029-52FA769FF1CB}" sibTransId="{BBBD6D9B-2B0B-4CE2-93B0-E066E8E83D3B}"/>
    <dgm:cxn modelId="{28CA4B4F-DA1B-4D4F-861C-E8254983C4CE}" type="presOf" srcId="{EF6EDD19-9458-4D15-B626-B724BFF21559}" destId="{CB68B347-EAA9-42A0-A070-B8B280403D58}" srcOrd="0" destOrd="0" presId="urn:microsoft.com/office/officeart/2005/8/layout/vList5"/>
    <dgm:cxn modelId="{004C1306-5C7A-4625-B985-8175B24B2C8F}" srcId="{0CB67235-74C3-4E00-B804-37DA04377D0F}" destId="{6DE89392-E478-4765-801D-43003750EDE9}" srcOrd="0" destOrd="0" parTransId="{BF434775-5995-40D6-AC4B-0FBB513CBA34}" sibTransId="{FAFC960D-8AB9-4999-A89D-0DFD9826D76F}"/>
    <dgm:cxn modelId="{1BB9143C-761A-4452-AC72-85F8569A2A3C}" srcId="{A44E350A-87B9-405A-B60F-4C784257F3BC}" destId="{0CB67235-74C3-4E00-B804-37DA04377D0F}" srcOrd="8" destOrd="0" parTransId="{B3E17046-55FE-4C22-A9CF-FAC8BB4CE2F4}" sibTransId="{2A30DF28-C71E-4ED5-91F0-99B544B6F378}"/>
    <dgm:cxn modelId="{43D88C58-7802-4AFA-98C4-1FF906DEE9F9}" srcId="{A44E350A-87B9-405A-B60F-4C784257F3BC}" destId="{5DFA687C-A10F-4B1D-BF28-52DEDF3E9306}" srcOrd="4" destOrd="0" parTransId="{56B6E272-9C6C-4D6A-BDDD-986A4DF1CA41}" sibTransId="{9FA7444E-866D-4B61-848B-9BA06EE0C47C}"/>
    <dgm:cxn modelId="{BD2AEC7F-F51D-4B5A-8A7F-F6A6CCFB9497}" srcId="{DB613499-594A-437F-B37E-A77CCB99C333}" destId="{EF6EDD19-9458-4D15-B626-B724BFF21559}" srcOrd="0" destOrd="0" parTransId="{40A59B6C-71FC-4CD7-905D-F6597C3CEFFE}" sibTransId="{BC6EF13B-B067-4C10-91AB-50CA05E4D0F4}"/>
    <dgm:cxn modelId="{0E8C873A-99DB-4D9D-9F9D-DA5ADF7C6F20}" srcId="{A44E350A-87B9-405A-B60F-4C784257F3BC}" destId="{C204EAAF-AC0E-47D6-8311-1C98B346409A}" srcOrd="3" destOrd="0" parTransId="{4FE20541-D9B6-4709-802E-E96135BE7DDD}" sibTransId="{7429EE35-F266-4EB4-A79F-2ECA10714CDC}"/>
    <dgm:cxn modelId="{5C2DD702-F8D7-4105-AF62-8565611C744B}" type="presParOf" srcId="{BDD31CC2-DCE7-47BA-9F16-049E192DB805}" destId="{CC7FC587-A0D9-4F87-85A5-77BAD10813C7}" srcOrd="0" destOrd="0" presId="urn:microsoft.com/office/officeart/2005/8/layout/vList5"/>
    <dgm:cxn modelId="{B969110D-CB83-4EB7-A374-422C70A0AD16}" type="presParOf" srcId="{CC7FC587-A0D9-4F87-85A5-77BAD10813C7}" destId="{7054BDFA-920D-41CB-873E-745656DDBD3D}" srcOrd="0" destOrd="0" presId="urn:microsoft.com/office/officeart/2005/8/layout/vList5"/>
    <dgm:cxn modelId="{2C8C3658-444F-4702-AE72-1096A670471F}" type="presParOf" srcId="{BDD31CC2-DCE7-47BA-9F16-049E192DB805}" destId="{0E28718F-58B5-4C00-97AA-AA61E2E45D08}" srcOrd="1" destOrd="0" presId="urn:microsoft.com/office/officeart/2005/8/layout/vList5"/>
    <dgm:cxn modelId="{54731571-0344-439C-8E93-7F7076C3CA01}" type="presParOf" srcId="{BDD31CC2-DCE7-47BA-9F16-049E192DB805}" destId="{FBB08890-73C7-4923-B5E9-0FE76C4892F5}" srcOrd="2" destOrd="0" presId="urn:microsoft.com/office/officeart/2005/8/layout/vList5"/>
    <dgm:cxn modelId="{76E2CF7B-8654-4EE3-BAEF-5ABBB27F8D9A}" type="presParOf" srcId="{FBB08890-73C7-4923-B5E9-0FE76C4892F5}" destId="{B6FA5225-BF7A-4935-BE65-54BFE7AF830D}" srcOrd="0" destOrd="0" presId="urn:microsoft.com/office/officeart/2005/8/layout/vList5"/>
    <dgm:cxn modelId="{97598EAD-070E-4CEA-AD9A-BBEAEE730DA1}" type="presParOf" srcId="{BDD31CC2-DCE7-47BA-9F16-049E192DB805}" destId="{C8B85438-2074-413E-98E6-C1239DCB7129}" srcOrd="3" destOrd="0" presId="urn:microsoft.com/office/officeart/2005/8/layout/vList5"/>
    <dgm:cxn modelId="{B86B7FA6-C364-4BB0-9EBC-75B8D1839E1D}" type="presParOf" srcId="{BDD31CC2-DCE7-47BA-9F16-049E192DB805}" destId="{BC2DF4DA-2011-41A1-AEDB-7D7E20C440C3}" srcOrd="4" destOrd="0" presId="urn:microsoft.com/office/officeart/2005/8/layout/vList5"/>
    <dgm:cxn modelId="{5A13E357-7FAF-47E0-80B0-C891C5F64CA4}" type="presParOf" srcId="{BC2DF4DA-2011-41A1-AEDB-7D7E20C440C3}" destId="{0A8522E8-A931-4EEF-A4AA-0C867F15B88E}" srcOrd="0" destOrd="0" presId="urn:microsoft.com/office/officeart/2005/8/layout/vList5"/>
    <dgm:cxn modelId="{FAC88103-14ED-44DB-863E-31C6BA118ABB}" type="presParOf" srcId="{BC2DF4DA-2011-41A1-AEDB-7D7E20C440C3}" destId="{AB9BF51B-DCED-4E4C-86AA-C9C6F00FFADC}" srcOrd="1" destOrd="0" presId="urn:microsoft.com/office/officeart/2005/8/layout/vList5"/>
    <dgm:cxn modelId="{5C18E39A-2171-4D6D-AC4B-936BA0714DB1}" type="presParOf" srcId="{BDD31CC2-DCE7-47BA-9F16-049E192DB805}" destId="{36611FD0-8FC2-4E63-9D4B-6A32873D2354}" srcOrd="5" destOrd="0" presId="urn:microsoft.com/office/officeart/2005/8/layout/vList5"/>
    <dgm:cxn modelId="{563AF137-8A94-4681-B75F-B08B60B6B034}" type="presParOf" srcId="{BDD31CC2-DCE7-47BA-9F16-049E192DB805}" destId="{267C1B21-8990-456F-94AA-005DC35B5796}" srcOrd="6" destOrd="0" presId="urn:microsoft.com/office/officeart/2005/8/layout/vList5"/>
    <dgm:cxn modelId="{A6E848D6-96C8-4960-833B-BBDFEB55F74D}" type="presParOf" srcId="{267C1B21-8990-456F-94AA-005DC35B5796}" destId="{3BAA12B4-D329-4674-9BDA-2EE3DCD46546}" srcOrd="0" destOrd="0" presId="urn:microsoft.com/office/officeart/2005/8/layout/vList5"/>
    <dgm:cxn modelId="{0133AA84-1202-433F-9349-617858A748E0}" type="presParOf" srcId="{BDD31CC2-DCE7-47BA-9F16-049E192DB805}" destId="{993823D3-330F-4F8D-B5CB-C54CBB67EBF3}" srcOrd="7" destOrd="0" presId="urn:microsoft.com/office/officeart/2005/8/layout/vList5"/>
    <dgm:cxn modelId="{69AA5652-0269-4531-BBE4-E6B81CE30D85}" type="presParOf" srcId="{BDD31CC2-DCE7-47BA-9F16-049E192DB805}" destId="{8AA84597-4721-4ABF-AB1C-DA3ACAB9E89D}" srcOrd="8" destOrd="0" presId="urn:microsoft.com/office/officeart/2005/8/layout/vList5"/>
    <dgm:cxn modelId="{D0F9E840-4A04-40A1-81DB-D99310FCECD0}" type="presParOf" srcId="{8AA84597-4721-4ABF-AB1C-DA3ACAB9E89D}" destId="{1617CB1A-FB6D-4170-8841-04B72270BC4F}" srcOrd="0" destOrd="0" presId="urn:microsoft.com/office/officeart/2005/8/layout/vList5"/>
    <dgm:cxn modelId="{BBA8E1A9-4EE2-4264-985D-C1AB7F322C6E}" type="presParOf" srcId="{8AA84597-4721-4ABF-AB1C-DA3ACAB9E89D}" destId="{CA302A3D-ABB5-47AB-AEE1-DBD8660D9383}" srcOrd="1" destOrd="0" presId="urn:microsoft.com/office/officeart/2005/8/layout/vList5"/>
    <dgm:cxn modelId="{E087384B-74F0-4C37-8BBE-75BB3E339442}" type="presParOf" srcId="{BDD31CC2-DCE7-47BA-9F16-049E192DB805}" destId="{A9EE305A-E2ED-4393-B74A-DE0BCCDE9200}" srcOrd="9" destOrd="0" presId="urn:microsoft.com/office/officeart/2005/8/layout/vList5"/>
    <dgm:cxn modelId="{59CB3C37-BEBA-41DD-8153-CF4A205C9B7C}" type="presParOf" srcId="{BDD31CC2-DCE7-47BA-9F16-049E192DB805}" destId="{ACDEBD7E-73BE-4C6D-BDC1-3F9004FF2FE6}" srcOrd="10" destOrd="0" presId="urn:microsoft.com/office/officeart/2005/8/layout/vList5"/>
    <dgm:cxn modelId="{B605CE55-9835-481A-BC22-942F53C931F9}" type="presParOf" srcId="{ACDEBD7E-73BE-4C6D-BDC1-3F9004FF2FE6}" destId="{5AA6DDF6-94E1-4A5F-AA22-FDB8F3F7EC2A}" srcOrd="0" destOrd="0" presId="urn:microsoft.com/office/officeart/2005/8/layout/vList5"/>
    <dgm:cxn modelId="{95E05E4D-05F1-4862-9FBF-B83B4A310517}" type="presParOf" srcId="{BDD31CC2-DCE7-47BA-9F16-049E192DB805}" destId="{DADA9561-F271-4AC2-955D-DA274537BCED}" srcOrd="11" destOrd="0" presId="urn:microsoft.com/office/officeart/2005/8/layout/vList5"/>
    <dgm:cxn modelId="{07CA9D5A-1840-4BF5-B255-CF61A213DF1B}" type="presParOf" srcId="{BDD31CC2-DCE7-47BA-9F16-049E192DB805}" destId="{D41127C2-6B67-4B18-AEBD-0FB75025FC77}" srcOrd="12" destOrd="0" presId="urn:microsoft.com/office/officeart/2005/8/layout/vList5"/>
    <dgm:cxn modelId="{0E8AD403-200A-4B13-99D2-A0ACD49BF63A}" type="presParOf" srcId="{D41127C2-6B67-4B18-AEBD-0FB75025FC77}" destId="{F4A87B2C-332D-4EFE-8E3B-F5977C3CE659}" srcOrd="0" destOrd="0" presId="urn:microsoft.com/office/officeart/2005/8/layout/vList5"/>
    <dgm:cxn modelId="{4F698E9B-BD62-435A-9354-B0CE40B58689}" type="presParOf" srcId="{D41127C2-6B67-4B18-AEBD-0FB75025FC77}" destId="{CB68B347-EAA9-42A0-A070-B8B280403D58}" srcOrd="1" destOrd="0" presId="urn:microsoft.com/office/officeart/2005/8/layout/vList5"/>
    <dgm:cxn modelId="{755DBFB2-46FE-4B5B-8B9A-E12FA15DA271}" type="presParOf" srcId="{BDD31CC2-DCE7-47BA-9F16-049E192DB805}" destId="{8BB07CF7-B635-4082-99D6-358BB7F7E9C6}" srcOrd="13" destOrd="0" presId="urn:microsoft.com/office/officeart/2005/8/layout/vList5"/>
    <dgm:cxn modelId="{1881A55F-D37D-414C-9E50-012F5ED37133}" type="presParOf" srcId="{BDD31CC2-DCE7-47BA-9F16-049E192DB805}" destId="{BCC01B23-83BF-41AB-9469-4F3B1DCDEC85}" srcOrd="14" destOrd="0" presId="urn:microsoft.com/office/officeart/2005/8/layout/vList5"/>
    <dgm:cxn modelId="{1EAC9B9A-478C-4BB1-896A-57A6E2327AF4}" type="presParOf" srcId="{BCC01B23-83BF-41AB-9469-4F3B1DCDEC85}" destId="{5DCD533F-AE31-49AC-8C5B-E7A4C48C77B1}" srcOrd="0" destOrd="0" presId="urn:microsoft.com/office/officeart/2005/8/layout/vList5"/>
    <dgm:cxn modelId="{1619BB9F-4F7C-4B69-A20E-D97B3450910B}" type="presParOf" srcId="{BDD31CC2-DCE7-47BA-9F16-049E192DB805}" destId="{5E47B8D7-7ED7-4AA3-8620-501D1857792E}" srcOrd="15" destOrd="0" presId="urn:microsoft.com/office/officeart/2005/8/layout/vList5"/>
    <dgm:cxn modelId="{2153D1CF-6A89-4A39-8D2D-8C877FD28454}" type="presParOf" srcId="{BDD31CC2-DCE7-47BA-9F16-049E192DB805}" destId="{01500354-77F3-4BBA-8BE5-BF56E9901250}" srcOrd="16" destOrd="0" presId="urn:microsoft.com/office/officeart/2005/8/layout/vList5"/>
    <dgm:cxn modelId="{1E20EA6C-C9FF-4C40-B999-39FD42DD0394}" type="presParOf" srcId="{01500354-77F3-4BBA-8BE5-BF56E9901250}" destId="{887CD319-A994-4F94-A48A-6C387A77E9AB}" srcOrd="0" destOrd="0" presId="urn:microsoft.com/office/officeart/2005/8/layout/vList5"/>
    <dgm:cxn modelId="{3C893D63-AC83-43CE-A1FC-032E03E65377}" type="presParOf" srcId="{01500354-77F3-4BBA-8BE5-BF56E9901250}" destId="{01E0FC38-969C-4D28-ABCA-AF1229DEC73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E5E13D-0389-4C0E-8C4B-22524484AAC4}">
      <dsp:nvSpPr>
        <dsp:cNvPr id="0" name=""/>
        <dsp:cNvSpPr/>
      </dsp:nvSpPr>
      <dsp:spPr>
        <a:xfrm>
          <a:off x="610515" y="0"/>
          <a:ext cx="6370974" cy="6370974"/>
        </a:xfrm>
        <a:prstGeom prst="triangle">
          <a:avLst/>
        </a:prstGeom>
        <a:solidFill>
          <a:schemeClr val="tx1">
            <a:lumMod val="50000"/>
            <a:lumOff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8409232-2BEA-41A1-B778-37C875C35ACD}">
      <dsp:nvSpPr>
        <dsp:cNvPr id="0" name=""/>
        <dsp:cNvSpPr/>
      </dsp:nvSpPr>
      <dsp:spPr>
        <a:xfrm>
          <a:off x="3796002" y="637369"/>
          <a:ext cx="4141133" cy="503331"/>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CA" sz="2100" kern="1200" smtClean="0"/>
            <a:t>They Take Their Actions Seriously</a:t>
          </a:r>
          <a:endParaRPr lang="en-CA" sz="2100" kern="1200"/>
        </a:p>
      </dsp:txBody>
      <dsp:txXfrm>
        <a:off x="3820573" y="661940"/>
        <a:ext cx="4091991" cy="454189"/>
      </dsp:txXfrm>
    </dsp:sp>
    <dsp:sp modelId="{A1A56688-D985-45B4-A6AE-8E3B0CE3C841}">
      <dsp:nvSpPr>
        <dsp:cNvPr id="0" name=""/>
        <dsp:cNvSpPr/>
      </dsp:nvSpPr>
      <dsp:spPr>
        <a:xfrm>
          <a:off x="3796002" y="1203618"/>
          <a:ext cx="4141133" cy="503331"/>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CA" sz="2100" kern="1200" smtClean="0"/>
            <a:t>They Focus on the Customer</a:t>
          </a:r>
          <a:endParaRPr lang="en-CA" sz="2100" kern="1200"/>
        </a:p>
      </dsp:txBody>
      <dsp:txXfrm>
        <a:off x="3820573" y="1228189"/>
        <a:ext cx="4091991" cy="454189"/>
      </dsp:txXfrm>
    </dsp:sp>
    <dsp:sp modelId="{E1ACD216-42AC-4CDC-A73E-3BCAC8120B21}">
      <dsp:nvSpPr>
        <dsp:cNvPr id="0" name=""/>
        <dsp:cNvSpPr/>
      </dsp:nvSpPr>
      <dsp:spPr>
        <a:xfrm>
          <a:off x="3796002" y="1769866"/>
          <a:ext cx="4141133" cy="503331"/>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CA" sz="2100" kern="1200" smtClean="0"/>
            <a:t>They Take Major Decisions Carefully</a:t>
          </a:r>
          <a:endParaRPr lang="en-CA" sz="2100" kern="1200"/>
        </a:p>
      </dsp:txBody>
      <dsp:txXfrm>
        <a:off x="3820573" y="1794437"/>
        <a:ext cx="4091991" cy="454189"/>
      </dsp:txXfrm>
    </dsp:sp>
    <dsp:sp modelId="{905F3FEE-4A6A-497F-94CF-E010C579E694}">
      <dsp:nvSpPr>
        <dsp:cNvPr id="0" name=""/>
        <dsp:cNvSpPr/>
      </dsp:nvSpPr>
      <dsp:spPr>
        <a:xfrm>
          <a:off x="3796002" y="2336114"/>
          <a:ext cx="4141133" cy="503331"/>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CA" sz="2100" kern="1200" smtClean="0"/>
            <a:t>They Make Use of Technology</a:t>
          </a:r>
          <a:endParaRPr lang="en-CA" sz="2100" kern="1200"/>
        </a:p>
      </dsp:txBody>
      <dsp:txXfrm>
        <a:off x="3820573" y="2360685"/>
        <a:ext cx="4091991" cy="454189"/>
      </dsp:txXfrm>
    </dsp:sp>
    <dsp:sp modelId="{C9E9FD7B-E17D-49EB-B016-5DBCA763CF60}">
      <dsp:nvSpPr>
        <dsp:cNvPr id="0" name=""/>
        <dsp:cNvSpPr/>
      </dsp:nvSpPr>
      <dsp:spPr>
        <a:xfrm>
          <a:off x="3796002" y="2902363"/>
          <a:ext cx="4141133" cy="503331"/>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CA" sz="2100" kern="1200" smtClean="0"/>
            <a:t>They Like to Invest in Themselves</a:t>
          </a:r>
          <a:endParaRPr lang="en-CA" sz="2100" kern="1200"/>
        </a:p>
      </dsp:txBody>
      <dsp:txXfrm>
        <a:off x="3820573" y="2926934"/>
        <a:ext cx="4091991" cy="454189"/>
      </dsp:txXfrm>
    </dsp:sp>
    <dsp:sp modelId="{8B3C7317-89CB-4D85-997F-833A54811F27}">
      <dsp:nvSpPr>
        <dsp:cNvPr id="0" name=""/>
        <dsp:cNvSpPr/>
      </dsp:nvSpPr>
      <dsp:spPr>
        <a:xfrm>
          <a:off x="3796002" y="3468611"/>
          <a:ext cx="4141133" cy="503331"/>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CA" sz="2100" kern="1200" smtClean="0"/>
            <a:t>They Constantly Keep Learning</a:t>
          </a:r>
          <a:endParaRPr lang="en-CA" sz="2100" kern="1200"/>
        </a:p>
      </dsp:txBody>
      <dsp:txXfrm>
        <a:off x="3820573" y="3493182"/>
        <a:ext cx="4091991" cy="454189"/>
      </dsp:txXfrm>
    </dsp:sp>
    <dsp:sp modelId="{C488550A-C274-409E-B65B-5237E92962EC}">
      <dsp:nvSpPr>
        <dsp:cNvPr id="0" name=""/>
        <dsp:cNvSpPr/>
      </dsp:nvSpPr>
      <dsp:spPr>
        <a:xfrm>
          <a:off x="3796002" y="4034860"/>
          <a:ext cx="4141133" cy="503331"/>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CA" sz="2100" kern="1200" smtClean="0"/>
            <a:t>They Like Taking Risks</a:t>
          </a:r>
          <a:endParaRPr lang="en-CA" sz="2100" kern="1200"/>
        </a:p>
      </dsp:txBody>
      <dsp:txXfrm>
        <a:off x="3820573" y="4059431"/>
        <a:ext cx="4091991" cy="454189"/>
      </dsp:txXfrm>
    </dsp:sp>
    <dsp:sp modelId="{594BF559-BBF7-40C0-9373-AC44FB50D43B}">
      <dsp:nvSpPr>
        <dsp:cNvPr id="0" name=""/>
        <dsp:cNvSpPr/>
      </dsp:nvSpPr>
      <dsp:spPr>
        <a:xfrm>
          <a:off x="3796002" y="4601108"/>
          <a:ext cx="4141133" cy="503331"/>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CA" sz="2100" kern="1200" smtClean="0"/>
            <a:t>They Like to Build Networks</a:t>
          </a:r>
          <a:endParaRPr lang="en-CA" sz="2100" kern="1200"/>
        </a:p>
      </dsp:txBody>
      <dsp:txXfrm>
        <a:off x="3820573" y="4625679"/>
        <a:ext cx="4091991" cy="454189"/>
      </dsp:txXfrm>
    </dsp:sp>
    <dsp:sp modelId="{FBF94FBE-721C-4CD9-878E-2AD294A2B72B}">
      <dsp:nvSpPr>
        <dsp:cNvPr id="0" name=""/>
        <dsp:cNvSpPr/>
      </dsp:nvSpPr>
      <dsp:spPr>
        <a:xfrm>
          <a:off x="3796002" y="5167356"/>
          <a:ext cx="4141133" cy="503331"/>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CA" sz="2100" kern="1200" smtClean="0"/>
            <a:t>They Have a Sense of Curiosity</a:t>
          </a:r>
          <a:endParaRPr lang="en-CA" sz="2100" kern="1200"/>
        </a:p>
      </dsp:txBody>
      <dsp:txXfrm>
        <a:off x="3820573" y="5191927"/>
        <a:ext cx="4091991" cy="4541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547C72-4A63-4CBD-85AF-6DC8653AEB37}">
      <dsp:nvSpPr>
        <dsp:cNvPr id="0" name=""/>
        <dsp:cNvSpPr/>
      </dsp:nvSpPr>
      <dsp:spPr>
        <a:xfrm>
          <a:off x="725556" y="0"/>
          <a:ext cx="8222973" cy="4055738"/>
        </a:xfrm>
        <a:prstGeom prst="rightArrow">
          <a:avLst/>
        </a:prstGeom>
        <a:solidFill>
          <a:srgbClr val="7030A0"/>
        </a:solidFill>
        <a:ln>
          <a:noFill/>
        </a:ln>
        <a:effectLst/>
      </dsp:spPr>
      <dsp:style>
        <a:lnRef idx="0">
          <a:scrgbClr r="0" g="0" b="0"/>
        </a:lnRef>
        <a:fillRef idx="1">
          <a:scrgbClr r="0" g="0" b="0"/>
        </a:fillRef>
        <a:effectRef idx="0">
          <a:scrgbClr r="0" g="0" b="0"/>
        </a:effectRef>
        <a:fontRef idx="minor"/>
      </dsp:style>
    </dsp:sp>
    <dsp:sp modelId="{5B38F875-DF2B-4700-8AA6-D6B741476F67}">
      <dsp:nvSpPr>
        <dsp:cNvPr id="0" name=""/>
        <dsp:cNvSpPr/>
      </dsp:nvSpPr>
      <dsp:spPr>
        <a:xfrm>
          <a:off x="10392" y="1216721"/>
          <a:ext cx="3113846" cy="1622295"/>
        </a:xfrm>
        <a:prstGeom prst="round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IN" sz="3400" b="1" kern="1200"/>
            <a:t>On the Basis of Business Type</a:t>
          </a:r>
          <a:endParaRPr lang="en-IN" sz="3400" kern="1200"/>
        </a:p>
      </dsp:txBody>
      <dsp:txXfrm>
        <a:off x="89586" y="1295915"/>
        <a:ext cx="2955458" cy="1463907"/>
      </dsp:txXfrm>
    </dsp:sp>
    <dsp:sp modelId="{E461D87A-79AA-402A-ABF4-BD3749DB3582}">
      <dsp:nvSpPr>
        <dsp:cNvPr id="0" name=""/>
        <dsp:cNvSpPr/>
      </dsp:nvSpPr>
      <dsp:spPr>
        <a:xfrm>
          <a:off x="3280120" y="1216721"/>
          <a:ext cx="3113846" cy="1622295"/>
        </a:xfrm>
        <a:prstGeom prst="roundRect">
          <a:avLst/>
        </a:prstGeom>
        <a:solidFill>
          <a:srgbClr val="9954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IN" sz="3400" b="1" kern="1200" dirty="0"/>
            <a:t>On the Basis of Technology</a:t>
          </a:r>
          <a:endParaRPr lang="en-IN" sz="3400" kern="1200" dirty="0"/>
        </a:p>
      </dsp:txBody>
      <dsp:txXfrm>
        <a:off x="3359314" y="1295915"/>
        <a:ext cx="2955458" cy="1463907"/>
      </dsp:txXfrm>
    </dsp:sp>
    <dsp:sp modelId="{BA5C802E-C78D-40F7-9F70-85DA3AEBEEDE}">
      <dsp:nvSpPr>
        <dsp:cNvPr id="0" name=""/>
        <dsp:cNvSpPr/>
      </dsp:nvSpPr>
      <dsp:spPr>
        <a:xfrm>
          <a:off x="6549848" y="1216721"/>
          <a:ext cx="3113846" cy="1622295"/>
        </a:xfrm>
        <a:prstGeom prst="round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en-IN" sz="3400" b="1" kern="1200"/>
            <a:t>On the Basis of Motivation</a:t>
          </a:r>
          <a:endParaRPr lang="en-IN" sz="3400" kern="1200"/>
        </a:p>
      </dsp:txBody>
      <dsp:txXfrm>
        <a:off x="6629042" y="1295915"/>
        <a:ext cx="2955458" cy="14639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CFD13D-2C86-4A5D-A5E0-2EAD1A723195}">
      <dsp:nvSpPr>
        <dsp:cNvPr id="0" name=""/>
        <dsp:cNvSpPr/>
      </dsp:nvSpPr>
      <dsp:spPr>
        <a:xfrm>
          <a:off x="0" y="1423"/>
          <a:ext cx="11624055"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en-IN" sz="2800" b="1" kern="1200" dirty="0"/>
            <a:t>On the Basis of Business Type</a:t>
          </a:r>
          <a:endParaRPr lang="en-IN" sz="2800" kern="1200" dirty="0"/>
        </a:p>
      </dsp:txBody>
      <dsp:txXfrm>
        <a:off x="24734" y="26157"/>
        <a:ext cx="11574587" cy="457209"/>
      </dsp:txXfrm>
    </dsp:sp>
    <dsp:sp modelId="{1AE472A8-200A-4BC4-9A0F-67973D9C01EC}">
      <dsp:nvSpPr>
        <dsp:cNvPr id="0" name=""/>
        <dsp:cNvSpPr/>
      </dsp:nvSpPr>
      <dsp:spPr>
        <a:xfrm>
          <a:off x="0" y="533434"/>
          <a:ext cx="11624055"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a:t>Business Entrepreneur</a:t>
          </a:r>
          <a:endParaRPr lang="en-IN" sz="2000" kern="1200"/>
        </a:p>
      </dsp:txBody>
      <dsp:txXfrm>
        <a:off x="24734" y="558168"/>
        <a:ext cx="11574587" cy="457209"/>
      </dsp:txXfrm>
    </dsp:sp>
    <dsp:sp modelId="{C4FF4BA7-CCAC-407C-976D-BBEC65550612}">
      <dsp:nvSpPr>
        <dsp:cNvPr id="0" name=""/>
        <dsp:cNvSpPr/>
      </dsp:nvSpPr>
      <dsp:spPr>
        <a:xfrm rot="5400000">
          <a:off x="7709407" y="-2404547"/>
          <a:ext cx="405341" cy="7446661"/>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b="1" kern="1200"/>
            <a:t>Example:</a:t>
          </a:r>
          <a:r>
            <a:rPr lang="en-IN" sz="1600" kern="1200"/>
            <a:t> Mark Zuckerberg, the co-founder of Facebook</a:t>
          </a:r>
        </a:p>
      </dsp:txBody>
      <dsp:txXfrm rot="-5400000">
        <a:off x="4188748" y="1135899"/>
        <a:ext cx="7426874" cy="365767"/>
      </dsp:txXfrm>
    </dsp:sp>
    <dsp:sp modelId="{5FD1AE8D-06DA-4369-A29D-6C0147F35FB8}">
      <dsp:nvSpPr>
        <dsp:cNvPr id="0" name=""/>
        <dsp:cNvSpPr/>
      </dsp:nvSpPr>
      <dsp:spPr>
        <a:xfrm>
          <a:off x="0" y="1065445"/>
          <a:ext cx="4188747"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en-IN" sz="1600" kern="1200" dirty="0"/>
            <a:t>Business entrepreneurs start and manage businesses in various sectors. </a:t>
          </a:r>
        </a:p>
      </dsp:txBody>
      <dsp:txXfrm>
        <a:off x="24734" y="1090179"/>
        <a:ext cx="4139279" cy="457209"/>
      </dsp:txXfrm>
    </dsp:sp>
    <dsp:sp modelId="{DD5C0A6E-B731-4D4D-AB41-B6D74E0B18A9}">
      <dsp:nvSpPr>
        <dsp:cNvPr id="0" name=""/>
        <dsp:cNvSpPr/>
      </dsp:nvSpPr>
      <dsp:spPr>
        <a:xfrm>
          <a:off x="0" y="1597456"/>
          <a:ext cx="11624055"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a:t>Trading Entrepreneur</a:t>
          </a:r>
          <a:endParaRPr lang="en-IN" sz="2000" kern="1200"/>
        </a:p>
      </dsp:txBody>
      <dsp:txXfrm>
        <a:off x="24734" y="1622190"/>
        <a:ext cx="11574587" cy="457209"/>
      </dsp:txXfrm>
    </dsp:sp>
    <dsp:sp modelId="{63AB52B8-64E2-4EF4-BFFC-C4FF41B5C71D}">
      <dsp:nvSpPr>
        <dsp:cNvPr id="0" name=""/>
        <dsp:cNvSpPr/>
      </dsp:nvSpPr>
      <dsp:spPr>
        <a:xfrm rot="5400000">
          <a:off x="7709407" y="-1340525"/>
          <a:ext cx="405341" cy="7446661"/>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b="1" kern="1200"/>
            <a:t>Example: </a:t>
          </a:r>
          <a:r>
            <a:rPr lang="en-IN" sz="1600" kern="1200"/>
            <a:t>Jeff Bezos, the founder of Amazon</a:t>
          </a:r>
        </a:p>
      </dsp:txBody>
      <dsp:txXfrm rot="-5400000">
        <a:off x="4188748" y="2199921"/>
        <a:ext cx="7426874" cy="365767"/>
      </dsp:txXfrm>
    </dsp:sp>
    <dsp:sp modelId="{F3A6389E-9F11-46C8-8548-54D1B3A92F83}">
      <dsp:nvSpPr>
        <dsp:cNvPr id="0" name=""/>
        <dsp:cNvSpPr/>
      </dsp:nvSpPr>
      <dsp:spPr>
        <a:xfrm>
          <a:off x="0" y="2129467"/>
          <a:ext cx="4188747"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en-IN" sz="1800" kern="1200" dirty="0"/>
            <a:t>Trading entrepreneurs are involved in buying and selling goods or services. </a:t>
          </a:r>
        </a:p>
      </dsp:txBody>
      <dsp:txXfrm>
        <a:off x="24734" y="2154201"/>
        <a:ext cx="4139279" cy="457209"/>
      </dsp:txXfrm>
    </dsp:sp>
    <dsp:sp modelId="{75491EDA-8D8A-4442-9834-63477D431319}">
      <dsp:nvSpPr>
        <dsp:cNvPr id="0" name=""/>
        <dsp:cNvSpPr/>
      </dsp:nvSpPr>
      <dsp:spPr>
        <a:xfrm>
          <a:off x="0" y="2661477"/>
          <a:ext cx="11624055"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a:t>Industrial Entrepreneur</a:t>
          </a:r>
          <a:endParaRPr lang="en-IN" sz="2000" kern="1200"/>
        </a:p>
      </dsp:txBody>
      <dsp:txXfrm>
        <a:off x="24734" y="2686211"/>
        <a:ext cx="11574587" cy="457209"/>
      </dsp:txXfrm>
    </dsp:sp>
    <dsp:sp modelId="{D38EEAB4-2A0F-4EC4-8104-597DBB6AEF2B}">
      <dsp:nvSpPr>
        <dsp:cNvPr id="0" name=""/>
        <dsp:cNvSpPr/>
      </dsp:nvSpPr>
      <dsp:spPr>
        <a:xfrm rot="5400000">
          <a:off x="7709407" y="-276503"/>
          <a:ext cx="405341" cy="7446661"/>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b="1" kern="1200" dirty="0"/>
            <a:t>Example:</a:t>
          </a:r>
          <a:r>
            <a:rPr lang="en-IN" sz="1600" kern="1200" dirty="0"/>
            <a:t> Elon Musk, the CEO of Tesla and SpaceX, </a:t>
          </a:r>
        </a:p>
      </dsp:txBody>
      <dsp:txXfrm rot="-5400000">
        <a:off x="4188748" y="3263943"/>
        <a:ext cx="7426874" cy="365767"/>
      </dsp:txXfrm>
    </dsp:sp>
    <dsp:sp modelId="{AF4213FC-2CD5-4F90-8BF5-EF1C2F883FA0}">
      <dsp:nvSpPr>
        <dsp:cNvPr id="0" name=""/>
        <dsp:cNvSpPr/>
      </dsp:nvSpPr>
      <dsp:spPr>
        <a:xfrm>
          <a:off x="0" y="3193488"/>
          <a:ext cx="4188747"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en-IN" sz="1800" kern="1200" dirty="0"/>
            <a:t>Industrial entrepreneurs are involved in manufacturing and industrial sectors. </a:t>
          </a:r>
        </a:p>
      </dsp:txBody>
      <dsp:txXfrm>
        <a:off x="24734" y="3218222"/>
        <a:ext cx="4139279" cy="457209"/>
      </dsp:txXfrm>
    </dsp:sp>
    <dsp:sp modelId="{6EC8894E-E950-4EC1-920A-0874D1DED27A}">
      <dsp:nvSpPr>
        <dsp:cNvPr id="0" name=""/>
        <dsp:cNvSpPr/>
      </dsp:nvSpPr>
      <dsp:spPr>
        <a:xfrm>
          <a:off x="0" y="3725499"/>
          <a:ext cx="11624055"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dirty="0"/>
            <a:t>Corporate Entrepreneur</a:t>
          </a:r>
          <a:endParaRPr lang="en-IN" sz="2000" kern="1200" dirty="0"/>
        </a:p>
      </dsp:txBody>
      <dsp:txXfrm>
        <a:off x="24734" y="3750233"/>
        <a:ext cx="11574587" cy="457209"/>
      </dsp:txXfrm>
    </dsp:sp>
    <dsp:sp modelId="{1A6C1CD5-21BC-4056-B01C-CC0B8B05B1CD}">
      <dsp:nvSpPr>
        <dsp:cNvPr id="0" name=""/>
        <dsp:cNvSpPr/>
      </dsp:nvSpPr>
      <dsp:spPr>
        <a:xfrm rot="5400000">
          <a:off x="7709407" y="787518"/>
          <a:ext cx="405341" cy="7446661"/>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b="1" kern="1200"/>
            <a:t>Example:</a:t>
          </a:r>
          <a:r>
            <a:rPr lang="en-IN" sz="1600" kern="1200"/>
            <a:t> Google’s “20% time” policy allows employees to work on personal projects</a:t>
          </a:r>
        </a:p>
      </dsp:txBody>
      <dsp:txXfrm rot="-5400000">
        <a:off x="4188748" y="4327965"/>
        <a:ext cx="7426874" cy="365767"/>
      </dsp:txXfrm>
    </dsp:sp>
    <dsp:sp modelId="{E8A61E0D-609A-4442-A813-2E191776AFE3}">
      <dsp:nvSpPr>
        <dsp:cNvPr id="0" name=""/>
        <dsp:cNvSpPr/>
      </dsp:nvSpPr>
      <dsp:spPr>
        <a:xfrm>
          <a:off x="0" y="4257510"/>
          <a:ext cx="4188747"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en-IN" sz="1400" kern="1200" dirty="0"/>
            <a:t>Corporate or intrapreneurs exhibit entrepreneurial characteristics within existing organizations.</a:t>
          </a:r>
        </a:p>
      </dsp:txBody>
      <dsp:txXfrm>
        <a:off x="24734" y="4282244"/>
        <a:ext cx="4139279" cy="457209"/>
      </dsp:txXfrm>
    </dsp:sp>
    <dsp:sp modelId="{380332F9-DFEB-445F-BD18-78D347B88894}">
      <dsp:nvSpPr>
        <dsp:cNvPr id="0" name=""/>
        <dsp:cNvSpPr/>
      </dsp:nvSpPr>
      <dsp:spPr>
        <a:xfrm>
          <a:off x="0" y="4789521"/>
          <a:ext cx="11624055"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a:t>Agricultural Entrepreneur</a:t>
          </a:r>
          <a:endParaRPr lang="en-IN" sz="2000" kern="1200"/>
        </a:p>
      </dsp:txBody>
      <dsp:txXfrm>
        <a:off x="24734" y="4814255"/>
        <a:ext cx="11574587" cy="457209"/>
      </dsp:txXfrm>
    </dsp:sp>
    <dsp:sp modelId="{6A214EA9-405C-466A-8937-CC432AE414DF}">
      <dsp:nvSpPr>
        <dsp:cNvPr id="0" name=""/>
        <dsp:cNvSpPr/>
      </dsp:nvSpPr>
      <dsp:spPr>
        <a:xfrm rot="5400000">
          <a:off x="7709407" y="1851540"/>
          <a:ext cx="405341" cy="7446661"/>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b="1" kern="1200" dirty="0"/>
            <a:t>Example:</a:t>
          </a:r>
          <a:r>
            <a:rPr lang="en-IN" sz="1600" kern="1200" dirty="0"/>
            <a:t> Joel </a:t>
          </a:r>
          <a:r>
            <a:rPr lang="en-IN" sz="1600" kern="1200" dirty="0" err="1"/>
            <a:t>Salatin</a:t>
          </a:r>
          <a:r>
            <a:rPr lang="en-IN" sz="1600" kern="1200" dirty="0"/>
            <a:t>, a sustainable farmer and advocate for regenerative agriculture</a:t>
          </a:r>
        </a:p>
      </dsp:txBody>
      <dsp:txXfrm rot="-5400000">
        <a:off x="4188748" y="5391987"/>
        <a:ext cx="7426874" cy="365767"/>
      </dsp:txXfrm>
    </dsp:sp>
    <dsp:sp modelId="{034E6FD5-C1F3-45EC-BAB3-625E66548B29}">
      <dsp:nvSpPr>
        <dsp:cNvPr id="0" name=""/>
        <dsp:cNvSpPr/>
      </dsp:nvSpPr>
      <dsp:spPr>
        <a:xfrm>
          <a:off x="0" y="5321532"/>
          <a:ext cx="4188747" cy="50667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22860" rIns="45720" bIns="22860" numCol="1" spcCol="1270" anchor="ctr" anchorCtr="0">
          <a:noAutofit/>
        </a:bodyPr>
        <a:lstStyle/>
        <a:p>
          <a:pPr lvl="0" algn="ctr" defTabSz="533400">
            <a:lnSpc>
              <a:spcPct val="90000"/>
            </a:lnSpc>
            <a:spcBef>
              <a:spcPct val="0"/>
            </a:spcBef>
            <a:spcAft>
              <a:spcPct val="35000"/>
            </a:spcAft>
          </a:pPr>
          <a:r>
            <a:rPr lang="en-IN" sz="1200" kern="1200" dirty="0"/>
            <a:t>Agricultural entrepreneurs are involved in agricultural activities, including farming, livestock production, and agribusiness</a:t>
          </a:r>
        </a:p>
      </dsp:txBody>
      <dsp:txXfrm>
        <a:off x="24734" y="5346266"/>
        <a:ext cx="4139279" cy="4572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48FF9-4DF1-4961-AEA4-E2C7FDE68A49}">
      <dsp:nvSpPr>
        <dsp:cNvPr id="0" name=""/>
        <dsp:cNvSpPr/>
      </dsp:nvSpPr>
      <dsp:spPr>
        <a:xfrm>
          <a:off x="0" y="0"/>
          <a:ext cx="10568072" cy="957391"/>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dirty="0"/>
            <a:t>On the Basis of Technology</a:t>
          </a:r>
          <a:endParaRPr lang="en-IN" sz="2000" kern="1200" dirty="0"/>
        </a:p>
      </dsp:txBody>
      <dsp:txXfrm>
        <a:off x="46736" y="46736"/>
        <a:ext cx="10474600" cy="863919"/>
      </dsp:txXfrm>
    </dsp:sp>
    <dsp:sp modelId="{D9D6B7F5-3966-4096-BAB2-3D0FB1EBCCBC}">
      <dsp:nvSpPr>
        <dsp:cNvPr id="0" name=""/>
        <dsp:cNvSpPr/>
      </dsp:nvSpPr>
      <dsp:spPr>
        <a:xfrm>
          <a:off x="0" y="1007451"/>
          <a:ext cx="10568072" cy="957391"/>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a:t>Technical Entrepreneurs</a:t>
          </a:r>
          <a:endParaRPr lang="en-IN" sz="2000" kern="1200"/>
        </a:p>
      </dsp:txBody>
      <dsp:txXfrm>
        <a:off x="46736" y="1054187"/>
        <a:ext cx="10474600" cy="863919"/>
      </dsp:txXfrm>
    </dsp:sp>
    <dsp:sp modelId="{186DD626-920B-4AC2-A9BB-5EEEF0DB7418}">
      <dsp:nvSpPr>
        <dsp:cNvPr id="0" name=""/>
        <dsp:cNvSpPr/>
      </dsp:nvSpPr>
      <dsp:spPr>
        <a:xfrm rot="5400000">
          <a:off x="6810351" y="-893677"/>
          <a:ext cx="765913" cy="6770172"/>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b="1" kern="1200"/>
            <a:t>Example:</a:t>
          </a:r>
          <a:r>
            <a:rPr lang="en-IN" sz="1600" kern="1200"/>
            <a:t> Bill Gates, the co-founder of Microsoft</a:t>
          </a:r>
        </a:p>
      </dsp:txBody>
      <dsp:txXfrm rot="-5400000">
        <a:off x="3808222" y="2145841"/>
        <a:ext cx="6732783" cy="691135"/>
      </dsp:txXfrm>
    </dsp:sp>
    <dsp:sp modelId="{65135D87-CBCF-403B-897F-3B41C4A40B34}">
      <dsp:nvSpPr>
        <dsp:cNvPr id="0" name=""/>
        <dsp:cNvSpPr/>
      </dsp:nvSpPr>
      <dsp:spPr>
        <a:xfrm>
          <a:off x="0" y="2012712"/>
          <a:ext cx="3808222" cy="957391"/>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r>
            <a:rPr lang="en-IN" sz="1600" kern="1200" dirty="0"/>
            <a:t>Technical entrepreneurs possess specialized technical knowledge or skills in a specific field or industry.</a:t>
          </a:r>
        </a:p>
      </dsp:txBody>
      <dsp:txXfrm>
        <a:off x="46736" y="2059448"/>
        <a:ext cx="3714750" cy="863919"/>
      </dsp:txXfrm>
    </dsp:sp>
    <dsp:sp modelId="{2828A7DE-CFE9-4FAC-B8B6-1FD6BA208826}">
      <dsp:nvSpPr>
        <dsp:cNvPr id="0" name=""/>
        <dsp:cNvSpPr/>
      </dsp:nvSpPr>
      <dsp:spPr>
        <a:xfrm>
          <a:off x="0" y="3017974"/>
          <a:ext cx="10568072" cy="957391"/>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dirty="0"/>
            <a:t>Non-Technical Entrepreneur</a:t>
          </a:r>
          <a:endParaRPr lang="en-IN" sz="2000" kern="1200" dirty="0"/>
        </a:p>
      </dsp:txBody>
      <dsp:txXfrm>
        <a:off x="46736" y="3064710"/>
        <a:ext cx="10474600" cy="863919"/>
      </dsp:txXfrm>
    </dsp:sp>
    <dsp:sp modelId="{4071512C-F64E-47AB-93B0-8521DC110155}">
      <dsp:nvSpPr>
        <dsp:cNvPr id="0" name=""/>
        <dsp:cNvSpPr/>
      </dsp:nvSpPr>
      <dsp:spPr>
        <a:xfrm rot="5400000">
          <a:off x="6810351" y="1116844"/>
          <a:ext cx="765913" cy="6770172"/>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IN" sz="1600" b="1" kern="1200"/>
            <a:t>Example: </a:t>
          </a:r>
          <a:r>
            <a:rPr lang="en-IN" sz="1600" kern="1200"/>
            <a:t>Oprah Winfrey is a non-technical entrepreneur who built a media 		empire. While she did not have a technical background.</a:t>
          </a:r>
        </a:p>
      </dsp:txBody>
      <dsp:txXfrm rot="-5400000">
        <a:off x="3808222" y="4156363"/>
        <a:ext cx="6732783" cy="691135"/>
      </dsp:txXfrm>
    </dsp:sp>
    <dsp:sp modelId="{1402B977-88F7-4701-B7EF-6B5B63E177A7}">
      <dsp:nvSpPr>
        <dsp:cNvPr id="0" name=""/>
        <dsp:cNvSpPr/>
      </dsp:nvSpPr>
      <dsp:spPr>
        <a:xfrm>
          <a:off x="0" y="4023235"/>
          <a:ext cx="3808222" cy="957391"/>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en-IN" sz="1400" kern="1200" dirty="0"/>
            <a:t>Non-technical entrepreneurs may not possess specialized technical knowledge but excel 	in other areas such as business management, marketing, finance, or leadership. </a:t>
          </a:r>
        </a:p>
      </dsp:txBody>
      <dsp:txXfrm>
        <a:off x="46736" y="4069971"/>
        <a:ext cx="3714750" cy="8639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54BDFA-920D-41CB-873E-745656DDBD3D}">
      <dsp:nvSpPr>
        <dsp:cNvPr id="0" name=""/>
        <dsp:cNvSpPr/>
      </dsp:nvSpPr>
      <dsp:spPr>
        <a:xfrm>
          <a:off x="0" y="1673"/>
          <a:ext cx="11915319" cy="63361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IN" sz="2400" b="1" kern="1200"/>
            <a:t>On the Basis of Motivation</a:t>
          </a:r>
          <a:endParaRPr lang="en-IN" sz="2400" kern="1200"/>
        </a:p>
      </dsp:txBody>
      <dsp:txXfrm>
        <a:off x="30930" y="32603"/>
        <a:ext cx="11853459" cy="571754"/>
      </dsp:txXfrm>
    </dsp:sp>
    <dsp:sp modelId="{B6FA5225-BF7A-4935-BE65-54BFE7AF830D}">
      <dsp:nvSpPr>
        <dsp:cNvPr id="0" name=""/>
        <dsp:cNvSpPr/>
      </dsp:nvSpPr>
      <dsp:spPr>
        <a:xfrm>
          <a:off x="0" y="666968"/>
          <a:ext cx="11915319" cy="63361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a:t>Social Entrepreneur</a:t>
          </a:r>
          <a:endParaRPr lang="en-IN" sz="2000" kern="1200"/>
        </a:p>
      </dsp:txBody>
      <dsp:txXfrm>
        <a:off x="30930" y="697898"/>
        <a:ext cx="11853459" cy="571754"/>
      </dsp:txXfrm>
    </dsp:sp>
    <dsp:sp modelId="{AB9BF51B-DCED-4E4C-86AA-C9C6F00FFADC}">
      <dsp:nvSpPr>
        <dsp:cNvPr id="0" name=""/>
        <dsp:cNvSpPr/>
      </dsp:nvSpPr>
      <dsp:spPr>
        <a:xfrm rot="5400000">
          <a:off x="7856885" y="-2167556"/>
          <a:ext cx="506891" cy="7633252"/>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IN" sz="1300" kern="1200" dirty="0"/>
            <a:t>Example: </a:t>
          </a:r>
          <a:r>
            <a:rPr lang="en-IN" sz="1300" kern="1200" dirty="0" err="1"/>
            <a:t>Anshu</a:t>
          </a:r>
          <a:r>
            <a:rPr lang="en-IN" sz="1300" kern="1200" dirty="0"/>
            <a:t> Gupta, founder of Goonj in India, exemplifies social entrepreneurship by repurposing 	urban surplus for rural needs, addressing clothing scarcity and boosting dignity among  the underprivileged.</a:t>
          </a:r>
        </a:p>
      </dsp:txBody>
      <dsp:txXfrm rot="-5400000">
        <a:off x="4293705" y="1420368"/>
        <a:ext cx="7608508" cy="457403"/>
      </dsp:txXfrm>
    </dsp:sp>
    <dsp:sp modelId="{0A8522E8-A931-4EEF-A4AA-0C867F15B88E}">
      <dsp:nvSpPr>
        <dsp:cNvPr id="0" name=""/>
        <dsp:cNvSpPr/>
      </dsp:nvSpPr>
      <dsp:spPr>
        <a:xfrm>
          <a:off x="0" y="1332263"/>
          <a:ext cx="4293704" cy="63361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IN" sz="1000" kern="1200"/>
            <a:t>A social entrepreneur is someone who starts a business to solve social problems. Instead of just making a profit, they focus on making a positive impact on society.</a:t>
          </a:r>
        </a:p>
      </dsp:txBody>
      <dsp:txXfrm>
        <a:off x="30930" y="1363193"/>
        <a:ext cx="4231844" cy="571754"/>
      </dsp:txXfrm>
    </dsp:sp>
    <dsp:sp modelId="{3BAA12B4-D329-4674-9BDA-2EE3DCD46546}">
      <dsp:nvSpPr>
        <dsp:cNvPr id="0" name=""/>
        <dsp:cNvSpPr/>
      </dsp:nvSpPr>
      <dsp:spPr>
        <a:xfrm>
          <a:off x="0" y="1997557"/>
          <a:ext cx="11915319" cy="63361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dirty="0"/>
            <a:t>Spontaneous Entrepreneur</a:t>
          </a:r>
          <a:endParaRPr lang="en-IN" sz="2000" kern="1200" dirty="0"/>
        </a:p>
      </dsp:txBody>
      <dsp:txXfrm>
        <a:off x="30930" y="2028487"/>
        <a:ext cx="11853459" cy="571754"/>
      </dsp:txXfrm>
    </dsp:sp>
    <dsp:sp modelId="{CA302A3D-ABB5-47AB-AEE1-DBD8660D9383}">
      <dsp:nvSpPr>
        <dsp:cNvPr id="0" name=""/>
        <dsp:cNvSpPr/>
      </dsp:nvSpPr>
      <dsp:spPr>
        <a:xfrm rot="5400000">
          <a:off x="7856885" y="-836966"/>
          <a:ext cx="506891" cy="7633252"/>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IN" sz="1300" b="1" kern="1200" dirty="0"/>
            <a:t>Example:</a:t>
          </a:r>
          <a:r>
            <a:rPr lang="en-IN" sz="1300" kern="1200" dirty="0"/>
            <a:t> Mark Zuckerberg, the co-founder of Facebook, can be considered a spontaneous  entrepreneur. </a:t>
          </a:r>
        </a:p>
      </dsp:txBody>
      <dsp:txXfrm rot="-5400000">
        <a:off x="4293705" y="2750958"/>
        <a:ext cx="7608508" cy="457403"/>
      </dsp:txXfrm>
    </dsp:sp>
    <dsp:sp modelId="{1617CB1A-FB6D-4170-8841-04B72270BC4F}">
      <dsp:nvSpPr>
        <dsp:cNvPr id="0" name=""/>
        <dsp:cNvSpPr/>
      </dsp:nvSpPr>
      <dsp:spPr>
        <a:xfrm>
          <a:off x="0" y="2662852"/>
          <a:ext cx="4293704" cy="63361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IN" sz="1000" kern="1200"/>
            <a:t>A spontaneous entrepreneur is an individual who starts a business or engages in entrepreneurial activities based on initiative and personal motivation rather than being prompted or influenced by external factors.</a:t>
          </a:r>
        </a:p>
      </dsp:txBody>
      <dsp:txXfrm>
        <a:off x="30930" y="2693782"/>
        <a:ext cx="4231844" cy="571754"/>
      </dsp:txXfrm>
    </dsp:sp>
    <dsp:sp modelId="{5AA6DDF6-94E1-4A5F-AA22-FDB8F3F7EC2A}">
      <dsp:nvSpPr>
        <dsp:cNvPr id="0" name=""/>
        <dsp:cNvSpPr/>
      </dsp:nvSpPr>
      <dsp:spPr>
        <a:xfrm>
          <a:off x="0" y="3328147"/>
          <a:ext cx="11915319" cy="63361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dirty="0"/>
            <a:t>Induced Entrepreneur</a:t>
          </a:r>
          <a:endParaRPr lang="en-IN" sz="2000" kern="1200" dirty="0"/>
        </a:p>
      </dsp:txBody>
      <dsp:txXfrm>
        <a:off x="30930" y="3359077"/>
        <a:ext cx="11853459" cy="571754"/>
      </dsp:txXfrm>
    </dsp:sp>
    <dsp:sp modelId="{CB68B347-EAA9-42A0-A070-B8B280403D58}">
      <dsp:nvSpPr>
        <dsp:cNvPr id="0" name=""/>
        <dsp:cNvSpPr/>
      </dsp:nvSpPr>
      <dsp:spPr>
        <a:xfrm rot="5400000">
          <a:off x="7856885" y="493623"/>
          <a:ext cx="506891" cy="7633252"/>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IN" sz="1300" b="1" kern="1200"/>
            <a:t>Example:</a:t>
          </a:r>
          <a:r>
            <a:rPr lang="en-IN" sz="1300" kern="1200"/>
            <a:t> In response to government initiatives and incentives promoting renewable energy,</a:t>
          </a:r>
        </a:p>
      </dsp:txBody>
      <dsp:txXfrm rot="-5400000">
        <a:off x="4293705" y="4081547"/>
        <a:ext cx="7608508" cy="457403"/>
      </dsp:txXfrm>
    </dsp:sp>
    <dsp:sp modelId="{F4A87B2C-332D-4EFE-8E3B-F5977C3CE659}">
      <dsp:nvSpPr>
        <dsp:cNvPr id="0" name=""/>
        <dsp:cNvSpPr/>
      </dsp:nvSpPr>
      <dsp:spPr>
        <a:xfrm>
          <a:off x="0" y="3993442"/>
          <a:ext cx="4293704" cy="63361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IN" sz="1000" kern="1200"/>
            <a:t>An induced entrepreneur enters entrepreneurial activities due to external factors or influences.</a:t>
          </a:r>
        </a:p>
      </dsp:txBody>
      <dsp:txXfrm>
        <a:off x="30930" y="4024372"/>
        <a:ext cx="4231844" cy="571754"/>
      </dsp:txXfrm>
    </dsp:sp>
    <dsp:sp modelId="{5DCD533F-AE31-49AC-8C5B-E7A4C48C77B1}">
      <dsp:nvSpPr>
        <dsp:cNvPr id="0" name=""/>
        <dsp:cNvSpPr/>
      </dsp:nvSpPr>
      <dsp:spPr>
        <a:xfrm>
          <a:off x="0" y="4658737"/>
          <a:ext cx="11915319" cy="63361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IN" sz="2000" b="1" kern="1200"/>
            <a:t>Motivated Entrepreneur</a:t>
          </a:r>
          <a:endParaRPr lang="en-IN" sz="2000" kern="1200"/>
        </a:p>
      </dsp:txBody>
      <dsp:txXfrm>
        <a:off x="30930" y="4689667"/>
        <a:ext cx="11853459" cy="571754"/>
      </dsp:txXfrm>
    </dsp:sp>
    <dsp:sp modelId="{01E0FC38-969C-4D28-ABCA-AF1229DEC737}">
      <dsp:nvSpPr>
        <dsp:cNvPr id="0" name=""/>
        <dsp:cNvSpPr/>
      </dsp:nvSpPr>
      <dsp:spPr>
        <a:xfrm rot="5400000">
          <a:off x="7856885" y="1824213"/>
          <a:ext cx="506891" cy="7633252"/>
        </a:xfrm>
        <a:prstGeom prst="round2Same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IN" sz="1300" b="1" kern="1200"/>
            <a:t>Example: </a:t>
          </a:r>
          <a:r>
            <a:rPr lang="en-IN" sz="1300" kern="1200"/>
            <a:t>Anita Roddick, the founder of The Body Shop, was a motivated entrepreneur driven by her 	strong commitment to ethical and sustainable business practices.</a:t>
          </a:r>
        </a:p>
      </dsp:txBody>
      <dsp:txXfrm rot="-5400000">
        <a:off x="4293705" y="5412137"/>
        <a:ext cx="7608508" cy="457403"/>
      </dsp:txXfrm>
    </dsp:sp>
    <dsp:sp modelId="{887CD319-A994-4F94-A48A-6C387A77E9AB}">
      <dsp:nvSpPr>
        <dsp:cNvPr id="0" name=""/>
        <dsp:cNvSpPr/>
      </dsp:nvSpPr>
      <dsp:spPr>
        <a:xfrm>
          <a:off x="0" y="5324032"/>
          <a:ext cx="4293704" cy="63361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lvl="0" algn="ctr" defTabSz="444500">
            <a:lnSpc>
              <a:spcPct val="90000"/>
            </a:lnSpc>
            <a:spcBef>
              <a:spcPct val="0"/>
            </a:spcBef>
            <a:spcAft>
              <a:spcPct val="35000"/>
            </a:spcAft>
          </a:pPr>
          <a:r>
            <a:rPr lang="en-IN" sz="1000" kern="1200"/>
            <a:t>A motivated entrepreneur is an individual who is driven by a specific motive or purpose to start and run a business. </a:t>
          </a:r>
        </a:p>
      </dsp:txBody>
      <dsp:txXfrm>
        <a:off x="30930" y="5354962"/>
        <a:ext cx="4231844" cy="571754"/>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C6B81-ACA4-4A2E-9183-CA21F02687BD}" type="datetimeFigureOut">
              <a:rPr lang="en-IN" smtClean="0"/>
              <a:t>17-07-2025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4A081-ABD4-4348-A731-BD01337F16F1}" type="slidenum">
              <a:rPr lang="en-IN" smtClean="0"/>
              <a:t>‹#›</a:t>
            </a:fld>
            <a:endParaRPr lang="en-IN"/>
          </a:p>
        </p:txBody>
      </p:sp>
    </p:spTree>
    <p:extLst>
      <p:ext uri="{BB962C8B-B14F-4D97-AF65-F5344CB8AC3E}">
        <p14:creationId xmlns:p14="http://schemas.microsoft.com/office/powerpoint/2010/main" val="3205681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E5452-C9E5-412B-8A4C-B4C9405631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CC6B9A5-FEAD-4547-B2E9-F9164A6C29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F7053D-AB0A-401B-89A7-FB5707C06897}"/>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5" name="Footer Placeholder 4">
            <a:extLst>
              <a:ext uri="{FF2B5EF4-FFF2-40B4-BE49-F238E27FC236}">
                <a16:creationId xmlns:a16="http://schemas.microsoft.com/office/drawing/2014/main" id="{C6353B54-D5A2-4EA1-96ED-58FD068F46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8323FF-86CE-430E-ACD4-9B171D404A53}"/>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1767982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0D27A-B378-43D8-8E96-7611A3713A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6CA608-16FB-472C-B107-E6BE9A0E619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BAE2DE-8F1F-43F1-B3BF-5AE926F040F1}"/>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5" name="Footer Placeholder 4">
            <a:extLst>
              <a:ext uri="{FF2B5EF4-FFF2-40B4-BE49-F238E27FC236}">
                <a16:creationId xmlns:a16="http://schemas.microsoft.com/office/drawing/2014/main" id="{BA6DE04F-701E-40EB-B58E-0878F27CC7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55BC86-99EC-4C59-B531-96AF53B74121}"/>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1616580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1F90E-E678-4E04-BCE7-9B1257791D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9F69ED-8DCF-41EA-B32C-0734A7B590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E94C8B6-A7BE-4B81-BDC2-F2C8D2EB7D9D}"/>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5" name="Footer Placeholder 4">
            <a:extLst>
              <a:ext uri="{FF2B5EF4-FFF2-40B4-BE49-F238E27FC236}">
                <a16:creationId xmlns:a16="http://schemas.microsoft.com/office/drawing/2014/main" id="{BBF0F8A7-3550-4D35-8B7B-5237F2108A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E6D77E-0C2C-437B-8EB3-D5AB5A11BAED}"/>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4147889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ED98C-59AC-4AD5-A023-FE0E12B481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1E688E-3086-4E93-8062-DCB0BBB53D3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A81875-1449-4AD7-9410-4893C8303E8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E6BF881-CC9F-458D-8475-38CEEA533E55}"/>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6" name="Footer Placeholder 5">
            <a:extLst>
              <a:ext uri="{FF2B5EF4-FFF2-40B4-BE49-F238E27FC236}">
                <a16:creationId xmlns:a16="http://schemas.microsoft.com/office/drawing/2014/main" id="{E3B5FA83-72BF-4BD2-988F-97F8B04E63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825C64-F092-4D09-9A73-49044108D069}"/>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1264507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C1034-2472-4CD1-B067-78D1D137A44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88C60C-329D-4600-83D5-4CCFB5E830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AF2C547-7797-43F7-8B75-18A57AF7395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25668E-3B98-413F-B2C9-B250F31825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403B1DD-CCAA-4292-A322-865951CAD20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AA5FB0-E452-444C-8D44-E721E25A7BB4}"/>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8" name="Footer Placeholder 7">
            <a:extLst>
              <a:ext uri="{FF2B5EF4-FFF2-40B4-BE49-F238E27FC236}">
                <a16:creationId xmlns:a16="http://schemas.microsoft.com/office/drawing/2014/main" id="{432832DC-D181-4946-BABC-2A80C842F4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306237-6602-4162-94A1-D480ED1246F3}"/>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321586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7234B-8529-4D5B-A31E-AFE08BCF2E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13B4D4-EAFA-4D55-9EA3-1F9EC2B688C7}"/>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4" name="Footer Placeholder 3">
            <a:extLst>
              <a:ext uri="{FF2B5EF4-FFF2-40B4-BE49-F238E27FC236}">
                <a16:creationId xmlns:a16="http://schemas.microsoft.com/office/drawing/2014/main" id="{494EDBFE-7BDD-4C4B-907D-B19104EBD0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7F1BA7B-28A9-4A31-817C-2016DE158203}"/>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777486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A24C49-D622-44B4-A7D6-667A7940E1DE}"/>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3" name="Footer Placeholder 2">
            <a:extLst>
              <a:ext uri="{FF2B5EF4-FFF2-40B4-BE49-F238E27FC236}">
                <a16:creationId xmlns:a16="http://schemas.microsoft.com/office/drawing/2014/main" id="{C68FC296-5E6A-4211-A66A-013D85B2458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9AB752-A5B6-4F83-99C3-C74DD977CA96}"/>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3210679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FDB12-9EFE-4581-B20C-79C7D4751A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F0A428-BDAE-4264-A0EE-2E24FB837E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26C930-ED2A-495E-9B9F-D45F5B0A3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BDC57B8-68FD-4E34-A966-427629614FC9}"/>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6" name="Footer Placeholder 5">
            <a:extLst>
              <a:ext uri="{FF2B5EF4-FFF2-40B4-BE49-F238E27FC236}">
                <a16:creationId xmlns:a16="http://schemas.microsoft.com/office/drawing/2014/main" id="{0EFBE568-AE07-44C0-ABD8-DDA73545FE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343F9C-C2F2-4D90-869C-3D9539170BAF}"/>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268005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EF404-B4F7-4946-9A77-0826FF32C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AEC0B3-AD0E-431F-868A-9F069D1B23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3143C3-352C-4AD7-98D5-7515D7664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E9C94CB-6714-406D-BDCB-FFDDB3B481D4}"/>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6" name="Footer Placeholder 5">
            <a:extLst>
              <a:ext uri="{FF2B5EF4-FFF2-40B4-BE49-F238E27FC236}">
                <a16:creationId xmlns:a16="http://schemas.microsoft.com/office/drawing/2014/main" id="{9158453D-9B75-4FC4-806B-6EF2376D6F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546E1E-0B3E-4738-89AD-E63C9BE4D780}"/>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1936669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52CB1-0555-42B6-B4CC-325B56B3F90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69AA79-CBF0-4993-8C8B-7E0D33AE9A0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72D02C-1C7A-497C-85D7-D46841BC69C1}"/>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5" name="Footer Placeholder 4">
            <a:extLst>
              <a:ext uri="{FF2B5EF4-FFF2-40B4-BE49-F238E27FC236}">
                <a16:creationId xmlns:a16="http://schemas.microsoft.com/office/drawing/2014/main" id="{9E85C5B1-72F5-44D7-ACC5-5CC0D41B68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B5F24E-4DCA-47FF-B4D9-3CB0B96ECA6F}"/>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1512072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6AD04D-DB46-462B-9405-EE45F3ACD2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B43579-6374-4898-AA31-A1E88CD1DD3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AF9B8B-10DE-4FB3-947D-3E875F0B0A2D}"/>
              </a:ext>
            </a:extLst>
          </p:cNvPr>
          <p:cNvSpPr>
            <a:spLocks noGrp="1"/>
          </p:cNvSpPr>
          <p:nvPr>
            <p:ph type="dt" sz="half" idx="10"/>
          </p:nvPr>
        </p:nvSpPr>
        <p:spPr/>
        <p:txBody>
          <a:bodyPr/>
          <a:lstStyle/>
          <a:p>
            <a:fld id="{7EC5543B-52BC-4F6B-92C1-55674BF37EF7}" type="datetimeFigureOut">
              <a:rPr lang="en-IN" smtClean="0"/>
              <a:t>17-07-2025</a:t>
            </a:fld>
            <a:endParaRPr lang="en-IN"/>
          </a:p>
        </p:txBody>
      </p:sp>
      <p:sp>
        <p:nvSpPr>
          <p:cNvPr id="5" name="Footer Placeholder 4">
            <a:extLst>
              <a:ext uri="{FF2B5EF4-FFF2-40B4-BE49-F238E27FC236}">
                <a16:creationId xmlns:a16="http://schemas.microsoft.com/office/drawing/2014/main" id="{87547D43-7A64-49DD-A84D-9ECA733AD5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BFDFBB-F813-4B1C-A22F-C4CD1E80DE0A}"/>
              </a:ext>
            </a:extLst>
          </p:cNvPr>
          <p:cNvSpPr>
            <a:spLocks noGrp="1"/>
          </p:cNvSpPr>
          <p:nvPr>
            <p:ph type="sldNum" sz="quarter" idx="12"/>
          </p:nvPr>
        </p:nvSpPr>
        <p:spPr/>
        <p:txBody>
          <a:bodyPr/>
          <a:lstStyle/>
          <a:p>
            <a:fld id="{BF368175-1C92-44A6-AA86-E5DBE7498704}" type="slidenum">
              <a:rPr lang="en-IN" smtClean="0"/>
              <a:t>‹#›</a:t>
            </a:fld>
            <a:endParaRPr lang="en-IN"/>
          </a:p>
        </p:txBody>
      </p:sp>
    </p:spTree>
    <p:extLst>
      <p:ext uri="{BB962C8B-B14F-4D97-AF65-F5344CB8AC3E}">
        <p14:creationId xmlns:p14="http://schemas.microsoft.com/office/powerpoint/2010/main" val="425671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0ABE31-FEEB-40E5-8396-CDDE29DD39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A48321-0B49-47F8-87C7-FA5CC91D93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BA7C68-F484-415C-9DD7-6CF2245614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C5543B-52BC-4F6B-92C1-55674BF37EF7}" type="datetimeFigureOut">
              <a:rPr lang="en-IN" smtClean="0"/>
              <a:t>17-07-2025</a:t>
            </a:fld>
            <a:endParaRPr lang="en-IN"/>
          </a:p>
        </p:txBody>
      </p:sp>
      <p:sp>
        <p:nvSpPr>
          <p:cNvPr id="5" name="Footer Placeholder 4">
            <a:extLst>
              <a:ext uri="{FF2B5EF4-FFF2-40B4-BE49-F238E27FC236}">
                <a16:creationId xmlns:a16="http://schemas.microsoft.com/office/drawing/2014/main" id="{9D87FE38-4AC5-4B69-B78C-84BA40AAED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7882D2-0467-479E-B49A-DC29A2988E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368175-1C92-44A6-AA86-E5DBE7498704}" type="slidenum">
              <a:rPr lang="en-IN" smtClean="0"/>
              <a:t>‹#›</a:t>
            </a:fld>
            <a:endParaRPr lang="en-IN"/>
          </a:p>
        </p:txBody>
      </p:sp>
    </p:spTree>
    <p:extLst>
      <p:ext uri="{BB962C8B-B14F-4D97-AF65-F5344CB8AC3E}">
        <p14:creationId xmlns:p14="http://schemas.microsoft.com/office/powerpoint/2010/main" val="22768404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36BB62-BCAF-4AEA-853F-993932387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4F6836BA-A41F-49D3-B047-5D81E367AF59}"/>
              </a:ext>
            </a:extLst>
          </p:cNvPr>
          <p:cNvSpPr txBox="1"/>
          <p:nvPr/>
        </p:nvSpPr>
        <p:spPr>
          <a:xfrm>
            <a:off x="8227970" y="6082512"/>
            <a:ext cx="3816626" cy="523220"/>
          </a:xfrm>
          <a:prstGeom prst="rect">
            <a:avLst/>
          </a:prstGeom>
          <a:noFill/>
        </p:spPr>
        <p:txBody>
          <a:bodyPr wrap="square" rtlCol="0">
            <a:spAutoFit/>
          </a:bodyPr>
          <a:lstStyle/>
          <a:p>
            <a:r>
              <a:rPr lang="en-IN" sz="2800" b="1" i="1" dirty="0" err="1">
                <a:solidFill>
                  <a:schemeClr val="bg1"/>
                </a:solidFill>
              </a:rPr>
              <a:t>Dr.Lalu</a:t>
            </a:r>
            <a:r>
              <a:rPr lang="en-IN" sz="2800" b="1" i="1" dirty="0">
                <a:solidFill>
                  <a:schemeClr val="bg1"/>
                </a:solidFill>
              </a:rPr>
              <a:t> </a:t>
            </a:r>
            <a:r>
              <a:rPr lang="en-IN" sz="2800" b="1" i="1" dirty="0" err="1">
                <a:solidFill>
                  <a:schemeClr val="bg1"/>
                </a:solidFill>
              </a:rPr>
              <a:t>P.George</a:t>
            </a:r>
            <a:r>
              <a:rPr lang="en-IN" sz="2800" b="1" i="1" dirty="0">
                <a:solidFill>
                  <a:schemeClr val="bg1"/>
                </a:solidFill>
              </a:rPr>
              <a:t> </a:t>
            </a:r>
            <a:r>
              <a:rPr lang="en-IN" sz="2800" b="1" i="1" dirty="0" err="1">
                <a:solidFill>
                  <a:schemeClr val="bg1"/>
                </a:solidFill>
              </a:rPr>
              <a:t>Ph.D</a:t>
            </a:r>
            <a:r>
              <a:rPr lang="en-IN" sz="2800" b="1" i="1" dirty="0">
                <a:solidFill>
                  <a:schemeClr val="bg1"/>
                </a:solidFill>
              </a:rPr>
              <a:t> </a:t>
            </a:r>
          </a:p>
        </p:txBody>
      </p:sp>
      <p:sp>
        <p:nvSpPr>
          <p:cNvPr id="2" name="Rectangle 1">
            <a:extLst>
              <a:ext uri="{FF2B5EF4-FFF2-40B4-BE49-F238E27FC236}">
                <a16:creationId xmlns:a16="http://schemas.microsoft.com/office/drawing/2014/main" id="{6B72E014-7308-4979-9277-FC667448B98E}"/>
              </a:ext>
            </a:extLst>
          </p:cNvPr>
          <p:cNvSpPr/>
          <p:nvPr/>
        </p:nvSpPr>
        <p:spPr>
          <a:xfrm>
            <a:off x="407963" y="252268"/>
            <a:ext cx="11394831" cy="523220"/>
          </a:xfrm>
          <a:prstGeom prst="rect">
            <a:avLst/>
          </a:prstGeom>
          <a:gradFill>
            <a:gsLst>
              <a:gs pos="100000">
                <a:srgbClr val="7030A0">
                  <a:lumMod val="95000"/>
                  <a:lumOff val="5000"/>
                  <a:alpha val="0"/>
                </a:srgbClr>
              </a:gs>
              <a:gs pos="0">
                <a:schemeClr val="accent2">
                  <a:lumMod val="100000"/>
                </a:schemeClr>
              </a:gs>
            </a:gsLst>
            <a:path path="circle">
              <a:fillToRect l="50000" t="-80000" r="50000" b="180000"/>
            </a:path>
          </a:gradFill>
          <a:ln>
            <a:noFill/>
          </a:ln>
        </p:spPr>
        <p:txBody>
          <a:bodyPr wrap="square">
            <a:spAutoFit/>
          </a:bodyPr>
          <a:lstStyle/>
          <a:p>
            <a:pPr algn="ctr"/>
            <a:r>
              <a:rPr lang="en-IN" sz="2800" b="1" dirty="0"/>
              <a:t>ENTREPRENEURSHIP AND NEW VENTURE PLANNING</a:t>
            </a:r>
          </a:p>
        </p:txBody>
      </p:sp>
    </p:spTree>
    <p:extLst>
      <p:ext uri="{BB962C8B-B14F-4D97-AF65-F5344CB8AC3E}">
        <p14:creationId xmlns:p14="http://schemas.microsoft.com/office/powerpoint/2010/main" val="14877382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1DC150E5-C2E6-4C41-AB33-47BF004CD535}"/>
              </a:ext>
            </a:extLst>
          </p:cNvPr>
          <p:cNvSpPr/>
          <p:nvPr/>
        </p:nvSpPr>
        <p:spPr>
          <a:xfrm>
            <a:off x="66258" y="809248"/>
            <a:ext cx="12017888" cy="1015663"/>
          </a:xfrm>
          <a:prstGeom prst="rect">
            <a:avLst/>
          </a:prstGeom>
        </p:spPr>
        <p:txBody>
          <a:bodyPr wrap="square">
            <a:spAutoFit/>
          </a:bodyPr>
          <a:lstStyle/>
          <a:p>
            <a:pPr algn="just"/>
            <a:r>
              <a:rPr lang="en-IN" sz="2000" b="1" dirty="0">
                <a:solidFill>
                  <a:schemeClr val="bg1"/>
                </a:solidFill>
                <a:latin typeface="Times New Roman" panose="02020603050405020304" pitchFamily="18" charset="0"/>
                <a:cs typeface="Times New Roman" panose="02020603050405020304" pitchFamily="18" charset="0"/>
              </a:rPr>
              <a:t>Module 1 </a:t>
            </a:r>
            <a:r>
              <a:rPr lang="en-IN" sz="2000" dirty="0">
                <a:solidFill>
                  <a:schemeClr val="bg1"/>
                </a:solidFill>
                <a:latin typeface="Times New Roman" panose="02020603050405020304" pitchFamily="18" charset="0"/>
                <a:cs typeface="Times New Roman" panose="02020603050405020304" pitchFamily="18" charset="0"/>
              </a:rPr>
              <a:t>: Entrepreneurship, Entrepreneurs, Characteristics of Entrepreneurship, Personality traits and personal values of entrepreneurs, Creativity and entrepreneurship, Idea generation and environmental analysis, Entrepreneurship Ecosystem. </a:t>
            </a:r>
          </a:p>
        </p:txBody>
      </p:sp>
      <p:sp>
        <p:nvSpPr>
          <p:cNvPr id="6" name="Rectangle 5">
            <a:extLst>
              <a:ext uri="{FF2B5EF4-FFF2-40B4-BE49-F238E27FC236}">
                <a16:creationId xmlns:a16="http://schemas.microsoft.com/office/drawing/2014/main" id="{C7C9A4A2-88F2-4E31-B0F4-88C4C9CEBBA4}"/>
              </a:ext>
            </a:extLst>
          </p:cNvPr>
          <p:cNvSpPr/>
          <p:nvPr/>
        </p:nvSpPr>
        <p:spPr>
          <a:xfrm>
            <a:off x="66258" y="1884236"/>
            <a:ext cx="11913704" cy="707886"/>
          </a:xfrm>
          <a:prstGeom prst="rect">
            <a:avLst/>
          </a:prstGeom>
        </p:spPr>
        <p:txBody>
          <a:bodyPr wrap="square">
            <a:spAutoFit/>
          </a:bodyPr>
          <a:lstStyle/>
          <a:p>
            <a:pPr algn="just"/>
            <a:r>
              <a:rPr lang="en-IN" sz="2000" b="1" dirty="0">
                <a:solidFill>
                  <a:schemeClr val="bg1"/>
                </a:solidFill>
                <a:latin typeface="Times New Roman" panose="02020603050405020304" pitchFamily="18" charset="0"/>
                <a:cs typeface="Times New Roman" panose="02020603050405020304" pitchFamily="18" charset="0"/>
              </a:rPr>
              <a:t>Module 2 </a:t>
            </a:r>
            <a:r>
              <a:rPr lang="en-IN" sz="2000" dirty="0">
                <a:solidFill>
                  <a:schemeClr val="bg1"/>
                </a:solidFill>
                <a:latin typeface="Times New Roman" panose="02020603050405020304" pitchFamily="18" charset="0"/>
                <a:cs typeface="Times New Roman" panose="02020603050405020304" pitchFamily="18" charset="0"/>
              </a:rPr>
              <a:t>: Entrepreneurship and Strategy, Business Models and Strategy, Innovation, Value proposition and market analysis, the Business Plan, Elements of the Business Plan, The Marketing and Sales Forecasting. </a:t>
            </a:r>
          </a:p>
        </p:txBody>
      </p:sp>
      <p:sp>
        <p:nvSpPr>
          <p:cNvPr id="7" name="Rectangle 6">
            <a:extLst>
              <a:ext uri="{FF2B5EF4-FFF2-40B4-BE49-F238E27FC236}">
                <a16:creationId xmlns:a16="http://schemas.microsoft.com/office/drawing/2014/main" id="{E05850AF-B2AB-45A7-8DD7-8920870F073B}"/>
              </a:ext>
            </a:extLst>
          </p:cNvPr>
          <p:cNvSpPr/>
          <p:nvPr/>
        </p:nvSpPr>
        <p:spPr>
          <a:xfrm>
            <a:off x="66258" y="2853198"/>
            <a:ext cx="11913703" cy="707886"/>
          </a:xfrm>
          <a:prstGeom prst="rect">
            <a:avLst/>
          </a:prstGeom>
        </p:spPr>
        <p:txBody>
          <a:bodyPr wrap="square">
            <a:spAutoFit/>
          </a:bodyPr>
          <a:lstStyle/>
          <a:p>
            <a:pPr algn="just"/>
            <a:r>
              <a:rPr lang="en-IN" sz="2000" b="1" dirty="0">
                <a:solidFill>
                  <a:schemeClr val="bg1"/>
                </a:solidFill>
                <a:latin typeface="Times New Roman" panose="02020603050405020304" pitchFamily="18" charset="0"/>
                <a:cs typeface="Times New Roman" panose="02020603050405020304" pitchFamily="18" charset="0"/>
              </a:rPr>
              <a:t>Module 3 </a:t>
            </a:r>
            <a:r>
              <a:rPr lang="en-IN" sz="2000" dirty="0">
                <a:solidFill>
                  <a:schemeClr val="bg1"/>
                </a:solidFill>
                <a:latin typeface="Times New Roman" panose="02020603050405020304" pitchFamily="18" charset="0"/>
                <a:cs typeface="Times New Roman" panose="02020603050405020304" pitchFamily="18" charset="0"/>
              </a:rPr>
              <a:t>Feasibility analysis: market feasibility, financial Feasibility and technical feasibility, Business model planning, New Value creation. </a:t>
            </a:r>
          </a:p>
        </p:txBody>
      </p:sp>
      <p:sp>
        <p:nvSpPr>
          <p:cNvPr id="8" name="Rectangle 7">
            <a:extLst>
              <a:ext uri="{FF2B5EF4-FFF2-40B4-BE49-F238E27FC236}">
                <a16:creationId xmlns:a16="http://schemas.microsoft.com/office/drawing/2014/main" id="{611727C6-4840-4935-B49C-82416DDCE1F1}"/>
              </a:ext>
            </a:extLst>
          </p:cNvPr>
          <p:cNvSpPr/>
          <p:nvPr/>
        </p:nvSpPr>
        <p:spPr>
          <a:xfrm>
            <a:off x="66259" y="3828823"/>
            <a:ext cx="12017888" cy="1323439"/>
          </a:xfrm>
          <a:prstGeom prst="rect">
            <a:avLst/>
          </a:prstGeom>
        </p:spPr>
        <p:txBody>
          <a:bodyPr wrap="square">
            <a:spAutoFit/>
          </a:bodyPr>
          <a:lstStyle/>
          <a:p>
            <a:pPr algn="just"/>
            <a:r>
              <a:rPr lang="en-IN" sz="2000" b="1" dirty="0">
                <a:solidFill>
                  <a:schemeClr val="bg1"/>
                </a:solidFill>
                <a:latin typeface="Times New Roman" panose="02020603050405020304" pitchFamily="18" charset="0"/>
                <a:cs typeface="Times New Roman" panose="02020603050405020304" pitchFamily="18" charset="0"/>
              </a:rPr>
              <a:t>Module 4 </a:t>
            </a:r>
            <a:r>
              <a:rPr lang="en-IN" sz="2000" dirty="0">
                <a:solidFill>
                  <a:schemeClr val="bg1"/>
                </a:solidFill>
                <a:latin typeface="Times New Roman" panose="02020603050405020304" pitchFamily="18" charset="0"/>
                <a:cs typeface="Times New Roman" panose="02020603050405020304" pitchFamily="18" charset="0"/>
              </a:rPr>
              <a:t>Valuation, New Venture Finance, Determining Financial Needs, Sources of Financing, debt financing, equity financing, crowd funding, Securing Investors and Structuring the Deal, Approaching Investors, Structuring the Deal, Negotiation Skills, Networking and entrepreneurship, Business Incubation, Legal and Tax Issues, Governmental support to start- ups.</a:t>
            </a:r>
          </a:p>
        </p:txBody>
      </p:sp>
      <p:sp>
        <p:nvSpPr>
          <p:cNvPr id="9" name="Rectangle 8">
            <a:extLst>
              <a:ext uri="{FF2B5EF4-FFF2-40B4-BE49-F238E27FC236}">
                <a16:creationId xmlns:a16="http://schemas.microsoft.com/office/drawing/2014/main" id="{8A20336C-4E34-49BD-9CB4-707D8E636681}"/>
              </a:ext>
            </a:extLst>
          </p:cNvPr>
          <p:cNvSpPr/>
          <p:nvPr/>
        </p:nvSpPr>
        <p:spPr>
          <a:xfrm>
            <a:off x="66258" y="5149582"/>
            <a:ext cx="11913701" cy="1015663"/>
          </a:xfrm>
          <a:prstGeom prst="rect">
            <a:avLst/>
          </a:prstGeom>
        </p:spPr>
        <p:txBody>
          <a:bodyPr wrap="square">
            <a:spAutoFit/>
          </a:bodyPr>
          <a:lstStyle/>
          <a:p>
            <a:pPr algn="just"/>
            <a:r>
              <a:rPr lang="en-IN" sz="2000" b="1" dirty="0">
                <a:solidFill>
                  <a:schemeClr val="bg1"/>
                </a:solidFill>
                <a:latin typeface="Times New Roman" panose="02020603050405020304" pitchFamily="18" charset="0"/>
                <a:cs typeface="Times New Roman" panose="02020603050405020304" pitchFamily="18" charset="0"/>
              </a:rPr>
              <a:t>Module 5 </a:t>
            </a:r>
            <a:r>
              <a:rPr lang="en-IN" sz="2000" dirty="0">
                <a:solidFill>
                  <a:schemeClr val="bg1"/>
                </a:solidFill>
                <a:latin typeface="Times New Roman" panose="02020603050405020304" pitchFamily="18" charset="0"/>
                <a:cs typeface="Times New Roman" panose="02020603050405020304" pitchFamily="18" charset="0"/>
              </a:rPr>
              <a:t>Organising for start-ups, Legal incorporation- possibilities, Networking and Alliances, Organizing manufacturing and distribution – various operation models, Traditional Organizational Structure, Entrepreneurial Performance: The Balanced Scorecard. </a:t>
            </a:r>
          </a:p>
        </p:txBody>
      </p:sp>
      <p:sp>
        <p:nvSpPr>
          <p:cNvPr id="10" name="Rectangle 9">
            <a:extLst>
              <a:ext uri="{FF2B5EF4-FFF2-40B4-BE49-F238E27FC236}">
                <a16:creationId xmlns:a16="http://schemas.microsoft.com/office/drawing/2014/main" id="{A5F382A9-A571-4EA1-9406-1ED6BB8178CD}"/>
              </a:ext>
            </a:extLst>
          </p:cNvPr>
          <p:cNvSpPr/>
          <p:nvPr/>
        </p:nvSpPr>
        <p:spPr>
          <a:xfrm>
            <a:off x="643473" y="75457"/>
            <a:ext cx="11037573" cy="646331"/>
          </a:xfrm>
          <a:prstGeom prst="rect">
            <a:avLst/>
          </a:prstGeom>
          <a:noFill/>
          <a:ln>
            <a:noFill/>
          </a:ln>
        </p:spPr>
        <p:txBody>
          <a:bodyPr wrap="none">
            <a:spAutoFit/>
          </a:bodyPr>
          <a:lstStyle/>
          <a:p>
            <a:r>
              <a:rPr lang="en-IN" sz="3600" b="1" dirty="0">
                <a:solidFill>
                  <a:schemeClr val="bg1"/>
                </a:solidFill>
                <a:latin typeface="Times New Roman" panose="02020603050405020304" pitchFamily="18" charset="0"/>
                <a:cs typeface="Times New Roman" panose="02020603050405020304" pitchFamily="18" charset="0"/>
              </a:rPr>
              <a:t>Syllabus: </a:t>
            </a:r>
            <a:r>
              <a:rPr lang="en-IN" sz="3200" b="1" dirty="0">
                <a:solidFill>
                  <a:schemeClr val="bg1"/>
                </a:solidFill>
                <a:latin typeface="Times New Roman" panose="02020603050405020304" pitchFamily="18" charset="0"/>
                <a:cs typeface="Times New Roman" panose="02020603050405020304" pitchFamily="18" charset="0"/>
              </a:rPr>
              <a:t>Where the journey of learning has no end…………</a:t>
            </a:r>
          </a:p>
        </p:txBody>
      </p:sp>
    </p:spTree>
    <p:extLst>
      <p:ext uri="{BB962C8B-B14F-4D97-AF65-F5344CB8AC3E}">
        <p14:creationId xmlns:p14="http://schemas.microsoft.com/office/powerpoint/2010/main" val="26961173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0F1B2F4-677A-41EC-9AAA-C35D6F98B6C6}"/>
              </a:ext>
            </a:extLst>
          </p:cNvPr>
          <p:cNvSpPr/>
          <p:nvPr/>
        </p:nvSpPr>
        <p:spPr>
          <a:xfrm>
            <a:off x="107851" y="206644"/>
            <a:ext cx="11961107" cy="2308324"/>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Recommended Books :</a:t>
            </a:r>
          </a:p>
          <a:p>
            <a:r>
              <a:rPr lang="en-IN" b="1" dirty="0">
                <a:latin typeface="Times New Roman" panose="02020603050405020304" pitchFamily="18" charset="0"/>
                <a:cs typeface="Times New Roman" panose="02020603050405020304" pitchFamily="18" charset="0"/>
              </a:rPr>
              <a:t>1. Butler, D. (2007). Business planning: a guide to business start-up. Routledge. </a:t>
            </a:r>
          </a:p>
          <a:p>
            <a:r>
              <a:rPr lang="en-IN" b="1" dirty="0">
                <a:latin typeface="Times New Roman" panose="02020603050405020304" pitchFamily="18" charset="0"/>
                <a:cs typeface="Times New Roman" panose="02020603050405020304" pitchFamily="18" charset="0"/>
              </a:rPr>
              <a:t>2. Desai, V, (2007). Dynamics of Entrepreneurship Development and Management, Himalaya Publications. </a:t>
            </a:r>
          </a:p>
          <a:p>
            <a:r>
              <a:rPr lang="en-IN" b="1" dirty="0">
                <a:latin typeface="Times New Roman" panose="02020603050405020304" pitchFamily="18" charset="0"/>
                <a:cs typeface="Times New Roman" panose="02020603050405020304" pitchFamily="18" charset="0"/>
              </a:rPr>
              <a:t>3. Sahay, A., &amp; Sharma, V. (2008). Entrepreneurship and new venture creation. Excel Books India. </a:t>
            </a:r>
          </a:p>
          <a:p>
            <a:r>
              <a:rPr lang="en-IN" b="1" dirty="0">
                <a:latin typeface="Times New Roman" panose="02020603050405020304" pitchFamily="18" charset="0"/>
                <a:cs typeface="Times New Roman" panose="02020603050405020304" pitchFamily="18" charset="0"/>
              </a:rPr>
              <a:t>4. Drucker, P. (2014). Innovation and entrepreneurship. Routledge. </a:t>
            </a:r>
          </a:p>
          <a:p>
            <a:r>
              <a:rPr lang="en-IN" b="1" dirty="0">
                <a:latin typeface="Times New Roman" panose="02020603050405020304" pitchFamily="18" charset="0"/>
                <a:cs typeface="Times New Roman" panose="02020603050405020304" pitchFamily="18" charset="0"/>
              </a:rPr>
              <a:t>5. </a:t>
            </a:r>
            <a:r>
              <a:rPr lang="en-IN" b="1" dirty="0" err="1">
                <a:latin typeface="Times New Roman" panose="02020603050405020304" pitchFamily="18" charset="0"/>
                <a:cs typeface="Times New Roman" panose="02020603050405020304" pitchFamily="18" charset="0"/>
              </a:rPr>
              <a:t>Raichaudhuri</a:t>
            </a:r>
            <a:r>
              <a:rPr lang="en-IN" b="1" dirty="0">
                <a:latin typeface="Times New Roman" panose="02020603050405020304" pitchFamily="18" charset="0"/>
                <a:cs typeface="Times New Roman" panose="02020603050405020304" pitchFamily="18" charset="0"/>
              </a:rPr>
              <a:t>, A. (2010). Managing New Ventures: Concepts and Cases in Entrepreneurship. PHI Learning </a:t>
            </a:r>
            <a:r>
              <a:rPr lang="en-IN" b="1" dirty="0" err="1">
                <a:latin typeface="Times New Roman" panose="02020603050405020304" pitchFamily="18" charset="0"/>
                <a:cs typeface="Times New Roman" panose="02020603050405020304" pitchFamily="18" charset="0"/>
              </a:rPr>
              <a:t>Pvt.</a:t>
            </a:r>
            <a:r>
              <a:rPr lang="en-IN" b="1" dirty="0">
                <a:latin typeface="Times New Roman" panose="02020603050405020304" pitchFamily="18" charset="0"/>
                <a:cs typeface="Times New Roman" panose="02020603050405020304" pitchFamily="18" charset="0"/>
              </a:rPr>
              <a:t> Ltd. </a:t>
            </a:r>
          </a:p>
          <a:p>
            <a:r>
              <a:rPr lang="en-IN" b="1" dirty="0">
                <a:latin typeface="Times New Roman" panose="02020603050405020304" pitchFamily="18" charset="0"/>
                <a:cs typeface="Times New Roman" panose="02020603050405020304" pitchFamily="18" charset="0"/>
              </a:rPr>
              <a:t>6. Griffiths, C., &amp; </a:t>
            </a:r>
            <a:r>
              <a:rPr lang="en-IN" b="1" dirty="0" err="1">
                <a:latin typeface="Times New Roman" panose="02020603050405020304" pitchFamily="18" charset="0"/>
                <a:cs typeface="Times New Roman" panose="02020603050405020304" pitchFamily="18" charset="0"/>
              </a:rPr>
              <a:t>Crescenzo</a:t>
            </a:r>
            <a:r>
              <a:rPr lang="en-IN" b="1" dirty="0">
                <a:latin typeface="Times New Roman" panose="02020603050405020304" pitchFamily="18" charset="0"/>
                <a:cs typeface="Times New Roman" panose="02020603050405020304" pitchFamily="18" charset="0"/>
              </a:rPr>
              <a:t>, B. (2012). My Start-up Plan: The Business Plan Toolkit. Harriman House Limited. </a:t>
            </a:r>
          </a:p>
          <a:p>
            <a:r>
              <a:rPr lang="en-IN" b="1" dirty="0">
                <a:latin typeface="Times New Roman" panose="02020603050405020304" pitchFamily="18" charset="0"/>
                <a:cs typeface="Times New Roman" panose="02020603050405020304" pitchFamily="18" charset="0"/>
              </a:rPr>
              <a:t>7. </a:t>
            </a:r>
            <a:r>
              <a:rPr lang="en-IN" b="1" dirty="0" err="1">
                <a:latin typeface="Times New Roman" panose="02020603050405020304" pitchFamily="18" charset="0"/>
                <a:cs typeface="Times New Roman" panose="02020603050405020304" pitchFamily="18" charset="0"/>
              </a:rPr>
              <a:t>Kuratko</a:t>
            </a:r>
            <a:r>
              <a:rPr lang="en-IN" b="1" dirty="0">
                <a:latin typeface="Times New Roman" panose="02020603050405020304" pitchFamily="18" charset="0"/>
                <a:cs typeface="Times New Roman" panose="02020603050405020304" pitchFamily="18" charset="0"/>
              </a:rPr>
              <a:t>, D. F., &amp; Hornsby, J. S. (2017). New Venture Management: The Entrepreneur's Roadmap. Taylor &amp; Francis. </a:t>
            </a:r>
          </a:p>
        </p:txBody>
      </p:sp>
      <p:sp>
        <p:nvSpPr>
          <p:cNvPr id="4" name="Rectangle 3">
            <a:extLst>
              <a:ext uri="{FF2B5EF4-FFF2-40B4-BE49-F238E27FC236}">
                <a16:creationId xmlns:a16="http://schemas.microsoft.com/office/drawing/2014/main" id="{238E8C81-FD62-4452-BBC1-25A81E821D16}"/>
              </a:ext>
            </a:extLst>
          </p:cNvPr>
          <p:cNvSpPr/>
          <p:nvPr/>
        </p:nvSpPr>
        <p:spPr>
          <a:xfrm>
            <a:off x="344556" y="2721612"/>
            <a:ext cx="11635410" cy="3416320"/>
          </a:xfrm>
          <a:prstGeom prst="rect">
            <a:avLst/>
          </a:prstGeom>
        </p:spPr>
        <p:txBody>
          <a:bodyPr wrap="square">
            <a:spAutoFit/>
          </a:bodyPr>
          <a:lstStyle/>
          <a:p>
            <a:pPr algn="just"/>
            <a:r>
              <a:rPr lang="en-IN" sz="2400" b="1" dirty="0">
                <a:solidFill>
                  <a:schemeClr val="bg1"/>
                </a:solidFill>
                <a:latin typeface="Times New Roman" panose="02020603050405020304" pitchFamily="18" charset="0"/>
                <a:cs typeface="Times New Roman" panose="02020603050405020304" pitchFamily="18" charset="0"/>
              </a:rPr>
              <a:t>COURSE DESCRIPTION</a:t>
            </a:r>
          </a:p>
          <a:p>
            <a:pPr lvl="4" algn="just"/>
            <a:r>
              <a:rPr lang="en-IN" sz="2400" dirty="0">
                <a:solidFill>
                  <a:schemeClr val="bg1"/>
                </a:solidFill>
                <a:latin typeface="Times New Roman" panose="02020603050405020304" pitchFamily="18" charset="0"/>
                <a:cs typeface="Times New Roman" panose="02020603050405020304" pitchFamily="18" charset="0"/>
              </a:rPr>
              <a:t>The course provides an understanding of the nature of entrepreneurship while providing inputs about policy support and the legal aspects. Different facets of business plan preparation after idea generation and environmental analysis are discussed. Feasibility analysis methods and business model planning which play key roles in the success of new ventures are explained. Financing and valuation of new ventures have evolved into sophisticated areas of entrepreneurship management and are discussed in both global and Indian contexts.</a:t>
            </a:r>
          </a:p>
        </p:txBody>
      </p:sp>
    </p:spTree>
    <p:extLst>
      <p:ext uri="{BB962C8B-B14F-4D97-AF65-F5344CB8AC3E}">
        <p14:creationId xmlns:p14="http://schemas.microsoft.com/office/powerpoint/2010/main" val="28111732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6056"/>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F14E063-AC26-4B35-8C69-883D277E3888}"/>
              </a:ext>
            </a:extLst>
          </p:cNvPr>
          <p:cNvSpPr/>
          <p:nvPr/>
        </p:nvSpPr>
        <p:spPr>
          <a:xfrm>
            <a:off x="59134" y="6876"/>
            <a:ext cx="4741041" cy="707886"/>
          </a:xfrm>
          <a:prstGeom prst="rect">
            <a:avLst/>
          </a:prstGeom>
        </p:spPr>
        <p:txBody>
          <a:bodyPr wrap="none">
            <a:spAutoFit/>
          </a:bodyPr>
          <a:lstStyle/>
          <a:p>
            <a:r>
              <a:rPr lang="en-IN" sz="4000" b="1" dirty="0">
                <a:solidFill>
                  <a:srgbClr val="92D050"/>
                </a:solidFill>
                <a:latin typeface="Times New Roman" panose="02020603050405020304" pitchFamily="18" charset="0"/>
                <a:cs typeface="Times New Roman" panose="02020603050405020304" pitchFamily="18" charset="0"/>
              </a:rPr>
              <a:t>Entrepreneurship….</a:t>
            </a:r>
            <a:endParaRPr lang="en-IN" sz="4000" b="1" dirty="0">
              <a:solidFill>
                <a:srgbClr val="92D050"/>
              </a:solidFill>
            </a:endParaRPr>
          </a:p>
        </p:txBody>
      </p:sp>
      <p:sp>
        <p:nvSpPr>
          <p:cNvPr id="11" name="Thought Bubble: Cloud 10">
            <a:extLst>
              <a:ext uri="{FF2B5EF4-FFF2-40B4-BE49-F238E27FC236}">
                <a16:creationId xmlns:a16="http://schemas.microsoft.com/office/drawing/2014/main" id="{7B7E0AA7-33C0-4409-AF38-4708878A5E91}"/>
              </a:ext>
            </a:extLst>
          </p:cNvPr>
          <p:cNvSpPr/>
          <p:nvPr/>
        </p:nvSpPr>
        <p:spPr>
          <a:xfrm>
            <a:off x="353936" y="3477110"/>
            <a:ext cx="3784208" cy="2549647"/>
          </a:xfrm>
          <a:prstGeom prst="cloudCallout">
            <a:avLst>
              <a:gd name="adj1" fmla="val 83999"/>
              <a:gd name="adj2" fmla="val -23045"/>
            </a:avLst>
          </a:prstGeom>
          <a:solidFill>
            <a:srgbClr val="7030A0"/>
          </a:solidFill>
          <a:ln>
            <a:solidFill>
              <a:srgbClr val="00206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2400" b="1" dirty="0"/>
              <a:t>Starting and running a business venture</a:t>
            </a:r>
          </a:p>
        </p:txBody>
      </p:sp>
      <p:sp>
        <p:nvSpPr>
          <p:cNvPr id="12" name="Thought Bubble: Cloud 11">
            <a:extLst>
              <a:ext uri="{FF2B5EF4-FFF2-40B4-BE49-F238E27FC236}">
                <a16:creationId xmlns:a16="http://schemas.microsoft.com/office/drawing/2014/main" id="{22BDB0FC-9044-41C2-A1E8-40B64A07DA9F}"/>
              </a:ext>
            </a:extLst>
          </p:cNvPr>
          <p:cNvSpPr/>
          <p:nvPr/>
        </p:nvSpPr>
        <p:spPr>
          <a:xfrm>
            <a:off x="3889013" y="218737"/>
            <a:ext cx="4206240" cy="2549647"/>
          </a:xfrm>
          <a:prstGeom prst="cloudCallout">
            <a:avLst>
              <a:gd name="adj1" fmla="val -5924"/>
              <a:gd name="adj2" fmla="val 102442"/>
            </a:avLst>
          </a:prstGeom>
          <a:solidFill>
            <a:srgbClr val="7030A0"/>
          </a:solidFill>
          <a:ln>
            <a:solidFill>
              <a:srgbClr val="00206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2400" b="1" dirty="0"/>
              <a:t>Goal of achieving profit and growth.</a:t>
            </a:r>
          </a:p>
        </p:txBody>
      </p:sp>
      <p:sp>
        <p:nvSpPr>
          <p:cNvPr id="13" name="Thought Bubble: Cloud 12">
            <a:extLst>
              <a:ext uri="{FF2B5EF4-FFF2-40B4-BE49-F238E27FC236}">
                <a16:creationId xmlns:a16="http://schemas.microsoft.com/office/drawing/2014/main" id="{D1402653-5EE7-46BD-96CD-5C34E1E94C97}"/>
              </a:ext>
            </a:extLst>
          </p:cNvPr>
          <p:cNvSpPr/>
          <p:nvPr/>
        </p:nvSpPr>
        <p:spPr>
          <a:xfrm>
            <a:off x="7324578" y="3669010"/>
            <a:ext cx="4867422" cy="2549647"/>
          </a:xfrm>
          <a:prstGeom prst="cloudCallout">
            <a:avLst>
              <a:gd name="adj1" fmla="val -90205"/>
              <a:gd name="adj2" fmla="val -28610"/>
            </a:avLst>
          </a:prstGeom>
          <a:solidFill>
            <a:srgbClr val="7030A0"/>
          </a:solidFill>
          <a:ln>
            <a:solidFill>
              <a:srgbClr val="00206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2000" b="1" dirty="0"/>
              <a:t> Serving the society</a:t>
            </a:r>
          </a:p>
          <a:p>
            <a:pPr algn="ctr"/>
            <a:r>
              <a:rPr lang="en-IN" sz="2000" b="1" dirty="0"/>
              <a:t>Positive impacts on society and communities</a:t>
            </a:r>
          </a:p>
          <a:p>
            <a:pPr algn="ctr"/>
            <a:endParaRPr lang="en-IN" dirty="0"/>
          </a:p>
        </p:txBody>
      </p:sp>
      <p:sp>
        <p:nvSpPr>
          <p:cNvPr id="3" name="Rectangle 2">
            <a:extLst>
              <a:ext uri="{FF2B5EF4-FFF2-40B4-BE49-F238E27FC236}">
                <a16:creationId xmlns:a16="http://schemas.microsoft.com/office/drawing/2014/main" id="{655FF075-EEB6-4815-947B-7D2D6F138E63}"/>
              </a:ext>
            </a:extLst>
          </p:cNvPr>
          <p:cNvSpPr/>
          <p:nvPr/>
        </p:nvSpPr>
        <p:spPr>
          <a:xfrm>
            <a:off x="8272683" y="519364"/>
            <a:ext cx="3707281" cy="2308324"/>
          </a:xfrm>
          <a:prstGeom prst="rect">
            <a:avLst/>
          </a:prstGeom>
        </p:spPr>
        <p:txBody>
          <a:bodyPr wrap="square">
            <a:spAutoFit/>
          </a:bodyPr>
          <a:lstStyle/>
          <a:p>
            <a:pPr algn="just"/>
            <a:r>
              <a:rPr lang="en-IN" i="1" dirty="0">
                <a:solidFill>
                  <a:schemeClr val="bg1"/>
                </a:solidFill>
              </a:rPr>
              <a:t>The term entrepreneur is a French word, and is derived from the French word “</a:t>
            </a:r>
            <a:r>
              <a:rPr lang="en-IN" i="1" dirty="0" err="1">
                <a:solidFill>
                  <a:schemeClr val="bg1"/>
                </a:solidFill>
              </a:rPr>
              <a:t>enterprendre</a:t>
            </a:r>
            <a:r>
              <a:rPr lang="en-IN" i="1" dirty="0">
                <a:solidFill>
                  <a:schemeClr val="bg1"/>
                </a:solidFill>
              </a:rPr>
              <a:t>”. It means “to undertake”. It is commonly used to describe an individual who organizes and operates a business or businesses, taking on financial risk to do so.</a:t>
            </a:r>
          </a:p>
        </p:txBody>
      </p:sp>
    </p:spTree>
    <p:extLst>
      <p:ext uri="{BB962C8B-B14F-4D97-AF65-F5344CB8AC3E}">
        <p14:creationId xmlns:p14="http://schemas.microsoft.com/office/powerpoint/2010/main" val="5176935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13252"/>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BFC55033-1066-4FA1-8523-469F34BBD0FF}"/>
              </a:ext>
            </a:extLst>
          </p:cNvPr>
          <p:cNvSpPr/>
          <p:nvPr/>
        </p:nvSpPr>
        <p:spPr>
          <a:xfrm>
            <a:off x="372474" y="849798"/>
            <a:ext cx="3212612" cy="1631216"/>
          </a:xfrm>
          <a:prstGeom prst="rect">
            <a:avLst/>
          </a:prstGeom>
        </p:spPr>
        <p:txBody>
          <a:bodyPr wrap="square">
            <a:spAutoFit/>
          </a:bodyPr>
          <a:lstStyle/>
          <a:p>
            <a:pPr algn="just"/>
            <a:r>
              <a:rPr lang="en-IN" sz="2000" b="1" dirty="0">
                <a:solidFill>
                  <a:schemeClr val="accent1">
                    <a:lumMod val="20000"/>
                    <a:lumOff val="80000"/>
                  </a:schemeClr>
                </a:solidFill>
                <a:latin typeface="Times New Roman" panose="02020603050405020304" pitchFamily="18" charset="0"/>
                <a:cs typeface="Times New Roman" panose="02020603050405020304" pitchFamily="18" charset="0"/>
              </a:rPr>
              <a:t>Innovation:</a:t>
            </a:r>
            <a:r>
              <a:rPr lang="en-IN" sz="2000" dirty="0">
                <a:solidFill>
                  <a:schemeClr val="accent1">
                    <a:lumMod val="20000"/>
                    <a:lumOff val="80000"/>
                  </a:schemeClr>
                </a:solidFill>
                <a:latin typeface="Times New Roman" panose="02020603050405020304" pitchFamily="18" charset="0"/>
                <a:cs typeface="Times New Roman" panose="02020603050405020304" pitchFamily="18" charset="0"/>
              </a:rPr>
              <a:t> Entrepreneurs often introduce new products, services, or business models that meet market needs or create new demands.</a:t>
            </a:r>
          </a:p>
        </p:txBody>
      </p:sp>
      <p:sp>
        <p:nvSpPr>
          <p:cNvPr id="6" name="Rectangle 5">
            <a:extLst>
              <a:ext uri="{FF2B5EF4-FFF2-40B4-BE49-F238E27FC236}">
                <a16:creationId xmlns:a16="http://schemas.microsoft.com/office/drawing/2014/main" id="{47FF4911-D496-4072-986C-303E9C4A7917}"/>
              </a:ext>
            </a:extLst>
          </p:cNvPr>
          <p:cNvSpPr/>
          <p:nvPr/>
        </p:nvSpPr>
        <p:spPr>
          <a:xfrm>
            <a:off x="4406348" y="221799"/>
            <a:ext cx="3556812" cy="1938992"/>
          </a:xfrm>
          <a:prstGeom prst="rect">
            <a:avLst/>
          </a:prstGeom>
        </p:spPr>
        <p:txBody>
          <a:bodyPr wrap="square">
            <a:spAutoFit/>
          </a:bodyPr>
          <a:lstStyle/>
          <a:p>
            <a:pPr algn="just"/>
            <a:r>
              <a:rPr lang="en-IN" sz="2000" b="1" dirty="0">
                <a:solidFill>
                  <a:schemeClr val="bg1"/>
                </a:solidFill>
                <a:latin typeface="Times New Roman" panose="02020603050405020304" pitchFamily="18" charset="0"/>
                <a:cs typeface="Times New Roman" panose="02020603050405020304" pitchFamily="18" charset="0"/>
              </a:rPr>
              <a:t>Risk-taking:</a:t>
            </a:r>
            <a:r>
              <a:rPr lang="en-IN" sz="2000" dirty="0">
                <a:solidFill>
                  <a:schemeClr val="bg1"/>
                </a:solidFill>
                <a:latin typeface="Times New Roman" panose="02020603050405020304" pitchFamily="18" charset="0"/>
                <a:cs typeface="Times New Roman" panose="02020603050405020304" pitchFamily="18" charset="0"/>
              </a:rPr>
              <a:t> Entrepreneurship inherently involves uncertainty and risk. Entrepreneurs must be willing to invest time, money, and effort into ventures that may or may not succeed.</a:t>
            </a:r>
          </a:p>
        </p:txBody>
      </p:sp>
      <p:sp>
        <p:nvSpPr>
          <p:cNvPr id="7" name="Rectangle 6">
            <a:extLst>
              <a:ext uri="{FF2B5EF4-FFF2-40B4-BE49-F238E27FC236}">
                <a16:creationId xmlns:a16="http://schemas.microsoft.com/office/drawing/2014/main" id="{734A30A7-1AD6-4C25-B1DA-A9A9866E8C4F}"/>
              </a:ext>
            </a:extLst>
          </p:cNvPr>
          <p:cNvSpPr/>
          <p:nvPr/>
        </p:nvSpPr>
        <p:spPr>
          <a:xfrm>
            <a:off x="8399086" y="599428"/>
            <a:ext cx="3212612" cy="2246769"/>
          </a:xfrm>
          <a:prstGeom prst="rect">
            <a:avLst/>
          </a:prstGeom>
        </p:spPr>
        <p:txBody>
          <a:bodyPr wrap="square">
            <a:spAutoFit/>
          </a:bodyPr>
          <a:lstStyle/>
          <a:p>
            <a:pPr algn="just"/>
            <a:r>
              <a:rPr lang="en-IN" sz="2000" b="1" dirty="0">
                <a:solidFill>
                  <a:schemeClr val="bg1"/>
                </a:solidFill>
                <a:latin typeface="Times New Roman" panose="02020603050405020304" pitchFamily="18" charset="0"/>
                <a:cs typeface="Times New Roman" panose="02020603050405020304" pitchFamily="18" charset="0"/>
              </a:rPr>
              <a:t>Leadership:</a:t>
            </a:r>
            <a:r>
              <a:rPr lang="en-IN" sz="2000" dirty="0">
                <a:solidFill>
                  <a:schemeClr val="bg1"/>
                </a:solidFill>
                <a:latin typeface="Times New Roman" panose="02020603050405020304" pitchFamily="18" charset="0"/>
                <a:cs typeface="Times New Roman" panose="02020603050405020304" pitchFamily="18" charset="0"/>
              </a:rPr>
              <a:t> Entrepreneurs provide vision, direction, and motivation to their teams. They must be able to make decisions, solve problems, and adapt to changing circumstances.</a:t>
            </a:r>
          </a:p>
        </p:txBody>
      </p:sp>
      <p:sp>
        <p:nvSpPr>
          <p:cNvPr id="8" name="Rectangle 7">
            <a:extLst>
              <a:ext uri="{FF2B5EF4-FFF2-40B4-BE49-F238E27FC236}">
                <a16:creationId xmlns:a16="http://schemas.microsoft.com/office/drawing/2014/main" id="{FF1DA0C8-EB64-4634-9CA5-35567CEB258D}"/>
              </a:ext>
            </a:extLst>
          </p:cNvPr>
          <p:cNvSpPr/>
          <p:nvPr/>
        </p:nvSpPr>
        <p:spPr>
          <a:xfrm>
            <a:off x="132993" y="3139790"/>
            <a:ext cx="2903168" cy="2246769"/>
          </a:xfrm>
          <a:prstGeom prst="rect">
            <a:avLst/>
          </a:prstGeom>
        </p:spPr>
        <p:txBody>
          <a:bodyPr wrap="square">
            <a:spAutoFit/>
          </a:bodyPr>
          <a:lstStyle/>
          <a:p>
            <a:pPr algn="just"/>
            <a:r>
              <a:rPr lang="en-IN" sz="2000" b="1" dirty="0">
                <a:solidFill>
                  <a:schemeClr val="accent2">
                    <a:lumMod val="60000"/>
                    <a:lumOff val="40000"/>
                  </a:schemeClr>
                </a:solidFill>
                <a:latin typeface="Times New Roman" panose="02020603050405020304" pitchFamily="18" charset="0"/>
                <a:cs typeface="Times New Roman" panose="02020603050405020304" pitchFamily="18" charset="0"/>
              </a:rPr>
              <a:t>Market Understanding:</a:t>
            </a:r>
            <a:r>
              <a:rPr lang="en-IN" sz="2000" dirty="0">
                <a:solidFill>
                  <a:schemeClr val="accent2">
                    <a:lumMod val="60000"/>
                    <a:lumOff val="40000"/>
                  </a:schemeClr>
                </a:solidFill>
                <a:latin typeface="Times New Roman" panose="02020603050405020304" pitchFamily="18" charset="0"/>
                <a:cs typeface="Times New Roman" panose="02020603050405020304" pitchFamily="18" charset="0"/>
              </a:rPr>
              <a:t> Successful entrepreneurs have a deep understanding of their target market, including customer preferences, behaviours, and trends.</a:t>
            </a:r>
          </a:p>
        </p:txBody>
      </p:sp>
      <p:sp>
        <p:nvSpPr>
          <p:cNvPr id="9" name="Rectangle 8">
            <a:extLst>
              <a:ext uri="{FF2B5EF4-FFF2-40B4-BE49-F238E27FC236}">
                <a16:creationId xmlns:a16="http://schemas.microsoft.com/office/drawing/2014/main" id="{0A714D74-4D69-474B-82CA-176D96391F8F}"/>
              </a:ext>
            </a:extLst>
          </p:cNvPr>
          <p:cNvSpPr/>
          <p:nvPr/>
        </p:nvSpPr>
        <p:spPr>
          <a:xfrm>
            <a:off x="4316896" y="3394308"/>
            <a:ext cx="2690191" cy="1631216"/>
          </a:xfrm>
          <a:prstGeom prst="rect">
            <a:avLst/>
          </a:prstGeom>
        </p:spPr>
        <p:txBody>
          <a:bodyPr wrap="square">
            <a:spAutoFit/>
          </a:bodyPr>
          <a:lstStyle/>
          <a:p>
            <a:pPr algn="just"/>
            <a:r>
              <a:rPr lang="en-IN" sz="2000" b="1" dirty="0">
                <a:solidFill>
                  <a:schemeClr val="accent4">
                    <a:lumMod val="40000"/>
                    <a:lumOff val="60000"/>
                  </a:schemeClr>
                </a:solidFill>
                <a:latin typeface="Times New Roman" panose="02020603050405020304" pitchFamily="18" charset="0"/>
                <a:cs typeface="Times New Roman" panose="02020603050405020304" pitchFamily="18" charset="0"/>
              </a:rPr>
              <a:t>Persistence:</a:t>
            </a:r>
            <a:r>
              <a:rPr lang="en-IN" sz="2000" dirty="0">
                <a:solidFill>
                  <a:schemeClr val="accent4">
                    <a:lumMod val="40000"/>
                    <a:lumOff val="60000"/>
                  </a:schemeClr>
                </a:solidFill>
                <a:latin typeface="Times New Roman" panose="02020603050405020304" pitchFamily="18" charset="0"/>
                <a:cs typeface="Times New Roman" panose="02020603050405020304" pitchFamily="18" charset="0"/>
              </a:rPr>
              <a:t> Building a successful business requires perseverance in the face of challenges, setbacks, and failures.</a:t>
            </a:r>
          </a:p>
        </p:txBody>
      </p:sp>
      <p:sp>
        <p:nvSpPr>
          <p:cNvPr id="10" name="Rectangle 9">
            <a:extLst>
              <a:ext uri="{FF2B5EF4-FFF2-40B4-BE49-F238E27FC236}">
                <a16:creationId xmlns:a16="http://schemas.microsoft.com/office/drawing/2014/main" id="{1A4EAB74-D3FC-418B-94F4-0842CC12743E}"/>
              </a:ext>
            </a:extLst>
          </p:cNvPr>
          <p:cNvSpPr/>
          <p:nvPr/>
        </p:nvSpPr>
        <p:spPr>
          <a:xfrm>
            <a:off x="8399087" y="3209643"/>
            <a:ext cx="3212611" cy="1938992"/>
          </a:xfrm>
          <a:prstGeom prst="rect">
            <a:avLst/>
          </a:prstGeom>
        </p:spPr>
        <p:txBody>
          <a:bodyPr wrap="square">
            <a:spAutoFit/>
          </a:bodyPr>
          <a:lstStyle/>
          <a:p>
            <a:pPr algn="just"/>
            <a:r>
              <a:rPr lang="en-IN" sz="2000" b="1" dirty="0">
                <a:solidFill>
                  <a:schemeClr val="accent2">
                    <a:lumMod val="60000"/>
                    <a:lumOff val="40000"/>
                  </a:schemeClr>
                </a:solidFill>
                <a:latin typeface="Times New Roman" panose="02020603050405020304" pitchFamily="18" charset="0"/>
                <a:cs typeface="Times New Roman" panose="02020603050405020304" pitchFamily="18" charset="0"/>
              </a:rPr>
              <a:t>Flexibility:</a:t>
            </a:r>
            <a:r>
              <a:rPr lang="en-IN" sz="2000" dirty="0">
                <a:solidFill>
                  <a:schemeClr val="accent2">
                    <a:lumMod val="60000"/>
                    <a:lumOff val="40000"/>
                  </a:schemeClr>
                </a:solidFill>
                <a:latin typeface="Times New Roman" panose="02020603050405020304" pitchFamily="18" charset="0"/>
                <a:cs typeface="Times New Roman" panose="02020603050405020304" pitchFamily="18" charset="0"/>
              </a:rPr>
              <a:t> Entrepreneurs must be adaptable and willing to pivot their business strategies based on market feedback and changing conditions</a:t>
            </a:r>
          </a:p>
        </p:txBody>
      </p:sp>
      <p:sp>
        <p:nvSpPr>
          <p:cNvPr id="11" name="Rectangle 10">
            <a:extLst>
              <a:ext uri="{FF2B5EF4-FFF2-40B4-BE49-F238E27FC236}">
                <a16:creationId xmlns:a16="http://schemas.microsoft.com/office/drawing/2014/main" id="{A244B361-3C48-49C1-834B-67B194C8F86D}"/>
              </a:ext>
            </a:extLst>
          </p:cNvPr>
          <p:cNvSpPr/>
          <p:nvPr/>
        </p:nvSpPr>
        <p:spPr>
          <a:xfrm>
            <a:off x="2670312" y="5271745"/>
            <a:ext cx="6559823" cy="1015663"/>
          </a:xfrm>
          <a:prstGeom prst="rect">
            <a:avLst/>
          </a:prstGeom>
        </p:spPr>
        <p:txBody>
          <a:bodyPr wrap="square">
            <a:spAutoFit/>
          </a:bodyPr>
          <a:lstStyle/>
          <a:p>
            <a:pPr algn="just"/>
            <a:r>
              <a:rPr lang="en-IN" sz="2000" b="1" dirty="0">
                <a:solidFill>
                  <a:schemeClr val="bg1"/>
                </a:solidFill>
                <a:latin typeface="Times New Roman" panose="02020603050405020304" pitchFamily="18" charset="0"/>
                <a:cs typeface="Times New Roman" panose="02020603050405020304" pitchFamily="18" charset="0"/>
              </a:rPr>
              <a:t>Resource Management:</a:t>
            </a:r>
            <a:r>
              <a:rPr lang="en-IN" sz="2000" dirty="0">
                <a:solidFill>
                  <a:schemeClr val="bg1"/>
                </a:solidFill>
                <a:latin typeface="Times New Roman" panose="02020603050405020304" pitchFamily="18" charset="0"/>
                <a:cs typeface="Times New Roman" panose="02020603050405020304" pitchFamily="18" charset="0"/>
              </a:rPr>
              <a:t> Effective entrepreneurs manage financial resources, human capital, and other assets efficiently to maximize growth and profitability.</a:t>
            </a:r>
          </a:p>
        </p:txBody>
      </p:sp>
      <p:sp>
        <p:nvSpPr>
          <p:cNvPr id="13" name="Rectangle 12">
            <a:extLst>
              <a:ext uri="{FF2B5EF4-FFF2-40B4-BE49-F238E27FC236}">
                <a16:creationId xmlns:a16="http://schemas.microsoft.com/office/drawing/2014/main" id="{EE6D3D2A-2A53-400F-852F-AF9B224C5EAB}"/>
              </a:ext>
            </a:extLst>
          </p:cNvPr>
          <p:cNvSpPr/>
          <p:nvPr/>
        </p:nvSpPr>
        <p:spPr>
          <a:xfrm>
            <a:off x="3036161" y="2456098"/>
            <a:ext cx="5497767" cy="523220"/>
          </a:xfrm>
          <a:prstGeom prst="rect">
            <a:avLst/>
          </a:prstGeom>
          <a:gradFill>
            <a:gsLst>
              <a:gs pos="100000">
                <a:srgbClr val="7030A0">
                  <a:lumMod val="95000"/>
                  <a:lumOff val="5000"/>
                  <a:alpha val="0"/>
                </a:srgbClr>
              </a:gs>
              <a:gs pos="0">
                <a:schemeClr val="accent2">
                  <a:lumMod val="100000"/>
                </a:schemeClr>
              </a:gs>
            </a:gsLst>
            <a:path path="circle">
              <a:fillToRect l="50000" t="-80000" r="50000" b="180000"/>
            </a:path>
          </a:gradFill>
          <a:ln>
            <a:noFill/>
          </a:ln>
        </p:spPr>
        <p:txBody>
          <a:bodyPr wrap="square">
            <a:spAutoFit/>
          </a:bodyPr>
          <a:lstStyle/>
          <a:p>
            <a:r>
              <a:rPr lang="en-IN" sz="2800" b="1" dirty="0">
                <a:latin typeface="Times New Roman" panose="02020603050405020304" pitchFamily="18" charset="0"/>
                <a:cs typeface="Times New Roman" panose="02020603050405020304" pitchFamily="18" charset="0"/>
              </a:rPr>
              <a:t>Key aspects of entrepreneurship</a:t>
            </a:r>
          </a:p>
        </p:txBody>
      </p:sp>
    </p:spTree>
    <p:extLst>
      <p:ext uri="{BB962C8B-B14F-4D97-AF65-F5344CB8AC3E}">
        <p14:creationId xmlns:p14="http://schemas.microsoft.com/office/powerpoint/2010/main" val="33538309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2FF22CA-8FE4-4562-8756-5C5677F0981B}"/>
              </a:ext>
            </a:extLst>
          </p:cNvPr>
          <p:cNvSpPr/>
          <p:nvPr/>
        </p:nvSpPr>
        <p:spPr>
          <a:xfrm>
            <a:off x="66260" y="1167867"/>
            <a:ext cx="6096000" cy="1323439"/>
          </a:xfrm>
          <a:prstGeom prst="rect">
            <a:avLst/>
          </a:prstGeom>
        </p:spPr>
        <p:txBody>
          <a:bodyPr>
            <a:spAutoFit/>
          </a:bodyPr>
          <a:lstStyle/>
          <a:p>
            <a:pPr algn="just"/>
            <a:r>
              <a:rPr lang="en-IN" sz="2000" dirty="0">
                <a:solidFill>
                  <a:schemeClr val="bg1"/>
                </a:solidFill>
              </a:rPr>
              <a:t>According to Oxford Dictionary, an entrepreneur is “A person who sets up a business or businesses, taking on financial risks in the hope of profit”.</a:t>
            </a:r>
          </a:p>
          <a:p>
            <a:endParaRPr lang="en-IN" sz="2000" dirty="0">
              <a:solidFill>
                <a:schemeClr val="bg1"/>
              </a:solidFill>
            </a:endParaRPr>
          </a:p>
        </p:txBody>
      </p:sp>
      <p:sp>
        <p:nvSpPr>
          <p:cNvPr id="4" name="Rectangle 3">
            <a:extLst>
              <a:ext uri="{FF2B5EF4-FFF2-40B4-BE49-F238E27FC236}">
                <a16:creationId xmlns:a16="http://schemas.microsoft.com/office/drawing/2014/main" id="{52649B98-7A63-466E-924B-9D3414581C96}"/>
              </a:ext>
            </a:extLst>
          </p:cNvPr>
          <p:cNvSpPr/>
          <p:nvPr/>
        </p:nvSpPr>
        <p:spPr>
          <a:xfrm>
            <a:off x="1425361" y="4059536"/>
            <a:ext cx="6096000" cy="1938992"/>
          </a:xfrm>
          <a:prstGeom prst="rect">
            <a:avLst/>
          </a:prstGeom>
        </p:spPr>
        <p:txBody>
          <a:bodyPr>
            <a:spAutoFit/>
          </a:bodyPr>
          <a:lstStyle/>
          <a:p>
            <a:pPr algn="just"/>
            <a:r>
              <a:rPr lang="en-IN" sz="2000" dirty="0">
                <a:solidFill>
                  <a:schemeClr val="bg1"/>
                </a:solidFill>
              </a:rPr>
              <a:t>Peter F. Drucker’s Views on Entrepreneurs – “An entrepreneur is the one who always searches for change, responds to it and exploits it as an opportunity. Innovation is the specific tool of entrepreneurs, the means by which they exploit changes as an opportunity for a different business or different service”.</a:t>
            </a:r>
          </a:p>
        </p:txBody>
      </p:sp>
      <p:sp>
        <p:nvSpPr>
          <p:cNvPr id="6" name="Rectangle 5">
            <a:extLst>
              <a:ext uri="{FF2B5EF4-FFF2-40B4-BE49-F238E27FC236}">
                <a16:creationId xmlns:a16="http://schemas.microsoft.com/office/drawing/2014/main" id="{2EEF91AB-1452-438E-968C-8C80C06F9787}"/>
              </a:ext>
            </a:extLst>
          </p:cNvPr>
          <p:cNvSpPr/>
          <p:nvPr/>
        </p:nvSpPr>
        <p:spPr>
          <a:xfrm>
            <a:off x="103493" y="69852"/>
            <a:ext cx="2643737" cy="461665"/>
          </a:xfrm>
          <a:prstGeom prst="rect">
            <a:avLst/>
          </a:prstGeom>
        </p:spPr>
        <p:txBody>
          <a:bodyPr wrap="none">
            <a:spAutoFit/>
          </a:bodyPr>
          <a:lstStyle/>
          <a:p>
            <a:r>
              <a:rPr lang="en-IN" sz="2400" b="1" dirty="0">
                <a:solidFill>
                  <a:srgbClr val="92D050"/>
                </a:solidFill>
                <a:latin typeface="Times New Roman" panose="02020603050405020304" pitchFamily="18" charset="0"/>
                <a:cs typeface="Times New Roman" panose="02020603050405020304" pitchFamily="18" charset="0"/>
              </a:rPr>
              <a:t>Entrepreneurs…..</a:t>
            </a:r>
            <a:r>
              <a:rPr lang="en-IN" sz="2400" b="1" dirty="0">
                <a:solidFill>
                  <a:schemeClr val="bg1"/>
                </a:solidFill>
                <a:latin typeface="Times New Roman" panose="02020603050405020304" pitchFamily="18" charset="0"/>
                <a:cs typeface="Times New Roman" panose="02020603050405020304" pitchFamily="18" charset="0"/>
              </a:rPr>
              <a:t> </a:t>
            </a:r>
            <a:endParaRPr lang="en-IN" sz="2400" b="1" dirty="0">
              <a:solidFill>
                <a:schemeClr val="bg1"/>
              </a:solidFill>
            </a:endParaRPr>
          </a:p>
        </p:txBody>
      </p:sp>
      <p:sp>
        <p:nvSpPr>
          <p:cNvPr id="7" name="Rectangle 6">
            <a:extLst>
              <a:ext uri="{FF2B5EF4-FFF2-40B4-BE49-F238E27FC236}">
                <a16:creationId xmlns:a16="http://schemas.microsoft.com/office/drawing/2014/main" id="{B8270219-3CE2-4DA3-A7ED-F2148F666399}"/>
              </a:ext>
            </a:extLst>
          </p:cNvPr>
          <p:cNvSpPr/>
          <p:nvPr/>
        </p:nvSpPr>
        <p:spPr>
          <a:xfrm>
            <a:off x="7215809" y="1253416"/>
            <a:ext cx="4764156" cy="2554545"/>
          </a:xfrm>
          <a:prstGeom prst="rect">
            <a:avLst/>
          </a:prstGeom>
        </p:spPr>
        <p:txBody>
          <a:bodyPr wrap="square">
            <a:spAutoFit/>
          </a:bodyPr>
          <a:lstStyle/>
          <a:p>
            <a:pPr algn="just"/>
            <a:r>
              <a:rPr lang="en-IN" sz="2000" dirty="0" err="1">
                <a:solidFill>
                  <a:schemeClr val="bg1"/>
                </a:solidFill>
              </a:rPr>
              <a:t>ChatGPT</a:t>
            </a:r>
            <a:endParaRPr lang="en-IN" sz="2000" dirty="0">
              <a:solidFill>
                <a:schemeClr val="bg1"/>
              </a:solidFill>
            </a:endParaRPr>
          </a:p>
          <a:p>
            <a:pPr algn="just"/>
            <a:r>
              <a:rPr lang="en-IN" sz="2000" dirty="0">
                <a:solidFill>
                  <a:schemeClr val="bg1"/>
                </a:solidFill>
              </a:rPr>
              <a:t>Entrepreneurs are people who start new businesses or ventures, taking risks and driving innovation. They create jobs, introduce new products, and contribute to economic growth by seizing opportunities and solving problems.</a:t>
            </a:r>
          </a:p>
          <a:p>
            <a:pPr algn="just"/>
            <a:endParaRPr lang="en-IN" sz="2000" dirty="0">
              <a:solidFill>
                <a:schemeClr val="bg1"/>
              </a:solidFill>
            </a:endParaRPr>
          </a:p>
        </p:txBody>
      </p:sp>
      <p:sp>
        <p:nvSpPr>
          <p:cNvPr id="8" name="Rectangle 7">
            <a:extLst>
              <a:ext uri="{FF2B5EF4-FFF2-40B4-BE49-F238E27FC236}">
                <a16:creationId xmlns:a16="http://schemas.microsoft.com/office/drawing/2014/main" id="{48FAD053-4215-4D14-8F60-9805F78A3789}"/>
              </a:ext>
            </a:extLst>
          </p:cNvPr>
          <p:cNvSpPr/>
          <p:nvPr/>
        </p:nvSpPr>
        <p:spPr>
          <a:xfrm>
            <a:off x="907774" y="2622715"/>
            <a:ext cx="6096000" cy="1323439"/>
          </a:xfrm>
          <a:prstGeom prst="rect">
            <a:avLst/>
          </a:prstGeom>
        </p:spPr>
        <p:txBody>
          <a:bodyPr>
            <a:spAutoFit/>
          </a:bodyPr>
          <a:lstStyle/>
          <a:p>
            <a:pPr algn="just"/>
            <a:r>
              <a:rPr lang="en-IN" sz="2000" dirty="0">
                <a:solidFill>
                  <a:schemeClr val="accent1">
                    <a:lumMod val="20000"/>
                    <a:lumOff val="80000"/>
                  </a:schemeClr>
                </a:solidFill>
              </a:rPr>
              <a:t>According to the International Encyclopaedia, an entrepreneur is “An individual who bears the risk of operating a business in the face of uncertainty about the future conditions”.</a:t>
            </a:r>
          </a:p>
        </p:txBody>
      </p:sp>
      <p:pic>
        <p:nvPicPr>
          <p:cNvPr id="1026" name="Picture 2" descr="Meta AI announced, coming soon to Facebook, WhatsApp, Messenger &amp; Instagram  | TechNave">
            <a:extLst>
              <a:ext uri="{FF2B5EF4-FFF2-40B4-BE49-F238E27FC236}">
                <a16:creationId xmlns:a16="http://schemas.microsoft.com/office/drawing/2014/main" id="{4FFF5EAA-BAA6-4DC1-8AAD-D81852C9F1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6710" y="3500750"/>
            <a:ext cx="3882888" cy="276564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E9CF47E-16F1-4918-9037-F901CA0E93FA}"/>
              </a:ext>
            </a:extLst>
          </p:cNvPr>
          <p:cNvSpPr/>
          <p:nvPr/>
        </p:nvSpPr>
        <p:spPr>
          <a:xfrm>
            <a:off x="8189845" y="3452410"/>
            <a:ext cx="3896138" cy="2862322"/>
          </a:xfrm>
          <a:prstGeom prst="rect">
            <a:avLst/>
          </a:prstGeom>
        </p:spPr>
        <p:txBody>
          <a:bodyPr wrap="square">
            <a:spAutoFit/>
          </a:bodyPr>
          <a:lstStyle/>
          <a:p>
            <a:pPr algn="just"/>
            <a:r>
              <a:rPr lang="en-IN" sz="2000" dirty="0"/>
              <a:t>Entrepreneurs identify opportunities and turn them into innovative solutions. They build and manage teams, raise capital, and drive growth. With a keen sense of risk and reward, entrepreneurs pioneer new products, services, and business models that transform industries and improve lives.</a:t>
            </a:r>
          </a:p>
        </p:txBody>
      </p:sp>
    </p:spTree>
    <p:extLst>
      <p:ext uri="{BB962C8B-B14F-4D97-AF65-F5344CB8AC3E}">
        <p14:creationId xmlns:p14="http://schemas.microsoft.com/office/powerpoint/2010/main" val="4593985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AEB6EF4C-53AB-440F-9E31-067C836EB80E}"/>
              </a:ext>
            </a:extLst>
          </p:cNvPr>
          <p:cNvSpPr/>
          <p:nvPr/>
        </p:nvSpPr>
        <p:spPr>
          <a:xfrm>
            <a:off x="132520" y="187428"/>
            <a:ext cx="6326023" cy="6309420"/>
          </a:xfrm>
          <a:prstGeom prst="rect">
            <a:avLst/>
          </a:prstGeom>
        </p:spPr>
        <p:txBody>
          <a:bodyPr wrap="square">
            <a:spAutoFit/>
          </a:bodyPr>
          <a:lstStyle/>
          <a:p>
            <a:pPr algn="just"/>
            <a:r>
              <a:rPr lang="en-IN" sz="2400" b="1" dirty="0">
                <a:solidFill>
                  <a:srgbClr val="92D050"/>
                </a:solidFill>
                <a:latin typeface="Times New Roman" panose="02020603050405020304" pitchFamily="18" charset="0"/>
                <a:cs typeface="Times New Roman" panose="02020603050405020304" pitchFamily="18" charset="0"/>
              </a:rPr>
              <a:t>Characteristics and Qualities:</a:t>
            </a:r>
          </a:p>
          <a:p>
            <a:pPr marL="1257300" lvl="2" indent="-342900" algn="just">
              <a:buFont typeface="Wingdings" panose="05000000000000000000" pitchFamily="2" charset="2"/>
              <a:buChar char="Ø"/>
            </a:pPr>
            <a:r>
              <a:rPr lang="en-IN" sz="2000" b="1" dirty="0">
                <a:solidFill>
                  <a:schemeClr val="accent5">
                    <a:lumMod val="20000"/>
                    <a:lumOff val="80000"/>
                  </a:schemeClr>
                </a:solidFill>
              </a:rPr>
              <a:t>Determination </a:t>
            </a:r>
            <a:r>
              <a:rPr lang="en-IN" sz="2000" dirty="0">
                <a:solidFill>
                  <a:schemeClr val="accent5">
                    <a:lumMod val="20000"/>
                    <a:lumOff val="80000"/>
                  </a:schemeClr>
                </a:solidFill>
              </a:rPr>
              <a:t>- Determination is an important characteristic of successful entrepreneurs. You must be willing to face whatever you encounter without giving up.</a:t>
            </a:r>
          </a:p>
          <a:p>
            <a:pPr marL="1257300" lvl="2" indent="-342900" algn="just">
              <a:buFont typeface="Wingdings" panose="05000000000000000000" pitchFamily="2" charset="2"/>
              <a:buChar char="Ø"/>
            </a:pPr>
            <a:r>
              <a:rPr lang="en-IN" sz="2000" b="1" dirty="0">
                <a:solidFill>
                  <a:schemeClr val="accent5">
                    <a:lumMod val="20000"/>
                    <a:lumOff val="80000"/>
                  </a:schemeClr>
                </a:solidFill>
              </a:rPr>
              <a:t>Visionary:</a:t>
            </a:r>
            <a:r>
              <a:rPr lang="en-IN" sz="2000" dirty="0">
                <a:solidFill>
                  <a:schemeClr val="accent5">
                    <a:lumMod val="20000"/>
                    <a:lumOff val="80000"/>
                  </a:schemeClr>
                </a:solidFill>
              </a:rPr>
              <a:t> They have a clear vision of what they want to achieve and are driven by their goals.</a:t>
            </a:r>
          </a:p>
          <a:p>
            <a:pPr marL="1257300" lvl="2" indent="-342900" algn="just">
              <a:buFont typeface="Wingdings" panose="05000000000000000000" pitchFamily="2" charset="2"/>
              <a:buChar char="Ø"/>
            </a:pPr>
            <a:r>
              <a:rPr lang="en-IN" sz="2000" b="1" dirty="0">
                <a:solidFill>
                  <a:schemeClr val="accent5">
                    <a:lumMod val="20000"/>
                    <a:lumOff val="80000"/>
                  </a:schemeClr>
                </a:solidFill>
              </a:rPr>
              <a:t>Risk-taker:</a:t>
            </a:r>
            <a:r>
              <a:rPr lang="en-IN" sz="2000" dirty="0">
                <a:solidFill>
                  <a:schemeClr val="accent5">
                    <a:lumMod val="20000"/>
                    <a:lumOff val="80000"/>
                  </a:schemeClr>
                </a:solidFill>
              </a:rPr>
              <a:t> Willing to take calculated risks in pursuit of their vision, understanding that entrepreneurship inherently involves uncertainty.</a:t>
            </a:r>
          </a:p>
          <a:p>
            <a:pPr marL="1257300" lvl="2" indent="-342900" algn="just">
              <a:buFont typeface="Wingdings" panose="05000000000000000000" pitchFamily="2" charset="2"/>
              <a:buChar char="Ø"/>
            </a:pPr>
            <a:r>
              <a:rPr lang="en-IN" sz="2000" b="1" dirty="0">
                <a:solidFill>
                  <a:schemeClr val="accent5">
                    <a:lumMod val="20000"/>
                    <a:lumOff val="80000"/>
                  </a:schemeClr>
                </a:solidFill>
              </a:rPr>
              <a:t>Innovative:</a:t>
            </a:r>
            <a:r>
              <a:rPr lang="en-IN" sz="2000" dirty="0">
                <a:solidFill>
                  <a:schemeClr val="accent5">
                    <a:lumMod val="20000"/>
                    <a:lumOff val="80000"/>
                  </a:schemeClr>
                </a:solidFill>
              </a:rPr>
              <a:t> Constantly seeking new ideas, solutions, or approaches to address market needs or solve problems.</a:t>
            </a:r>
          </a:p>
          <a:p>
            <a:pPr marL="1257300" lvl="2" indent="-342900" algn="just">
              <a:buFont typeface="Wingdings" panose="05000000000000000000" pitchFamily="2" charset="2"/>
              <a:buChar char="Ø"/>
            </a:pPr>
            <a:r>
              <a:rPr lang="en-IN" sz="2000" b="1" dirty="0">
                <a:solidFill>
                  <a:schemeClr val="accent5">
                    <a:lumMod val="20000"/>
                    <a:lumOff val="80000"/>
                  </a:schemeClr>
                </a:solidFill>
              </a:rPr>
              <a:t>Adaptable:</a:t>
            </a:r>
            <a:r>
              <a:rPr lang="en-IN" sz="2000" dirty="0">
                <a:solidFill>
                  <a:schemeClr val="accent5">
                    <a:lumMod val="20000"/>
                    <a:lumOff val="80000"/>
                  </a:schemeClr>
                </a:solidFill>
              </a:rPr>
              <a:t> Flexibility to pivot strategies or adjust plans based on market feedback and changing circumstances.</a:t>
            </a:r>
          </a:p>
          <a:p>
            <a:pPr marL="1257300" lvl="2" indent="-342900" algn="just">
              <a:buFont typeface="Wingdings" panose="05000000000000000000" pitchFamily="2" charset="2"/>
              <a:buChar char="Ø"/>
            </a:pPr>
            <a:r>
              <a:rPr lang="en-IN" sz="2000" b="1" dirty="0">
                <a:solidFill>
                  <a:schemeClr val="accent5">
                    <a:lumMod val="20000"/>
                    <a:lumOff val="80000"/>
                  </a:schemeClr>
                </a:solidFill>
              </a:rPr>
              <a:t>Passionate:</a:t>
            </a:r>
            <a:r>
              <a:rPr lang="en-IN" sz="2000" dirty="0">
                <a:solidFill>
                  <a:schemeClr val="accent5">
                    <a:lumMod val="20000"/>
                    <a:lumOff val="80000"/>
                  </a:schemeClr>
                </a:solidFill>
              </a:rPr>
              <a:t> A strong passion and dedication to their business idea</a:t>
            </a:r>
          </a:p>
        </p:txBody>
      </p:sp>
      <p:sp>
        <p:nvSpPr>
          <p:cNvPr id="3" name="Rectangle 2">
            <a:extLst>
              <a:ext uri="{FF2B5EF4-FFF2-40B4-BE49-F238E27FC236}">
                <a16:creationId xmlns:a16="http://schemas.microsoft.com/office/drawing/2014/main" id="{2FFCA441-A688-4429-8BB9-CC0624671F01}"/>
              </a:ext>
            </a:extLst>
          </p:cNvPr>
          <p:cNvSpPr/>
          <p:nvPr/>
        </p:nvSpPr>
        <p:spPr>
          <a:xfrm>
            <a:off x="6670578" y="423796"/>
            <a:ext cx="5309387" cy="3754874"/>
          </a:xfrm>
          <a:prstGeom prst="rect">
            <a:avLst/>
          </a:prstGeom>
        </p:spPr>
        <p:txBody>
          <a:bodyPr wrap="square">
            <a:spAutoFit/>
          </a:bodyPr>
          <a:lstStyle/>
          <a:p>
            <a:pPr marL="342900" indent="-342900">
              <a:buFont typeface="Wingdings" panose="05000000000000000000" pitchFamily="2" charset="2"/>
              <a:buChar char="Ø"/>
            </a:pPr>
            <a:r>
              <a:rPr lang="en-IN" sz="2000" dirty="0">
                <a:solidFill>
                  <a:schemeClr val="accent5">
                    <a:lumMod val="20000"/>
                    <a:lumOff val="80000"/>
                  </a:schemeClr>
                </a:solidFill>
                <a:latin typeface="Trade Gothic W01 Bold 2"/>
              </a:rPr>
              <a:t>Curiosity - </a:t>
            </a:r>
            <a:r>
              <a:rPr lang="en-IN" sz="2000" dirty="0">
                <a:solidFill>
                  <a:schemeClr val="accent5">
                    <a:lumMod val="20000"/>
                    <a:lumOff val="80000"/>
                  </a:schemeClr>
                </a:solidFill>
              </a:rPr>
              <a:t> An entrepreneur's ability to remain curious allows them to continuously seek new opportunities.</a:t>
            </a:r>
            <a:endParaRPr lang="en-IN" sz="2000" dirty="0">
              <a:solidFill>
                <a:schemeClr val="accent5">
                  <a:lumMod val="20000"/>
                  <a:lumOff val="80000"/>
                </a:schemeClr>
              </a:solidFill>
              <a:latin typeface="Trade Gothic W01 Bold 2"/>
            </a:endParaRPr>
          </a:p>
          <a:p>
            <a:pPr marL="342900" indent="-342900">
              <a:buFont typeface="Wingdings" panose="05000000000000000000" pitchFamily="2" charset="2"/>
              <a:buChar char="Ø"/>
            </a:pPr>
            <a:r>
              <a:rPr lang="en-IN" sz="2000" dirty="0">
                <a:solidFill>
                  <a:schemeClr val="accent5">
                    <a:lumMod val="20000"/>
                    <a:lumOff val="80000"/>
                  </a:schemeClr>
                </a:solidFill>
              </a:rPr>
              <a:t>Willingness to Experiment</a:t>
            </a:r>
          </a:p>
          <a:p>
            <a:pPr marL="342900" indent="-342900">
              <a:buFont typeface="Wingdings" panose="05000000000000000000" pitchFamily="2" charset="2"/>
              <a:buChar char="Ø"/>
            </a:pPr>
            <a:r>
              <a:rPr lang="en-IN" sz="2000" dirty="0">
                <a:solidFill>
                  <a:schemeClr val="accent5">
                    <a:lumMod val="20000"/>
                    <a:lumOff val="80000"/>
                  </a:schemeClr>
                </a:solidFill>
              </a:rPr>
              <a:t>Decisiveness - To be successful, an entrepreneur has to make difficult decisions and stand by them</a:t>
            </a:r>
          </a:p>
          <a:p>
            <a:pPr marL="342900" indent="-342900">
              <a:buFont typeface="Wingdings" panose="05000000000000000000" pitchFamily="2" charset="2"/>
              <a:buChar char="Ø"/>
            </a:pPr>
            <a:r>
              <a:rPr lang="en-IN" sz="2000" dirty="0">
                <a:solidFill>
                  <a:schemeClr val="accent5">
                    <a:lumMod val="20000"/>
                    <a:lumOff val="80000"/>
                  </a:schemeClr>
                </a:solidFill>
              </a:rPr>
              <a:t>Self-Awareness- A great entrepreneur is aware of their strengths and weaknesses. </a:t>
            </a:r>
          </a:p>
          <a:p>
            <a:pPr marL="342900" indent="-342900">
              <a:buFont typeface="Wingdings" panose="05000000000000000000" pitchFamily="2" charset="2"/>
              <a:buChar char="Ø"/>
            </a:pPr>
            <a:r>
              <a:rPr lang="en-IN" sz="2000" dirty="0">
                <a:solidFill>
                  <a:schemeClr val="accent5">
                    <a:lumMod val="20000"/>
                    <a:lumOff val="80000"/>
                  </a:schemeClr>
                </a:solidFill>
              </a:rPr>
              <a:t>Long-Term Focus</a:t>
            </a:r>
          </a:p>
          <a:p>
            <a:pPr marL="342900" indent="-342900">
              <a:buFontTx/>
              <a:buAutoNum type="arabicPeriod"/>
            </a:pPr>
            <a:endParaRPr lang="en-IN" sz="2000" dirty="0">
              <a:solidFill>
                <a:schemeClr val="accent5">
                  <a:lumMod val="20000"/>
                  <a:lumOff val="80000"/>
                </a:schemeClr>
              </a:solidFill>
            </a:endParaRPr>
          </a:p>
          <a:p>
            <a:pPr marL="342900" indent="-342900">
              <a:buAutoNum type="arabicPeriod"/>
            </a:pPr>
            <a:endParaRPr lang="en-IN" b="0" i="0" dirty="0">
              <a:solidFill>
                <a:srgbClr val="181818"/>
              </a:solidFill>
              <a:effectLst/>
              <a:latin typeface="Trade Gothic W01 Bold 2"/>
            </a:endParaRPr>
          </a:p>
        </p:txBody>
      </p:sp>
    </p:spTree>
    <p:extLst>
      <p:ext uri="{BB962C8B-B14F-4D97-AF65-F5344CB8AC3E}">
        <p14:creationId xmlns:p14="http://schemas.microsoft.com/office/powerpoint/2010/main" val="18010640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nvGraphicFramePr>
        <p:xfrm>
          <a:off x="1524000" y="219960"/>
          <a:ext cx="8547652" cy="6370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1788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AF86B69F-A83B-473A-8452-B5D13EF85731}"/>
              </a:ext>
            </a:extLst>
          </p:cNvPr>
          <p:cNvGraphicFramePr/>
          <p:nvPr>
            <p:extLst>
              <p:ext uri="{D42A27DB-BD31-4B8C-83A1-F6EECF244321}">
                <p14:modId xmlns:p14="http://schemas.microsoft.com/office/powerpoint/2010/main" val="4118522023"/>
              </p:ext>
            </p:extLst>
          </p:nvPr>
        </p:nvGraphicFramePr>
        <p:xfrm>
          <a:off x="1563756" y="1324645"/>
          <a:ext cx="9674087" cy="4055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AB66DEF8-E1CB-4601-BAFC-8E229FE08088}"/>
              </a:ext>
            </a:extLst>
          </p:cNvPr>
          <p:cNvSpPr/>
          <p:nvPr/>
        </p:nvSpPr>
        <p:spPr>
          <a:xfrm>
            <a:off x="154244" y="246551"/>
            <a:ext cx="8731173" cy="523220"/>
          </a:xfrm>
          <a:prstGeom prst="rect">
            <a:avLst/>
          </a:prstGeom>
        </p:spPr>
        <p:txBody>
          <a:bodyPr wrap="none">
            <a:spAutoFit/>
          </a:bodyPr>
          <a:lstStyle/>
          <a:p>
            <a:r>
              <a:rPr lang="en-IN" sz="2800" b="1" dirty="0">
                <a:solidFill>
                  <a:schemeClr val="accent5">
                    <a:lumMod val="20000"/>
                    <a:lumOff val="80000"/>
                  </a:schemeClr>
                </a:solidFill>
              </a:rPr>
              <a:t>Entrepreneurs can be categorized into different types…… </a:t>
            </a:r>
          </a:p>
        </p:txBody>
      </p:sp>
    </p:spTree>
    <p:extLst>
      <p:ext uri="{BB962C8B-B14F-4D97-AF65-F5344CB8AC3E}">
        <p14:creationId xmlns:p14="http://schemas.microsoft.com/office/powerpoint/2010/main" val="25010755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graphicFrame>
        <p:nvGraphicFramePr>
          <p:cNvPr id="10" name="Diagram 9">
            <a:extLst>
              <a:ext uri="{FF2B5EF4-FFF2-40B4-BE49-F238E27FC236}">
                <a16:creationId xmlns:a16="http://schemas.microsoft.com/office/drawing/2014/main" id="{FD9691FB-C8DA-4EEE-BEAC-209985FE06B3}"/>
              </a:ext>
            </a:extLst>
          </p:cNvPr>
          <p:cNvGraphicFramePr/>
          <p:nvPr>
            <p:extLst>
              <p:ext uri="{D42A27DB-BD31-4B8C-83A1-F6EECF244321}">
                <p14:modId xmlns:p14="http://schemas.microsoft.com/office/powerpoint/2010/main" val="708353206"/>
              </p:ext>
            </p:extLst>
          </p:nvPr>
        </p:nvGraphicFramePr>
        <p:xfrm>
          <a:off x="212035" y="477078"/>
          <a:ext cx="11635409" cy="58296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21904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9C06F39-2CEB-42EC-8815-A9DBF5A4C892}"/>
              </a:ext>
            </a:extLst>
          </p:cNvPr>
          <p:cNvSpPr/>
          <p:nvPr/>
        </p:nvSpPr>
        <p:spPr>
          <a:xfrm>
            <a:off x="590029" y="832439"/>
            <a:ext cx="184731" cy="369332"/>
          </a:xfrm>
          <a:prstGeom prst="rect">
            <a:avLst/>
          </a:prstGeom>
        </p:spPr>
        <p:txBody>
          <a:bodyPr wrap="none">
            <a:spAutoFit/>
          </a:bodyPr>
          <a:lstStyle/>
          <a:p>
            <a:endParaRPr lang="en-IN" b="1" i="0" dirty="0">
              <a:solidFill>
                <a:srgbClr val="000000"/>
              </a:solidFill>
              <a:effectLst/>
              <a:latin typeface="arial" panose="020B0604020202020204" pitchFamily="34" charset="0"/>
            </a:endParaRPr>
          </a:p>
        </p:txBody>
      </p:sp>
      <p:graphicFrame>
        <p:nvGraphicFramePr>
          <p:cNvPr id="13" name="Diagram 12">
            <a:extLst>
              <a:ext uri="{FF2B5EF4-FFF2-40B4-BE49-F238E27FC236}">
                <a16:creationId xmlns:a16="http://schemas.microsoft.com/office/drawing/2014/main" id="{44C12D8C-3FFE-4290-91E4-AD60AA62034E}"/>
              </a:ext>
            </a:extLst>
          </p:cNvPr>
          <p:cNvGraphicFramePr/>
          <p:nvPr>
            <p:extLst>
              <p:ext uri="{D42A27DB-BD31-4B8C-83A1-F6EECF244321}">
                <p14:modId xmlns:p14="http://schemas.microsoft.com/office/powerpoint/2010/main" val="2179544096"/>
              </p:ext>
            </p:extLst>
          </p:nvPr>
        </p:nvGraphicFramePr>
        <p:xfrm>
          <a:off x="774760" y="832439"/>
          <a:ext cx="10578395" cy="49828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453997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9C06F39-2CEB-42EC-8815-A9DBF5A4C892}"/>
              </a:ext>
            </a:extLst>
          </p:cNvPr>
          <p:cNvSpPr/>
          <p:nvPr/>
        </p:nvSpPr>
        <p:spPr>
          <a:xfrm>
            <a:off x="590029" y="832439"/>
            <a:ext cx="184731" cy="369332"/>
          </a:xfrm>
          <a:prstGeom prst="rect">
            <a:avLst/>
          </a:prstGeom>
        </p:spPr>
        <p:txBody>
          <a:bodyPr wrap="none">
            <a:spAutoFit/>
          </a:bodyPr>
          <a:lstStyle/>
          <a:p>
            <a:endParaRPr lang="en-IN" b="1" i="0" dirty="0">
              <a:solidFill>
                <a:srgbClr val="000000"/>
              </a:solidFill>
              <a:effectLst/>
              <a:latin typeface="arial" panose="020B0604020202020204" pitchFamily="34" charset="0"/>
            </a:endParaRPr>
          </a:p>
        </p:txBody>
      </p:sp>
      <p:graphicFrame>
        <p:nvGraphicFramePr>
          <p:cNvPr id="6" name="Diagram 5">
            <a:extLst>
              <a:ext uri="{FF2B5EF4-FFF2-40B4-BE49-F238E27FC236}">
                <a16:creationId xmlns:a16="http://schemas.microsoft.com/office/drawing/2014/main" id="{ADCC6FD7-D626-47C9-B9EB-7065A77018F2}"/>
              </a:ext>
            </a:extLst>
          </p:cNvPr>
          <p:cNvGraphicFramePr/>
          <p:nvPr>
            <p:extLst>
              <p:ext uri="{D42A27DB-BD31-4B8C-83A1-F6EECF244321}">
                <p14:modId xmlns:p14="http://schemas.microsoft.com/office/powerpoint/2010/main" val="1415585815"/>
              </p:ext>
            </p:extLst>
          </p:nvPr>
        </p:nvGraphicFramePr>
        <p:xfrm>
          <a:off x="172278" y="375219"/>
          <a:ext cx="11926957" cy="5959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685258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05F0E81-3045-4C7E-A2F7-F1B68E6C6372}"/>
              </a:ext>
            </a:extLst>
          </p:cNvPr>
          <p:cNvSpPr/>
          <p:nvPr/>
        </p:nvSpPr>
        <p:spPr>
          <a:xfrm>
            <a:off x="344555" y="570495"/>
            <a:ext cx="6343631" cy="5693866"/>
          </a:xfrm>
          <a:prstGeom prst="rect">
            <a:avLst/>
          </a:prstGeom>
        </p:spPr>
        <p:txBody>
          <a:bodyPr wrap="square">
            <a:spAutoFit/>
          </a:bodyPr>
          <a:lstStyle/>
          <a:p>
            <a:pPr algn="just"/>
            <a:r>
              <a:rPr lang="en-IN" sz="2400" b="1" dirty="0">
                <a:solidFill>
                  <a:schemeClr val="bg1"/>
                </a:solidFill>
              </a:rPr>
              <a:t>Entrepreneurial Process:</a:t>
            </a:r>
            <a:endParaRPr lang="en-IN" sz="2400" dirty="0">
              <a:solidFill>
                <a:schemeClr val="bg1"/>
              </a:solidFill>
            </a:endParaRPr>
          </a:p>
          <a:p>
            <a:pPr algn="just">
              <a:buFont typeface="Arial" panose="020B0604020202020204" pitchFamily="34" charset="0"/>
              <a:buChar char="•"/>
            </a:pPr>
            <a:r>
              <a:rPr lang="en-IN" sz="2000" b="1" dirty="0">
                <a:solidFill>
                  <a:schemeClr val="bg1"/>
                </a:solidFill>
              </a:rPr>
              <a:t>Opportunity Recognition:</a:t>
            </a:r>
            <a:r>
              <a:rPr lang="en-IN" sz="2000" dirty="0">
                <a:solidFill>
                  <a:schemeClr val="bg1"/>
                </a:solidFill>
              </a:rPr>
              <a:t> Identifying gaps in the market, unmet needs, or emerging trends that present business opportunities.</a:t>
            </a:r>
          </a:p>
          <a:p>
            <a:pPr lvl="1" algn="just">
              <a:buFont typeface="Arial" panose="020B0604020202020204" pitchFamily="34" charset="0"/>
              <a:buChar char="•"/>
            </a:pPr>
            <a:r>
              <a:rPr lang="en-IN" sz="2000" b="1" dirty="0">
                <a:solidFill>
                  <a:srgbClr val="FFFF00"/>
                </a:solidFill>
              </a:rPr>
              <a:t>Business Planning:</a:t>
            </a:r>
            <a:r>
              <a:rPr lang="en-IN" sz="2000" dirty="0">
                <a:solidFill>
                  <a:srgbClr val="FFFF00"/>
                </a:solidFill>
              </a:rPr>
              <a:t> Developing a strategic business plan that outlines goals, target markets, products or services, marketing strategies, and financial projections.</a:t>
            </a:r>
          </a:p>
          <a:p>
            <a:pPr algn="just">
              <a:buFont typeface="Arial" panose="020B0604020202020204" pitchFamily="34" charset="0"/>
              <a:buChar char="•"/>
            </a:pPr>
            <a:r>
              <a:rPr lang="en-IN" sz="2000" b="1" dirty="0">
                <a:solidFill>
                  <a:schemeClr val="bg1"/>
                </a:solidFill>
              </a:rPr>
              <a:t>Execution:</a:t>
            </a:r>
            <a:r>
              <a:rPr lang="en-IN" sz="2000" dirty="0">
                <a:solidFill>
                  <a:schemeClr val="bg1"/>
                </a:solidFill>
              </a:rPr>
              <a:t> Putting the business plan into action, securing funding, building a team, developing products or services, and launching operations.</a:t>
            </a:r>
          </a:p>
          <a:p>
            <a:pPr lvl="1" algn="just">
              <a:buFont typeface="Arial" panose="020B0604020202020204" pitchFamily="34" charset="0"/>
              <a:buChar char="•"/>
            </a:pPr>
            <a:r>
              <a:rPr lang="en-IN" sz="2000" b="1" dirty="0">
                <a:solidFill>
                  <a:srgbClr val="FFFF00"/>
                </a:solidFill>
              </a:rPr>
              <a:t>Growth and Scaling:</a:t>
            </a:r>
            <a:r>
              <a:rPr lang="en-IN" sz="2000" dirty="0">
                <a:solidFill>
                  <a:srgbClr val="FFFF00"/>
                </a:solidFill>
              </a:rPr>
              <a:t> Expanding the business, entering new markets, increasing production or service capacity, and scaling operations to achieve profitability and sustainability.</a:t>
            </a:r>
          </a:p>
          <a:p>
            <a:pPr algn="just">
              <a:buFont typeface="Arial" panose="020B0604020202020204" pitchFamily="34" charset="0"/>
              <a:buChar char="•"/>
            </a:pPr>
            <a:r>
              <a:rPr lang="en-IN" sz="2000" b="1" dirty="0">
                <a:solidFill>
                  <a:schemeClr val="bg1"/>
                </a:solidFill>
              </a:rPr>
              <a:t>Adaptation and Innovation:</a:t>
            </a:r>
            <a:r>
              <a:rPr lang="en-IN" sz="2000" dirty="0">
                <a:solidFill>
                  <a:schemeClr val="bg1"/>
                </a:solidFill>
              </a:rPr>
              <a:t> Continuously evolving the business model, products, or services to stay competitive and relevant in a dynamic market environment.</a:t>
            </a:r>
          </a:p>
        </p:txBody>
      </p:sp>
      <p:sp>
        <p:nvSpPr>
          <p:cNvPr id="3" name="Oval 2">
            <a:extLst>
              <a:ext uri="{FF2B5EF4-FFF2-40B4-BE49-F238E27FC236}">
                <a16:creationId xmlns:a16="http://schemas.microsoft.com/office/drawing/2014/main" id="{C736A925-1CF7-4754-9B44-2DD57C13C212}"/>
              </a:ext>
            </a:extLst>
          </p:cNvPr>
          <p:cNvSpPr/>
          <p:nvPr/>
        </p:nvSpPr>
        <p:spPr>
          <a:xfrm>
            <a:off x="6923694" y="384313"/>
            <a:ext cx="4738218" cy="2919547"/>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IN" dirty="0">
                <a:solidFill>
                  <a:schemeClr val="bg1"/>
                </a:solidFill>
              </a:rPr>
              <a:t>Challenges: Entrepreneurs face challenges such as funding constraints, market competition, regulatory hurdles, and the risk of business failure.</a:t>
            </a:r>
          </a:p>
        </p:txBody>
      </p:sp>
      <p:sp>
        <p:nvSpPr>
          <p:cNvPr id="10" name="Oval 9">
            <a:extLst>
              <a:ext uri="{FF2B5EF4-FFF2-40B4-BE49-F238E27FC236}">
                <a16:creationId xmlns:a16="http://schemas.microsoft.com/office/drawing/2014/main" id="{2D31D7CA-BB98-476E-A430-4BCA8DF40C4B}"/>
              </a:ext>
            </a:extLst>
          </p:cNvPr>
          <p:cNvSpPr/>
          <p:nvPr/>
        </p:nvSpPr>
        <p:spPr>
          <a:xfrm>
            <a:off x="6900221" y="2835966"/>
            <a:ext cx="4947223" cy="3095432"/>
          </a:xfrm>
          <a:prstGeom prst="ellipse">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dirty="0">
                <a:solidFill>
                  <a:schemeClr val="bg1"/>
                </a:solidFill>
              </a:rPr>
              <a:t>Rewards: Successful entrepreneurs enjoy the rewards of financial independence, personal fulfilment, recognition, and the satisfaction of creating something valuable.</a:t>
            </a:r>
          </a:p>
        </p:txBody>
      </p:sp>
    </p:spTree>
    <p:extLst>
      <p:ext uri="{BB962C8B-B14F-4D97-AF65-F5344CB8AC3E}">
        <p14:creationId xmlns:p14="http://schemas.microsoft.com/office/powerpoint/2010/main" val="12286091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10853"/>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291547" y="2195855"/>
            <a:ext cx="11635409" cy="369332"/>
          </a:xfrm>
          <a:prstGeom prst="rect">
            <a:avLst/>
          </a:prstGeom>
        </p:spPr>
        <p:txBody>
          <a:bodyPr wrap="square">
            <a:spAutoFit/>
          </a:bodyPr>
          <a:lstStyle/>
          <a:p>
            <a:pPr marL="342900" indent="-342900" algn="just">
              <a:buFont typeface="Arial" panose="020B0604020202020204" pitchFamily="34" charset="0"/>
              <a:buChar char="•"/>
            </a:pPr>
            <a:endParaRPr lang="en-IN" dirty="0">
              <a:solidFill>
                <a:schemeClr val="bg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174F9221-AD8D-495C-9D2E-B6F62664381F}"/>
              </a:ext>
            </a:extLst>
          </p:cNvPr>
          <p:cNvSpPr/>
          <p:nvPr/>
        </p:nvSpPr>
        <p:spPr>
          <a:xfrm>
            <a:off x="2763079" y="755868"/>
            <a:ext cx="2451652" cy="120051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Motivation</a:t>
            </a:r>
            <a:r>
              <a:rPr lang="en-IN" dirty="0">
                <a:latin typeface="Times New Roman" panose="02020603050405020304" pitchFamily="18" charset="0"/>
                <a:cs typeface="Times New Roman" panose="02020603050405020304" pitchFamily="18" charset="0"/>
              </a:rPr>
              <a:t>: A strong drive to achieve goals and overcome challenges.</a:t>
            </a:r>
          </a:p>
        </p:txBody>
      </p:sp>
      <p:sp>
        <p:nvSpPr>
          <p:cNvPr id="11" name="Rectangle 10">
            <a:extLst>
              <a:ext uri="{FF2B5EF4-FFF2-40B4-BE49-F238E27FC236}">
                <a16:creationId xmlns:a16="http://schemas.microsoft.com/office/drawing/2014/main" id="{D7AECDF2-3C7D-4515-965E-FDA09F767B2D}"/>
              </a:ext>
            </a:extLst>
          </p:cNvPr>
          <p:cNvSpPr/>
          <p:nvPr/>
        </p:nvSpPr>
        <p:spPr>
          <a:xfrm>
            <a:off x="291547" y="954735"/>
            <a:ext cx="2199861" cy="192156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Passion - Discipline: An intense enthusiasm for their work coupled with the ability to maintain focus and dedication.</a:t>
            </a:r>
          </a:p>
        </p:txBody>
      </p:sp>
      <p:sp>
        <p:nvSpPr>
          <p:cNvPr id="12" name="Rectangle 11">
            <a:extLst>
              <a:ext uri="{FF2B5EF4-FFF2-40B4-BE49-F238E27FC236}">
                <a16:creationId xmlns:a16="http://schemas.microsoft.com/office/drawing/2014/main" id="{DFBD52F8-14DF-401A-ACAC-89DC92617FC7}"/>
              </a:ext>
            </a:extLst>
          </p:cNvPr>
          <p:cNvSpPr/>
          <p:nvPr/>
        </p:nvSpPr>
        <p:spPr>
          <a:xfrm>
            <a:off x="5337313" y="956529"/>
            <a:ext cx="3985590" cy="1360892"/>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b="1" dirty="0">
                <a:latin typeface="Times New Roman" panose="02020603050405020304" pitchFamily="18" charset="0"/>
                <a:cs typeface="Times New Roman" panose="02020603050405020304" pitchFamily="18" charset="0"/>
              </a:rPr>
              <a:t>Product/service knowledge/Process-Oriented/Creativity</a:t>
            </a:r>
            <a:r>
              <a:rPr lang="en-IN" dirty="0">
                <a:latin typeface="Times New Roman" panose="02020603050405020304" pitchFamily="18" charset="0"/>
                <a:cs typeface="Times New Roman" panose="02020603050405020304" pitchFamily="18" charset="0"/>
              </a:rPr>
              <a:t>: Deep understanding of their offerings, efficiency in processes, and innovative thinking.</a:t>
            </a:r>
          </a:p>
        </p:txBody>
      </p:sp>
      <p:sp>
        <p:nvSpPr>
          <p:cNvPr id="13" name="Rectangle 12">
            <a:extLst>
              <a:ext uri="{FF2B5EF4-FFF2-40B4-BE49-F238E27FC236}">
                <a16:creationId xmlns:a16="http://schemas.microsoft.com/office/drawing/2014/main" id="{54B3C7B0-D0B5-403F-96C1-EE4850197571}"/>
              </a:ext>
            </a:extLst>
          </p:cNvPr>
          <p:cNvSpPr/>
          <p:nvPr/>
        </p:nvSpPr>
        <p:spPr>
          <a:xfrm>
            <a:off x="9428920" y="1627424"/>
            <a:ext cx="2451652" cy="1640969"/>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Self-confidence/Self-Motivated/Confident</a:t>
            </a:r>
            <a:r>
              <a:rPr lang="en-IN" dirty="0">
                <a:latin typeface="Times New Roman" panose="02020603050405020304" pitchFamily="18" charset="0"/>
                <a:cs typeface="Times New Roman" panose="02020603050405020304" pitchFamily="18" charset="0"/>
              </a:rPr>
              <a:t>: Trust in one's abilities and inner drive to pursue objectives.</a:t>
            </a:r>
          </a:p>
        </p:txBody>
      </p:sp>
      <p:sp>
        <p:nvSpPr>
          <p:cNvPr id="14" name="Rectangle 13">
            <a:extLst>
              <a:ext uri="{FF2B5EF4-FFF2-40B4-BE49-F238E27FC236}">
                <a16:creationId xmlns:a16="http://schemas.microsoft.com/office/drawing/2014/main" id="{5A86BBF7-0ECF-413C-A8E2-3206167EACA0}"/>
              </a:ext>
            </a:extLst>
          </p:cNvPr>
          <p:cNvSpPr/>
          <p:nvPr/>
        </p:nvSpPr>
        <p:spPr>
          <a:xfrm>
            <a:off x="5314125" y="2389328"/>
            <a:ext cx="3526261" cy="1464184"/>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b="1" dirty="0">
                <a:latin typeface="Times New Roman" panose="02020603050405020304" pitchFamily="18" charset="0"/>
                <a:cs typeface="Times New Roman" panose="02020603050405020304" pitchFamily="18" charset="0"/>
              </a:rPr>
              <a:t>Risk management</a:t>
            </a:r>
            <a:r>
              <a:rPr lang="en-IN" dirty="0">
                <a:latin typeface="Times New Roman" panose="02020603050405020304" pitchFamily="18" charset="0"/>
                <a:cs typeface="Times New Roman" panose="02020603050405020304" pitchFamily="18" charset="0"/>
              </a:rPr>
              <a:t>: The ability to identify, assess, and mitigate potential risks.</a:t>
            </a:r>
          </a:p>
        </p:txBody>
      </p:sp>
      <p:sp>
        <p:nvSpPr>
          <p:cNvPr id="15" name="Rectangle 14">
            <a:extLst>
              <a:ext uri="{FF2B5EF4-FFF2-40B4-BE49-F238E27FC236}">
                <a16:creationId xmlns:a16="http://schemas.microsoft.com/office/drawing/2014/main" id="{2210246F-B4A5-411A-86C5-DAE758EC2BA0}"/>
              </a:ext>
            </a:extLst>
          </p:cNvPr>
          <p:cNvSpPr/>
          <p:nvPr/>
        </p:nvSpPr>
        <p:spPr>
          <a:xfrm>
            <a:off x="5272673" y="5294461"/>
            <a:ext cx="2451652" cy="1373915"/>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b="1" dirty="0">
                <a:latin typeface="Times New Roman" panose="02020603050405020304" pitchFamily="18" charset="0"/>
                <a:cs typeface="Times New Roman" panose="02020603050405020304" pitchFamily="18" charset="0"/>
              </a:rPr>
              <a:t>Money management</a:t>
            </a:r>
            <a:r>
              <a:rPr lang="en-IN" dirty="0">
                <a:latin typeface="Times New Roman" panose="02020603050405020304" pitchFamily="18" charset="0"/>
                <a:cs typeface="Times New Roman" panose="02020603050405020304" pitchFamily="18" charset="0"/>
              </a:rPr>
              <a:t>: Effective handling of finances to ensure business stability and growth.</a:t>
            </a:r>
          </a:p>
        </p:txBody>
      </p:sp>
      <p:sp>
        <p:nvSpPr>
          <p:cNvPr id="16" name="Rectangle 15">
            <a:extLst>
              <a:ext uri="{FF2B5EF4-FFF2-40B4-BE49-F238E27FC236}">
                <a16:creationId xmlns:a16="http://schemas.microsoft.com/office/drawing/2014/main" id="{E6D89768-240D-41A2-98FF-238A2CE83983}"/>
              </a:ext>
            </a:extLst>
          </p:cNvPr>
          <p:cNvSpPr/>
          <p:nvPr/>
        </p:nvSpPr>
        <p:spPr>
          <a:xfrm>
            <a:off x="186359" y="3484152"/>
            <a:ext cx="2065681" cy="126295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Vision</a:t>
            </a:r>
            <a:r>
              <a:rPr lang="en-IN" dirty="0">
                <a:latin typeface="Times New Roman" panose="02020603050405020304" pitchFamily="18" charset="0"/>
                <a:cs typeface="Times New Roman" panose="02020603050405020304" pitchFamily="18" charset="0"/>
              </a:rPr>
              <a:t>: A clear and strategic outlook on the future direction of the business.</a:t>
            </a:r>
          </a:p>
        </p:txBody>
      </p:sp>
      <p:sp>
        <p:nvSpPr>
          <p:cNvPr id="17" name="Rectangle 16">
            <a:extLst>
              <a:ext uri="{FF2B5EF4-FFF2-40B4-BE49-F238E27FC236}">
                <a16:creationId xmlns:a16="http://schemas.microsoft.com/office/drawing/2014/main" id="{E7F54E52-94A4-4D4D-8623-1A8545324FA9}"/>
              </a:ext>
            </a:extLst>
          </p:cNvPr>
          <p:cNvSpPr/>
          <p:nvPr/>
        </p:nvSpPr>
        <p:spPr>
          <a:xfrm>
            <a:off x="2657055" y="2588208"/>
            <a:ext cx="2451652" cy="13739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b="1" dirty="0">
                <a:latin typeface="Times New Roman" panose="02020603050405020304" pitchFamily="18" charset="0"/>
                <a:cs typeface="Times New Roman" panose="02020603050405020304" pitchFamily="18" charset="0"/>
              </a:rPr>
              <a:t>Decision-making ability</a:t>
            </a:r>
            <a:r>
              <a:rPr lang="en-IN" dirty="0">
                <a:latin typeface="Times New Roman" panose="02020603050405020304" pitchFamily="18" charset="0"/>
                <a:cs typeface="Times New Roman" panose="02020603050405020304" pitchFamily="18" charset="0"/>
              </a:rPr>
              <a:t>: The capacity to make informed and timely choices</a:t>
            </a:r>
          </a:p>
        </p:txBody>
      </p:sp>
      <p:sp>
        <p:nvSpPr>
          <p:cNvPr id="18" name="Rectangle 17">
            <a:extLst>
              <a:ext uri="{FF2B5EF4-FFF2-40B4-BE49-F238E27FC236}">
                <a16:creationId xmlns:a16="http://schemas.microsoft.com/office/drawing/2014/main" id="{AFE69EC3-C713-4985-BEBC-20B1F7824DF2}"/>
              </a:ext>
            </a:extLst>
          </p:cNvPr>
          <p:cNvSpPr/>
          <p:nvPr/>
        </p:nvSpPr>
        <p:spPr>
          <a:xfrm>
            <a:off x="8613088" y="5429039"/>
            <a:ext cx="3450539" cy="1184980"/>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Adaptability/Flexible</a:t>
            </a:r>
            <a:r>
              <a:rPr lang="en-IN" dirty="0">
                <a:latin typeface="Times New Roman" panose="02020603050405020304" pitchFamily="18" charset="0"/>
                <a:cs typeface="Times New Roman" panose="02020603050405020304" pitchFamily="18" charset="0"/>
              </a:rPr>
              <a:t>: The ability to adjust to new conditions and remain resilient.</a:t>
            </a:r>
          </a:p>
        </p:txBody>
      </p:sp>
      <p:sp>
        <p:nvSpPr>
          <p:cNvPr id="19" name="Rectangle 18">
            <a:extLst>
              <a:ext uri="{FF2B5EF4-FFF2-40B4-BE49-F238E27FC236}">
                <a16:creationId xmlns:a16="http://schemas.microsoft.com/office/drawing/2014/main" id="{556108B2-46FC-4282-B269-1C6F98885F82}"/>
              </a:ext>
            </a:extLst>
          </p:cNvPr>
          <p:cNvSpPr/>
          <p:nvPr/>
        </p:nvSpPr>
        <p:spPr>
          <a:xfrm>
            <a:off x="6771858" y="3844462"/>
            <a:ext cx="5287616" cy="1476728"/>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b="1" dirty="0">
                <a:latin typeface="Times New Roman" panose="02020603050405020304" pitchFamily="18" charset="0"/>
                <a:cs typeface="Times New Roman" panose="02020603050405020304" pitchFamily="18" charset="0"/>
              </a:rPr>
              <a:t>Ability to network/Communicative/Empathetic</a:t>
            </a:r>
            <a:r>
              <a:rPr lang="en-IN" dirty="0">
                <a:latin typeface="Times New Roman" panose="02020603050405020304" pitchFamily="18" charset="0"/>
                <a:cs typeface="Times New Roman" panose="02020603050405020304" pitchFamily="18" charset="0"/>
              </a:rPr>
              <a:t>: Building and maintaining relationships, effective communication, and understanding others' perspectives.</a:t>
            </a:r>
          </a:p>
        </p:txBody>
      </p:sp>
      <p:sp>
        <p:nvSpPr>
          <p:cNvPr id="20" name="Rectangle 19">
            <a:extLst>
              <a:ext uri="{FF2B5EF4-FFF2-40B4-BE49-F238E27FC236}">
                <a16:creationId xmlns:a16="http://schemas.microsoft.com/office/drawing/2014/main" id="{118E386A-7EA3-4044-A3D1-91DF2D6C4174}"/>
              </a:ext>
            </a:extLst>
          </p:cNvPr>
          <p:cNvSpPr/>
          <p:nvPr/>
        </p:nvSpPr>
        <p:spPr>
          <a:xfrm>
            <a:off x="2885661" y="4049426"/>
            <a:ext cx="2451652" cy="137391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b="1" dirty="0">
                <a:latin typeface="Times New Roman" panose="02020603050405020304" pitchFamily="18" charset="0"/>
                <a:cs typeface="Times New Roman" panose="02020603050405020304" pitchFamily="18" charset="0"/>
              </a:rPr>
              <a:t>Ethics and Integrity</a:t>
            </a:r>
            <a:r>
              <a:rPr lang="en-IN" dirty="0">
                <a:latin typeface="Times New Roman" panose="02020603050405020304" pitchFamily="18" charset="0"/>
                <a:cs typeface="Times New Roman" panose="02020603050405020304" pitchFamily="18" charset="0"/>
              </a:rPr>
              <a:t>: Upholding moral principles and honesty in all business dealings.</a:t>
            </a:r>
          </a:p>
          <a:p>
            <a:pPr>
              <a:buFont typeface="+mj-lt"/>
              <a:buAutoNum type="arabicPeriod"/>
            </a:pPr>
            <a:endParaRPr lang="en-IN"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6566858B-2C52-49FD-A20A-A73FE94F2B29}"/>
              </a:ext>
            </a:extLst>
          </p:cNvPr>
          <p:cNvSpPr/>
          <p:nvPr/>
        </p:nvSpPr>
        <p:spPr>
          <a:xfrm>
            <a:off x="187188" y="5155193"/>
            <a:ext cx="2811118" cy="137391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Learning and Growth</a:t>
            </a:r>
            <a:r>
              <a:rPr lang="en-IN" dirty="0">
                <a:latin typeface="Times New Roman" panose="02020603050405020304" pitchFamily="18" charset="0"/>
                <a:cs typeface="Times New Roman" panose="02020603050405020304" pitchFamily="18" charset="0"/>
              </a:rPr>
              <a:t>: A commitment to continuous personal and professional development.</a:t>
            </a:r>
          </a:p>
          <a:p>
            <a:pPr>
              <a:buFont typeface="+mj-lt"/>
              <a:buAutoNum type="arabicPeriod"/>
            </a:pPr>
            <a:endParaRPr lang="en-IN" dirty="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6DFE20EC-A3C1-4133-BB44-1289086D1695}"/>
              </a:ext>
            </a:extLst>
          </p:cNvPr>
          <p:cNvSpPr/>
          <p:nvPr/>
        </p:nvSpPr>
        <p:spPr>
          <a:xfrm>
            <a:off x="417976" y="152685"/>
            <a:ext cx="7387022" cy="461665"/>
          </a:xfrm>
          <a:prstGeom prst="rect">
            <a:avLst/>
          </a:prstGeom>
        </p:spPr>
        <p:txBody>
          <a:bodyPr wrap="none">
            <a:spAutoFit/>
          </a:bodyPr>
          <a:lstStyle/>
          <a:p>
            <a:r>
              <a:rPr lang="en-IN" sz="2400" b="1" dirty="0">
                <a:solidFill>
                  <a:srgbClr val="92D050"/>
                </a:solidFill>
                <a:latin typeface="Times New Roman" panose="02020603050405020304" pitchFamily="18" charset="0"/>
                <a:cs typeface="Times New Roman" panose="02020603050405020304" pitchFamily="18" charset="0"/>
              </a:rPr>
              <a:t>Personality traits and personal values of entrepreneurs</a:t>
            </a:r>
            <a:endParaRPr lang="en-IN" sz="2400" b="1" dirty="0">
              <a:solidFill>
                <a:srgbClr val="92D050"/>
              </a:solidFill>
            </a:endParaRPr>
          </a:p>
        </p:txBody>
      </p:sp>
    </p:spTree>
    <p:extLst>
      <p:ext uri="{BB962C8B-B14F-4D97-AF65-F5344CB8AC3E}">
        <p14:creationId xmlns:p14="http://schemas.microsoft.com/office/powerpoint/2010/main" val="13285487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13252" y="-1"/>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0B096A4C-ED50-4955-B99E-AC94DED4E36F}"/>
              </a:ext>
            </a:extLst>
          </p:cNvPr>
          <p:cNvSpPr/>
          <p:nvPr/>
        </p:nvSpPr>
        <p:spPr>
          <a:xfrm>
            <a:off x="304799" y="878370"/>
            <a:ext cx="5208105" cy="5355312"/>
          </a:xfrm>
          <a:prstGeom prst="rect">
            <a:avLst/>
          </a:prstGeom>
        </p:spPr>
        <p:txBody>
          <a:bodyPr wrap="square">
            <a:spAutoFit/>
          </a:bodyPr>
          <a:lstStyle/>
          <a:p>
            <a:r>
              <a:rPr lang="en-IN" b="1" dirty="0">
                <a:solidFill>
                  <a:schemeClr val="bg1"/>
                </a:solidFill>
                <a:latin typeface="Times New Roman" panose="02020603050405020304" pitchFamily="18" charset="0"/>
                <a:cs typeface="Times New Roman" panose="02020603050405020304" pitchFamily="18" charset="0"/>
              </a:rPr>
              <a:t>Elon Musk </a:t>
            </a:r>
          </a:p>
          <a:p>
            <a:r>
              <a:rPr lang="en-IN" dirty="0">
                <a:solidFill>
                  <a:schemeClr val="bg1"/>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Born on June 28, 1971, in Pretoria, South Africa</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Parents: Errol and Maye Musk</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Siblings: </a:t>
            </a:r>
            <a:r>
              <a:rPr lang="en-IN" dirty="0" err="1">
                <a:solidFill>
                  <a:schemeClr val="bg1"/>
                </a:solidFill>
                <a:latin typeface="Times New Roman" panose="02020603050405020304" pitchFamily="18" charset="0"/>
                <a:cs typeface="Times New Roman" panose="02020603050405020304" pitchFamily="18" charset="0"/>
              </a:rPr>
              <a:t>Kimbal</a:t>
            </a:r>
            <a:r>
              <a:rPr lang="en-IN" dirty="0">
                <a:solidFill>
                  <a:schemeClr val="bg1"/>
                </a:solidFill>
                <a:latin typeface="Times New Roman" panose="02020603050405020304" pitchFamily="18" charset="0"/>
                <a:cs typeface="Times New Roman" panose="02020603050405020304" pitchFamily="18" charset="0"/>
              </a:rPr>
              <a:t> and Tosca Musk</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Studied at the University of Pretoria, Queen's University, and the University of Pennsylvania</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Founded Zip2 in 1995, which was acquired by Compaq for $307 million</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Co-founded (link unavailable), which later became PayPal, in 1999</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Founded SpaceX in 2002</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Became the CEO of Tesla in 2008</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Founded </a:t>
            </a:r>
            <a:r>
              <a:rPr lang="en-IN" dirty="0" err="1">
                <a:solidFill>
                  <a:schemeClr val="bg1"/>
                </a:solidFill>
                <a:latin typeface="Times New Roman" panose="02020603050405020304" pitchFamily="18" charset="0"/>
                <a:cs typeface="Times New Roman" panose="02020603050405020304" pitchFamily="18" charset="0"/>
              </a:rPr>
              <a:t>Neuralink</a:t>
            </a:r>
            <a:r>
              <a:rPr lang="en-IN" dirty="0">
                <a:solidFill>
                  <a:schemeClr val="bg1"/>
                </a:solidFill>
                <a:latin typeface="Times New Roman" panose="02020603050405020304" pitchFamily="18" charset="0"/>
                <a:cs typeface="Times New Roman" panose="02020603050405020304" pitchFamily="18" charset="0"/>
              </a:rPr>
              <a:t> and The Boring Company in 2016</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Acquired Twitter for $44 billion in 2022</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Founded </a:t>
            </a:r>
            <a:r>
              <a:rPr lang="en-IN" dirty="0" err="1">
                <a:solidFill>
                  <a:schemeClr val="bg1"/>
                </a:solidFill>
                <a:latin typeface="Times New Roman" panose="02020603050405020304" pitchFamily="18" charset="0"/>
                <a:cs typeface="Times New Roman" panose="02020603050405020304" pitchFamily="18" charset="0"/>
              </a:rPr>
              <a:t>xAI</a:t>
            </a:r>
            <a:r>
              <a:rPr lang="en-IN" dirty="0">
                <a:solidFill>
                  <a:schemeClr val="bg1"/>
                </a:solidFill>
                <a:latin typeface="Times New Roman" panose="02020603050405020304" pitchFamily="18" charset="0"/>
                <a:cs typeface="Times New Roman" panose="02020603050405020304" pitchFamily="18" charset="0"/>
              </a:rPr>
              <a:t> in 2023</a:t>
            </a:r>
          </a:p>
          <a:p>
            <a:pPr marL="285750" indent="-285750">
              <a:buFont typeface="Arial" panose="020B0604020202020204" pitchFamily="34" charset="0"/>
              <a:buChar char="•"/>
            </a:pPr>
            <a:r>
              <a:rPr lang="en-IN" dirty="0">
                <a:solidFill>
                  <a:schemeClr val="bg1"/>
                </a:solidFill>
                <a:latin typeface="Times New Roman" panose="02020603050405020304" pitchFamily="18" charset="0"/>
                <a:cs typeface="Times New Roman" panose="02020603050405020304" pitchFamily="18" charset="0"/>
              </a:rPr>
              <a:t>- Estimated net worth of over $214 billion</a:t>
            </a:r>
          </a:p>
          <a:p>
            <a:endParaRPr lang="en-IN" dirty="0"/>
          </a:p>
        </p:txBody>
      </p:sp>
      <p:sp>
        <p:nvSpPr>
          <p:cNvPr id="9" name="Rectangle 8">
            <a:extLst>
              <a:ext uri="{FF2B5EF4-FFF2-40B4-BE49-F238E27FC236}">
                <a16:creationId xmlns:a16="http://schemas.microsoft.com/office/drawing/2014/main" id="{18834CAF-F592-4BD9-BD7F-3971005A2107}"/>
              </a:ext>
            </a:extLst>
          </p:cNvPr>
          <p:cNvSpPr/>
          <p:nvPr/>
        </p:nvSpPr>
        <p:spPr>
          <a:xfrm>
            <a:off x="5599043" y="629675"/>
            <a:ext cx="6294783" cy="5598649"/>
          </a:xfrm>
          <a:prstGeom prst="rect">
            <a:avLst/>
          </a:prstGeom>
        </p:spPr>
        <p:txBody>
          <a:bodyPr wrap="square">
            <a:spAutoFit/>
          </a:bodyPr>
          <a:lstStyle/>
          <a:p>
            <a:pPr>
              <a:lnSpc>
                <a:spcPct val="107000"/>
              </a:lnSpc>
              <a:spcAft>
                <a:spcPts val="800"/>
              </a:spcAft>
            </a:pPr>
            <a:r>
              <a:rPr lang="en-IN"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IN"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Steve Jobs</a:t>
            </a:r>
          </a:p>
          <a:p>
            <a:pPr marL="285750" lvl="0" indent="-285750">
              <a:buFont typeface="Arial" panose="020B0604020202020204" pitchFamily="34" charset="0"/>
              <a:buChar char="•"/>
            </a:pPr>
            <a:r>
              <a:rPr lang="en-IN" dirty="0">
                <a:solidFill>
                  <a:schemeClr val="bg1"/>
                </a:solidFill>
              </a:rPr>
              <a:t>Birth: February 24, 1955, in San Francisco, California</a:t>
            </a:r>
          </a:p>
          <a:p>
            <a:pPr marL="285750" lvl="0" indent="-285750">
              <a:buFont typeface="Arial" panose="020B0604020202020204" pitchFamily="34" charset="0"/>
              <a:buChar char="•"/>
            </a:pPr>
            <a:r>
              <a:rPr lang="en-IN" dirty="0">
                <a:solidFill>
                  <a:schemeClr val="bg1"/>
                </a:solidFill>
              </a:rPr>
              <a:t>Parents: </a:t>
            </a:r>
            <a:r>
              <a:rPr lang="en-IN" dirty="0" err="1">
                <a:solidFill>
                  <a:schemeClr val="bg1"/>
                </a:solidFill>
              </a:rPr>
              <a:t>Abdulfattah</a:t>
            </a:r>
            <a:r>
              <a:rPr lang="en-IN" dirty="0">
                <a:solidFill>
                  <a:schemeClr val="bg1"/>
                </a:solidFill>
              </a:rPr>
              <a:t> "John" Jandali and Joanne Carole Schieble</a:t>
            </a:r>
          </a:p>
          <a:p>
            <a:pPr marL="285750" lvl="0" indent="-285750">
              <a:buFont typeface="Arial" panose="020B0604020202020204" pitchFamily="34" charset="0"/>
              <a:buChar char="•"/>
            </a:pPr>
            <a:r>
              <a:rPr lang="en-IN" dirty="0">
                <a:solidFill>
                  <a:schemeClr val="bg1"/>
                </a:solidFill>
              </a:rPr>
              <a:t>Adopted by Paul and Clara Jobs</a:t>
            </a:r>
          </a:p>
          <a:p>
            <a:pPr marL="285750" lvl="0" indent="-285750">
              <a:buFont typeface="Arial" panose="020B0604020202020204" pitchFamily="34" charset="0"/>
              <a:buChar char="•"/>
            </a:pPr>
            <a:r>
              <a:rPr lang="en-IN" dirty="0">
                <a:solidFill>
                  <a:schemeClr val="bg1"/>
                </a:solidFill>
              </a:rPr>
              <a:t>Co-founder of Apple Inc., founded NeXT and was chairman and majority shareholder of Pixar</a:t>
            </a:r>
          </a:p>
          <a:p>
            <a:pPr marL="285750" lvl="0" indent="-285750">
              <a:buFont typeface="Arial" panose="020B0604020202020204" pitchFamily="34" charset="0"/>
              <a:buChar char="•"/>
            </a:pPr>
            <a:r>
              <a:rPr lang="en-IN" dirty="0">
                <a:solidFill>
                  <a:schemeClr val="bg1"/>
                </a:solidFill>
              </a:rPr>
              <a:t>Led the development of the Apple I, Apple II, Macintosh, iPod, iPhone and iPad</a:t>
            </a:r>
          </a:p>
          <a:p>
            <a:pPr marL="285750" lvl="0" indent="-285750">
              <a:buFont typeface="Arial" panose="020B0604020202020204" pitchFamily="34" charset="0"/>
              <a:buChar char="•"/>
            </a:pPr>
            <a:r>
              <a:rPr lang="en-IN" dirty="0">
                <a:solidFill>
                  <a:schemeClr val="bg1"/>
                </a:solidFill>
              </a:rPr>
              <a:t>Returned to Apple in 1997 and led the development of the iMac, iTunes, Mac OS X, Apple Store, iPod, iTunes Store, iPhone App Store, and iPad</a:t>
            </a:r>
          </a:p>
          <a:p>
            <a:pPr marL="285750" lvl="0" indent="-285750">
              <a:buFont typeface="Arial" panose="020B0604020202020204" pitchFamily="34" charset="0"/>
              <a:buChar char="•"/>
            </a:pPr>
            <a:r>
              <a:rPr lang="en-IN" dirty="0">
                <a:solidFill>
                  <a:schemeClr val="bg1"/>
                </a:solidFill>
              </a:rPr>
              <a:t>Diagnosed with pancreatic neuroendocrine </a:t>
            </a:r>
            <a:r>
              <a:rPr lang="en-IN" dirty="0" err="1">
                <a:solidFill>
                  <a:schemeClr val="bg1"/>
                </a:solidFill>
              </a:rPr>
              <a:t>tumor</a:t>
            </a:r>
            <a:r>
              <a:rPr lang="en-IN" dirty="0">
                <a:solidFill>
                  <a:schemeClr val="bg1"/>
                </a:solidFill>
              </a:rPr>
              <a:t> in 2003</a:t>
            </a:r>
          </a:p>
          <a:p>
            <a:pPr marL="285750" lvl="0" indent="-285750">
              <a:buFont typeface="Arial" panose="020B0604020202020204" pitchFamily="34" charset="0"/>
              <a:buChar char="•"/>
            </a:pPr>
            <a:r>
              <a:rPr lang="en-IN" dirty="0">
                <a:solidFill>
                  <a:schemeClr val="bg1"/>
                </a:solidFill>
              </a:rPr>
              <a:t>Died of respiratory arrest related to the </a:t>
            </a:r>
            <a:r>
              <a:rPr lang="en-IN" dirty="0" err="1">
                <a:solidFill>
                  <a:schemeClr val="bg1"/>
                </a:solidFill>
              </a:rPr>
              <a:t>tumor</a:t>
            </a:r>
            <a:r>
              <a:rPr lang="en-IN" dirty="0">
                <a:solidFill>
                  <a:schemeClr val="bg1"/>
                </a:solidFill>
              </a:rPr>
              <a:t> on October 5, 2011</a:t>
            </a:r>
          </a:p>
          <a:p>
            <a:pPr marL="285750" lvl="0" indent="-285750">
              <a:buFont typeface="Arial" panose="020B0604020202020204" pitchFamily="34" charset="0"/>
              <a:buChar char="•"/>
            </a:pPr>
            <a:r>
              <a:rPr lang="en-IN" dirty="0">
                <a:solidFill>
                  <a:schemeClr val="bg1"/>
                </a:solidFill>
              </a:rPr>
              <a:t>Posthumously awarded the Presidential Medal of Freedom in 2022</a:t>
            </a:r>
          </a:p>
          <a:p>
            <a:pPr>
              <a:lnSpc>
                <a:spcPct val="107000"/>
              </a:lnSpc>
              <a:spcAft>
                <a:spcPts val="800"/>
              </a:spcAft>
            </a:pP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42373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30138"/>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63E85E8A-2D7A-410A-98EF-B44ADD7504BC}"/>
              </a:ext>
            </a:extLst>
          </p:cNvPr>
          <p:cNvSpPr/>
          <p:nvPr/>
        </p:nvSpPr>
        <p:spPr>
          <a:xfrm>
            <a:off x="543783" y="144037"/>
            <a:ext cx="5152180" cy="523220"/>
          </a:xfrm>
          <a:prstGeom prst="rect">
            <a:avLst/>
          </a:prstGeom>
        </p:spPr>
        <p:txBody>
          <a:bodyPr wrap="none">
            <a:spAutoFit/>
          </a:bodyPr>
          <a:lstStyle/>
          <a:p>
            <a:r>
              <a:rPr lang="en-IN" sz="2800" b="1" u="sng" dirty="0">
                <a:solidFill>
                  <a:srgbClr val="92D050"/>
                </a:solidFill>
                <a:latin typeface="Times New Roman" panose="02020603050405020304" pitchFamily="18" charset="0"/>
                <a:cs typeface="Times New Roman" panose="02020603050405020304" pitchFamily="18" charset="0"/>
              </a:rPr>
              <a:t>Creativity and entrepreneurship</a:t>
            </a:r>
            <a:endParaRPr lang="en-IN" sz="2800" b="1" u="sng" dirty="0">
              <a:solidFill>
                <a:srgbClr val="92D050"/>
              </a:solidFill>
            </a:endParaRPr>
          </a:p>
        </p:txBody>
      </p:sp>
      <p:sp>
        <p:nvSpPr>
          <p:cNvPr id="4" name="AutoShape 2" descr="Creative Ai Icon - Free Download Science &amp; Technology Icons | IconScout">
            <a:extLst>
              <a:ext uri="{FF2B5EF4-FFF2-40B4-BE49-F238E27FC236}">
                <a16:creationId xmlns:a16="http://schemas.microsoft.com/office/drawing/2014/main" id="{937B5673-BE90-43AB-8454-6B544ED2362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Rectangle: Rounded Corners 12">
            <a:extLst>
              <a:ext uri="{FF2B5EF4-FFF2-40B4-BE49-F238E27FC236}">
                <a16:creationId xmlns:a16="http://schemas.microsoft.com/office/drawing/2014/main" id="{C9D30282-F8BB-4672-94E1-A0021FAF14FE}"/>
              </a:ext>
            </a:extLst>
          </p:cNvPr>
          <p:cNvSpPr/>
          <p:nvPr/>
        </p:nvSpPr>
        <p:spPr>
          <a:xfrm>
            <a:off x="5698435" y="3697357"/>
            <a:ext cx="45719" cy="530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36AFA949-74A4-49C0-8502-3A1FD5ECF258}"/>
              </a:ext>
            </a:extLst>
          </p:cNvPr>
          <p:cNvSpPr/>
          <p:nvPr/>
        </p:nvSpPr>
        <p:spPr>
          <a:xfrm>
            <a:off x="490839" y="4285499"/>
            <a:ext cx="11210321" cy="1172271"/>
          </a:xfrm>
          <a:prstGeom prst="roundRect">
            <a:avLst/>
          </a:prstGeom>
          <a:solidFill>
            <a:srgbClr val="7030A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2000" dirty="0">
                <a:latin typeface="Times New Roman" panose="02020603050405020304" pitchFamily="18" charset="0"/>
                <a:cs typeface="Times New Roman" panose="02020603050405020304" pitchFamily="18" charset="0"/>
              </a:rPr>
              <a:t>Creativity involves generating new and original ideas, while innovation involves implementing those ideas to create tangible value, such as new products, services, or processes.</a:t>
            </a:r>
          </a:p>
        </p:txBody>
      </p:sp>
      <p:sp>
        <p:nvSpPr>
          <p:cNvPr id="16" name="Flowchart: Sequential Access Storage 15">
            <a:extLst>
              <a:ext uri="{FF2B5EF4-FFF2-40B4-BE49-F238E27FC236}">
                <a16:creationId xmlns:a16="http://schemas.microsoft.com/office/drawing/2014/main" id="{8428FFF8-8B66-4899-9AFC-12D302440217}"/>
              </a:ext>
            </a:extLst>
          </p:cNvPr>
          <p:cNvSpPr/>
          <p:nvPr/>
        </p:nvSpPr>
        <p:spPr>
          <a:xfrm flipH="1">
            <a:off x="6448170" y="1278813"/>
            <a:ext cx="5439030" cy="2180325"/>
          </a:xfrm>
          <a:prstGeom prst="flowChartMagneticTap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latin typeface="Times New Roman" panose="02020603050405020304" pitchFamily="18" charset="0"/>
                <a:cs typeface="Times New Roman" panose="02020603050405020304" pitchFamily="18" charset="0"/>
              </a:rPr>
              <a:t>Innovation</a:t>
            </a:r>
            <a:r>
              <a:rPr lang="en-IN" sz="2000" dirty="0">
                <a:latin typeface="Times New Roman" panose="02020603050405020304" pitchFamily="18" charset="0"/>
                <a:cs typeface="Times New Roman" panose="02020603050405020304" pitchFamily="18" charset="0"/>
              </a:rPr>
              <a:t> refers to the process of creating new ideas, methods, or products that bring about significant change or improvement</a:t>
            </a:r>
          </a:p>
          <a:p>
            <a:pPr algn="ctr"/>
            <a:endParaRPr lang="en-IN" dirty="0"/>
          </a:p>
        </p:txBody>
      </p:sp>
      <p:sp>
        <p:nvSpPr>
          <p:cNvPr id="17" name="Flowchart: Sequential Access Storage 16">
            <a:extLst>
              <a:ext uri="{FF2B5EF4-FFF2-40B4-BE49-F238E27FC236}">
                <a16:creationId xmlns:a16="http://schemas.microsoft.com/office/drawing/2014/main" id="{115BEE25-55A2-4835-858C-821BC27D6BC5}"/>
              </a:ext>
            </a:extLst>
          </p:cNvPr>
          <p:cNvSpPr/>
          <p:nvPr/>
        </p:nvSpPr>
        <p:spPr>
          <a:xfrm>
            <a:off x="212035" y="786432"/>
            <a:ext cx="5685184" cy="2180325"/>
          </a:xfrm>
          <a:prstGeom prst="flowChartMagneticTap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latin typeface="Times New Roman" panose="02020603050405020304" pitchFamily="18" charset="0"/>
                <a:cs typeface="Times New Roman" panose="02020603050405020304" pitchFamily="18" charset="0"/>
              </a:rPr>
              <a:t>Creativity</a:t>
            </a:r>
            <a:r>
              <a:rPr lang="en-IN" sz="2000" dirty="0">
                <a:latin typeface="Times New Roman" panose="02020603050405020304" pitchFamily="18" charset="0"/>
                <a:cs typeface="Times New Roman" panose="02020603050405020304" pitchFamily="18" charset="0"/>
              </a:rPr>
              <a:t> is the ability to generate valuable and original ideas or solutions</a:t>
            </a:r>
          </a:p>
          <a:p>
            <a:pPr algn="ctr"/>
            <a:endParaRPr lang="en-IN" dirty="0"/>
          </a:p>
        </p:txBody>
      </p:sp>
    </p:spTree>
    <p:extLst>
      <p:ext uri="{BB962C8B-B14F-4D97-AF65-F5344CB8AC3E}">
        <p14:creationId xmlns:p14="http://schemas.microsoft.com/office/powerpoint/2010/main" val="29586488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9C2162A-3BEE-4E86-BFA1-6627912BCD45}"/>
              </a:ext>
            </a:extLst>
          </p:cNvPr>
          <p:cNvSpPr/>
          <p:nvPr/>
        </p:nvSpPr>
        <p:spPr>
          <a:xfrm>
            <a:off x="921026" y="378098"/>
            <a:ext cx="10349948" cy="4893647"/>
          </a:xfrm>
          <a:prstGeom prst="rect">
            <a:avLst/>
          </a:prstGeom>
        </p:spPr>
        <p:txBody>
          <a:bodyPr wrap="square">
            <a:spAutoFit/>
          </a:bodyPr>
          <a:lstStyle/>
          <a:p>
            <a:r>
              <a:rPr lang="en-IN" sz="2400" b="1" dirty="0">
                <a:latin typeface="Times New Roman" panose="02020603050405020304" pitchFamily="18" charset="0"/>
                <a:cs typeface="Times New Roman" panose="02020603050405020304" pitchFamily="18" charset="0"/>
              </a:rPr>
              <a:t>How to be more creative.</a:t>
            </a:r>
          </a:p>
          <a:p>
            <a:r>
              <a:rPr lang="en-IN" sz="2400" b="1" dirty="0">
                <a:latin typeface="Times New Roman" panose="02020603050405020304" pitchFamily="18" charset="0"/>
                <a:cs typeface="Times New Roman" panose="02020603050405020304" pitchFamily="18" charset="0"/>
              </a:rPr>
              <a:t> </a:t>
            </a:r>
          </a:p>
          <a:p>
            <a:pPr marL="1714500" lvl="3"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Have a growth mindset. </a:t>
            </a:r>
          </a:p>
          <a:p>
            <a:pPr marL="1714500" lvl="3"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 open to new ideas</a:t>
            </a:r>
          </a:p>
          <a:p>
            <a:pPr marL="1714500" lvl="3"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Practice creative thinking. </a:t>
            </a:r>
          </a:p>
          <a:p>
            <a:pPr marL="1714500" lvl="3"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Take risks. </a:t>
            </a:r>
          </a:p>
          <a:p>
            <a:pPr marL="1714500" lvl="3"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Think outside the box.</a:t>
            </a:r>
          </a:p>
          <a:p>
            <a:pPr marL="1714500" lvl="3"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 passionate about what you do.</a:t>
            </a:r>
          </a:p>
          <a:p>
            <a:pPr marL="1714500" lvl="3"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 willing to experiment. </a:t>
            </a:r>
          </a:p>
          <a:p>
            <a:pPr marL="1714500" lvl="3"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Brain activities regularly- </a:t>
            </a:r>
          </a:p>
          <a:p>
            <a:pPr lvl="3"/>
            <a:r>
              <a:rPr lang="en-IN" sz="2400" dirty="0">
                <a:latin typeface="Times New Roman" panose="02020603050405020304" pitchFamily="18" charset="0"/>
                <a:cs typeface="Times New Roman" panose="02020603050405020304" pitchFamily="18" charset="0"/>
              </a:rPr>
              <a:t>	Right brain - painting, playing music, creating music, reading</a:t>
            </a:r>
          </a:p>
          <a:p>
            <a:pPr lvl="3"/>
            <a:r>
              <a:rPr lang="en-IN" sz="2400" dirty="0">
                <a:latin typeface="Times New Roman" panose="02020603050405020304" pitchFamily="18" charset="0"/>
                <a:cs typeface="Times New Roman" panose="02020603050405020304" pitchFamily="18" charset="0"/>
              </a:rPr>
              <a:t>	Left brain- writing </a:t>
            </a:r>
          </a:p>
          <a:p>
            <a:pPr marL="1714500" lvl="3"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Surround yourself with other creative and innovative people. </a:t>
            </a:r>
          </a:p>
        </p:txBody>
      </p:sp>
    </p:spTree>
    <p:extLst>
      <p:ext uri="{BB962C8B-B14F-4D97-AF65-F5344CB8AC3E}">
        <p14:creationId xmlns:p14="http://schemas.microsoft.com/office/powerpoint/2010/main" val="3726910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4" name="Arrow: Pentagon 3">
            <a:extLst>
              <a:ext uri="{FF2B5EF4-FFF2-40B4-BE49-F238E27FC236}">
                <a16:creationId xmlns:a16="http://schemas.microsoft.com/office/drawing/2014/main" id="{0508BA4F-F824-48A4-8FB1-08DB29CAB563}"/>
              </a:ext>
            </a:extLst>
          </p:cNvPr>
          <p:cNvSpPr/>
          <p:nvPr/>
        </p:nvSpPr>
        <p:spPr>
          <a:xfrm>
            <a:off x="455445" y="677897"/>
            <a:ext cx="2549486" cy="1192131"/>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IN" dirty="0">
                <a:solidFill>
                  <a:schemeClr val="bg1"/>
                </a:solidFill>
                <a:latin typeface="Times New Roman" panose="02020603050405020304" pitchFamily="18" charset="0"/>
                <a:cs typeface="Times New Roman" panose="02020603050405020304" pitchFamily="18" charset="0"/>
              </a:rPr>
              <a:t>Coming up with branding and marketing ideas</a:t>
            </a:r>
          </a:p>
        </p:txBody>
      </p:sp>
      <p:sp>
        <p:nvSpPr>
          <p:cNvPr id="7" name="Arrow: Pentagon 6">
            <a:extLst>
              <a:ext uri="{FF2B5EF4-FFF2-40B4-BE49-F238E27FC236}">
                <a16:creationId xmlns:a16="http://schemas.microsoft.com/office/drawing/2014/main" id="{3220CC51-605E-40D2-8016-DFA188C282F6}"/>
              </a:ext>
            </a:extLst>
          </p:cNvPr>
          <p:cNvSpPr/>
          <p:nvPr/>
        </p:nvSpPr>
        <p:spPr>
          <a:xfrm>
            <a:off x="4152801" y="2878459"/>
            <a:ext cx="2743200" cy="119213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IN" dirty="0">
                <a:solidFill>
                  <a:schemeClr val="bg1"/>
                </a:solidFill>
                <a:latin typeface="Times New Roman" panose="02020603050405020304" pitchFamily="18" charset="0"/>
                <a:cs typeface="Times New Roman" panose="02020603050405020304" pitchFamily="18" charset="0"/>
              </a:rPr>
              <a:t>Creative ideas for blogs, other SEO-related content</a:t>
            </a:r>
          </a:p>
        </p:txBody>
      </p:sp>
      <p:sp>
        <p:nvSpPr>
          <p:cNvPr id="8" name="Arrow: Pentagon 7">
            <a:extLst>
              <a:ext uri="{FF2B5EF4-FFF2-40B4-BE49-F238E27FC236}">
                <a16:creationId xmlns:a16="http://schemas.microsoft.com/office/drawing/2014/main" id="{5A2072A1-A6C9-4B40-95E1-ECFB3A926EE3}"/>
              </a:ext>
            </a:extLst>
          </p:cNvPr>
          <p:cNvSpPr/>
          <p:nvPr/>
        </p:nvSpPr>
        <p:spPr>
          <a:xfrm>
            <a:off x="2232789" y="1675989"/>
            <a:ext cx="2743200" cy="119213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IN" dirty="0">
                <a:solidFill>
                  <a:schemeClr val="bg1"/>
                </a:solidFill>
                <a:latin typeface="Times New Roman" panose="02020603050405020304" pitchFamily="18" charset="0"/>
                <a:cs typeface="Times New Roman" panose="02020603050405020304" pitchFamily="18" charset="0"/>
              </a:rPr>
              <a:t>Finding creative solutions to everyday business problems</a:t>
            </a:r>
          </a:p>
        </p:txBody>
      </p:sp>
      <p:sp>
        <p:nvSpPr>
          <p:cNvPr id="9" name="Arrow: Pentagon 8">
            <a:extLst>
              <a:ext uri="{FF2B5EF4-FFF2-40B4-BE49-F238E27FC236}">
                <a16:creationId xmlns:a16="http://schemas.microsoft.com/office/drawing/2014/main" id="{B36B7CFD-D73E-4094-9266-E1FC640E036E}"/>
              </a:ext>
            </a:extLst>
          </p:cNvPr>
          <p:cNvSpPr/>
          <p:nvPr/>
        </p:nvSpPr>
        <p:spPr>
          <a:xfrm>
            <a:off x="8077305" y="5002175"/>
            <a:ext cx="3597859" cy="1093826"/>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IN" dirty="0">
                <a:solidFill>
                  <a:schemeClr val="bg1"/>
                </a:solidFill>
                <a:latin typeface="Times New Roman" panose="02020603050405020304" pitchFamily="18" charset="0"/>
                <a:cs typeface="Times New Roman" panose="02020603050405020304" pitchFamily="18" charset="0"/>
              </a:rPr>
              <a:t>Fun and exciting social media strategies</a:t>
            </a:r>
          </a:p>
        </p:txBody>
      </p:sp>
      <p:sp>
        <p:nvSpPr>
          <p:cNvPr id="10" name="Arrow: Pentagon 9">
            <a:extLst>
              <a:ext uri="{FF2B5EF4-FFF2-40B4-BE49-F238E27FC236}">
                <a16:creationId xmlns:a16="http://schemas.microsoft.com/office/drawing/2014/main" id="{BF6ABC1E-02E4-45A2-A89D-E665BAF65649}"/>
              </a:ext>
            </a:extLst>
          </p:cNvPr>
          <p:cNvSpPr/>
          <p:nvPr/>
        </p:nvSpPr>
        <p:spPr>
          <a:xfrm>
            <a:off x="6072813" y="3874131"/>
            <a:ext cx="2743200" cy="1444487"/>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IN" dirty="0">
                <a:solidFill>
                  <a:schemeClr val="bg1"/>
                </a:solidFill>
                <a:latin typeface="Times New Roman" panose="02020603050405020304" pitchFamily="18" charset="0"/>
                <a:cs typeface="Times New Roman" panose="02020603050405020304" pitchFamily="18" charset="0"/>
              </a:rPr>
              <a:t>A good balance of linear and lateral thinking</a:t>
            </a:r>
          </a:p>
        </p:txBody>
      </p:sp>
      <p:sp>
        <p:nvSpPr>
          <p:cNvPr id="6" name="Rectangle 5">
            <a:extLst>
              <a:ext uri="{FF2B5EF4-FFF2-40B4-BE49-F238E27FC236}">
                <a16:creationId xmlns:a16="http://schemas.microsoft.com/office/drawing/2014/main" id="{21A3E584-DC58-4309-A5F4-0409C8C8D7CC}"/>
              </a:ext>
            </a:extLst>
          </p:cNvPr>
          <p:cNvSpPr/>
          <p:nvPr/>
        </p:nvSpPr>
        <p:spPr>
          <a:xfrm>
            <a:off x="3092399" y="99818"/>
            <a:ext cx="5583131" cy="584775"/>
          </a:xfrm>
          <a:prstGeom prst="rect">
            <a:avLst/>
          </a:prstGeom>
        </p:spPr>
        <p:txBody>
          <a:bodyPr wrap="none">
            <a:spAutoFit/>
          </a:bodyPr>
          <a:lstStyle/>
          <a:p>
            <a:pPr lvl="0"/>
            <a:r>
              <a:rPr lang="en-IN" sz="3200" b="1" dirty="0">
                <a:solidFill>
                  <a:schemeClr val="bg1"/>
                </a:solidFill>
                <a:latin typeface="Times New Roman" panose="02020603050405020304" pitchFamily="18" charset="0"/>
                <a:cs typeface="Times New Roman" panose="02020603050405020304" pitchFamily="18" charset="0"/>
              </a:rPr>
              <a:t>Creativity  driving force- </a:t>
            </a:r>
            <a:r>
              <a:rPr lang="en-IN" sz="3200" b="1" dirty="0" smtClean="0">
                <a:solidFill>
                  <a:schemeClr val="bg1"/>
                </a:solidFill>
                <a:latin typeface="Times New Roman" panose="02020603050405020304" pitchFamily="18" charset="0"/>
                <a:cs typeface="Times New Roman" panose="02020603050405020304" pitchFamily="18" charset="0"/>
              </a:rPr>
              <a:t>2025 </a:t>
            </a:r>
            <a:endParaRPr lang="en-IN" sz="3200" b="1" dirty="0">
              <a:solidFill>
                <a:schemeClr val="bg1"/>
              </a:solidFill>
              <a:latin typeface="Times New Roman" panose="02020603050405020304" pitchFamily="18" charset="0"/>
              <a:cs typeface="Times New Roman" panose="02020603050405020304" pitchFamily="18" charset="0"/>
            </a:endParaRPr>
          </a:p>
        </p:txBody>
      </p:sp>
      <p:sp>
        <p:nvSpPr>
          <p:cNvPr id="3" name="Rectangle 2"/>
          <p:cNvSpPr/>
          <p:nvPr/>
        </p:nvSpPr>
        <p:spPr>
          <a:xfrm>
            <a:off x="166855" y="3928725"/>
            <a:ext cx="4809134" cy="2246769"/>
          </a:xfrm>
          <a:prstGeom prst="rect">
            <a:avLst/>
          </a:prstGeom>
        </p:spPr>
        <p:txBody>
          <a:bodyPr wrap="square">
            <a:spAutoFit/>
          </a:bodyPr>
          <a:lstStyle/>
          <a:p>
            <a:r>
              <a:rPr lang="en-US" sz="2000" dirty="0" smtClean="0">
                <a:solidFill>
                  <a:schemeClr val="bg1"/>
                </a:solidFill>
              </a:rPr>
              <a:t>It’s </a:t>
            </a:r>
            <a:r>
              <a:rPr lang="en-US" sz="2000" dirty="0">
                <a:solidFill>
                  <a:schemeClr val="bg1"/>
                </a:solidFill>
              </a:rPr>
              <a:t>creativity that:</a:t>
            </a:r>
          </a:p>
          <a:p>
            <a:pPr lvl="1">
              <a:buFont typeface="Arial" panose="020B0604020202020204" pitchFamily="34" charset="0"/>
              <a:buChar char="•"/>
            </a:pPr>
            <a:r>
              <a:rPr lang="en-US" sz="2000" dirty="0">
                <a:solidFill>
                  <a:schemeClr val="bg1"/>
                </a:solidFill>
              </a:rPr>
              <a:t>Turns local challenges into global ideas</a:t>
            </a:r>
          </a:p>
          <a:p>
            <a:pPr lvl="1">
              <a:buFont typeface="Arial" panose="020B0604020202020204" pitchFamily="34" charset="0"/>
              <a:buChar char="•"/>
            </a:pPr>
            <a:r>
              <a:rPr lang="en-US" sz="2000" dirty="0">
                <a:solidFill>
                  <a:schemeClr val="bg1"/>
                </a:solidFill>
              </a:rPr>
              <a:t>Blends tradition with tech in rural enterprises</a:t>
            </a:r>
          </a:p>
          <a:p>
            <a:pPr lvl="1">
              <a:buFont typeface="Arial" panose="020B0604020202020204" pitchFamily="34" charset="0"/>
              <a:buChar char="•"/>
            </a:pPr>
            <a:r>
              <a:rPr lang="en-US" sz="2000" dirty="0">
                <a:solidFill>
                  <a:schemeClr val="bg1"/>
                </a:solidFill>
              </a:rPr>
              <a:t>Shapes new models in sustainability and social impact</a:t>
            </a:r>
          </a:p>
          <a:p>
            <a:pPr lvl="1">
              <a:buFont typeface="Arial" panose="020B0604020202020204" pitchFamily="34" charset="0"/>
              <a:buChar char="•"/>
            </a:pPr>
            <a:r>
              <a:rPr lang="en-US" sz="2000" dirty="0">
                <a:solidFill>
                  <a:schemeClr val="bg1"/>
                </a:solidFill>
              </a:rPr>
              <a:t>Builds lean startups with big visions</a:t>
            </a:r>
          </a:p>
        </p:txBody>
      </p:sp>
      <p:sp>
        <p:nvSpPr>
          <p:cNvPr id="11" name="Rectangle 10"/>
          <p:cNvSpPr/>
          <p:nvPr/>
        </p:nvSpPr>
        <p:spPr>
          <a:xfrm>
            <a:off x="5128591" y="1011246"/>
            <a:ext cx="6096000" cy="923330"/>
          </a:xfrm>
          <a:prstGeom prst="rect">
            <a:avLst/>
          </a:prstGeom>
        </p:spPr>
        <p:txBody>
          <a:bodyPr>
            <a:spAutoFit/>
          </a:bodyPr>
          <a:lstStyle/>
          <a:p>
            <a:r>
              <a:rPr lang="en-US" dirty="0">
                <a:solidFill>
                  <a:schemeClr val="bg1"/>
                </a:solidFill>
              </a:rPr>
              <a:t>Creative thinking is what helps entrepreneurs see </a:t>
            </a:r>
            <a:r>
              <a:rPr lang="en-US" b="1" dirty="0">
                <a:solidFill>
                  <a:schemeClr val="bg1"/>
                </a:solidFill>
              </a:rPr>
              <a:t>opportunity where others see obstacles</a:t>
            </a:r>
            <a:r>
              <a:rPr lang="en-US" dirty="0">
                <a:solidFill>
                  <a:schemeClr val="bg1"/>
                </a:solidFill>
              </a:rPr>
              <a:t>, and </a:t>
            </a:r>
            <a:r>
              <a:rPr lang="en-US" b="1" dirty="0">
                <a:solidFill>
                  <a:schemeClr val="bg1"/>
                </a:solidFill>
              </a:rPr>
              <a:t>solutions where others see problems</a:t>
            </a:r>
            <a:r>
              <a:rPr lang="en-US" dirty="0">
                <a:solidFill>
                  <a:schemeClr val="bg1"/>
                </a:solidFill>
              </a:rPr>
              <a:t>.</a:t>
            </a:r>
            <a:endParaRPr lang="en-US" dirty="0">
              <a:solidFill>
                <a:schemeClr val="bg1"/>
              </a:solidFill>
            </a:endParaRPr>
          </a:p>
        </p:txBody>
      </p:sp>
    </p:spTree>
    <p:extLst>
      <p:ext uri="{BB962C8B-B14F-4D97-AF65-F5344CB8AC3E}">
        <p14:creationId xmlns:p14="http://schemas.microsoft.com/office/powerpoint/2010/main" val="2012575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4070" y="830066"/>
            <a:ext cx="11330608" cy="369332"/>
          </a:xfrm>
          <a:prstGeom prst="rect">
            <a:avLst/>
          </a:prstGeom>
        </p:spPr>
        <p:txBody>
          <a:bodyPr wrap="square">
            <a:spAutoFit/>
          </a:bodyPr>
          <a:lstStyle/>
          <a:p>
            <a:endParaRPr lang="en-CA" dirty="0" smtClean="0">
              <a:latin typeface="Symbol" panose="05050102010706020507" pitchFamily="18" charset="2"/>
              <a:ea typeface="Times New Roman" panose="02020603050405020304" pitchFamily="18" charset="0"/>
            </a:endParaRPr>
          </a:p>
        </p:txBody>
      </p:sp>
      <p:sp>
        <p:nvSpPr>
          <p:cNvPr id="5" name="Rectangle 4"/>
          <p:cNvSpPr/>
          <p:nvPr/>
        </p:nvSpPr>
        <p:spPr>
          <a:xfrm>
            <a:off x="304800" y="206568"/>
            <a:ext cx="11211339" cy="6463308"/>
          </a:xfrm>
          <a:prstGeom prst="rect">
            <a:avLst/>
          </a:prstGeom>
        </p:spPr>
        <p:txBody>
          <a:bodyPr wrap="square">
            <a:spAutoFit/>
          </a:bodyPr>
          <a:lstStyle/>
          <a:p>
            <a:r>
              <a:rPr lang="en-US" b="1" dirty="0"/>
              <a:t>UN’s 9 Areas for New Creative Thinking at the Village and Panchayat Level</a:t>
            </a:r>
            <a:r>
              <a:rPr lang="en-US" dirty="0"/>
              <a:t> </a:t>
            </a:r>
            <a:endParaRPr lang="en-US" dirty="0" smtClean="0"/>
          </a:p>
          <a:p>
            <a:endParaRPr lang="en-US" dirty="0" smtClean="0"/>
          </a:p>
          <a:p>
            <a:pPr lvl="1"/>
            <a:r>
              <a:rPr lang="en-CA" b="1" dirty="0" smtClean="0"/>
              <a:t>•  </a:t>
            </a:r>
            <a:r>
              <a:rPr lang="en-CA" b="1" dirty="0"/>
              <a:t>Promote local farming and nutrition</a:t>
            </a:r>
          </a:p>
          <a:p>
            <a:pPr lvl="1"/>
            <a:r>
              <a:rPr lang="en-CA" dirty="0"/>
              <a:t>Encourage organic farming, kitchen gardens, and traditional crops like millets to ensure food security and better health.</a:t>
            </a:r>
          </a:p>
          <a:p>
            <a:pPr lvl="1"/>
            <a:r>
              <a:rPr lang="en-CA" b="1" dirty="0"/>
              <a:t>•  Ensure clean water and sanitation for all</a:t>
            </a:r>
          </a:p>
          <a:p>
            <a:pPr lvl="1"/>
            <a:r>
              <a:rPr lang="en-CA" dirty="0"/>
              <a:t>Simple initiatives like rainwater harvesting, soak pits, and public sanitation facilities can make a big difference.</a:t>
            </a:r>
          </a:p>
          <a:p>
            <a:pPr lvl="1"/>
            <a:r>
              <a:rPr lang="en-CA" b="1" dirty="0"/>
              <a:t>•  Make education continuous and accessible</a:t>
            </a:r>
          </a:p>
          <a:p>
            <a:pPr lvl="1"/>
            <a:r>
              <a:rPr lang="en-CA" dirty="0"/>
              <a:t>Support digital learning spaces, after-school programs, and adult literacy to foster a culture of lifelong learning.</a:t>
            </a:r>
          </a:p>
          <a:p>
            <a:pPr lvl="1"/>
            <a:r>
              <a:rPr lang="en-CA" b="1" dirty="0"/>
              <a:t>•  Empower rural entrepreneurship</a:t>
            </a:r>
          </a:p>
          <a:p>
            <a:pPr lvl="1"/>
            <a:r>
              <a:rPr lang="en-CA" dirty="0"/>
              <a:t>Create local job opportunities by supporting SHGs, small businesses, and skill development—especially in areas like food processing, tailoring, and IT.</a:t>
            </a:r>
          </a:p>
          <a:p>
            <a:pPr lvl="1"/>
            <a:r>
              <a:rPr lang="en-CA" b="1" dirty="0"/>
              <a:t>•  Build green, carbon-conscious villages</a:t>
            </a:r>
          </a:p>
          <a:p>
            <a:pPr lvl="1"/>
            <a:r>
              <a:rPr lang="en-CA" dirty="0"/>
              <a:t>Introduce solar lighting, tree planting drives, and zero-waste campaigns to protect the environment.</a:t>
            </a:r>
          </a:p>
          <a:p>
            <a:pPr lvl="1"/>
            <a:r>
              <a:rPr lang="en-CA" b="1" dirty="0"/>
              <a:t>•  Support and uplift women</a:t>
            </a:r>
          </a:p>
          <a:p>
            <a:pPr lvl="1"/>
            <a:r>
              <a:rPr lang="en-CA" dirty="0"/>
              <a:t>Strengthen SHGs, promote legal awareness, and enable women-led businesses to lead social and economic change.</a:t>
            </a:r>
          </a:p>
          <a:p>
            <a:pPr lvl="1"/>
            <a:r>
              <a:rPr lang="en-CA" b="1" dirty="0"/>
              <a:t>•  Prioritize health and well-being</a:t>
            </a:r>
          </a:p>
          <a:p>
            <a:pPr lvl="1"/>
            <a:r>
              <a:rPr lang="en-CA" dirty="0"/>
              <a:t>Organize preventive health checkups, mental wellness programs, and menstrual hygiene education.</a:t>
            </a:r>
          </a:p>
          <a:p>
            <a:pPr lvl="1"/>
            <a:r>
              <a:rPr lang="en-CA" b="1" dirty="0"/>
              <a:t>•  Adopt clean and affordable energy</a:t>
            </a:r>
          </a:p>
          <a:p>
            <a:pPr lvl="1"/>
            <a:r>
              <a:rPr lang="en-CA" dirty="0"/>
              <a:t>Install solar panels in schools, </a:t>
            </a:r>
            <a:r>
              <a:rPr lang="en-CA" dirty="0" err="1"/>
              <a:t>anganwadis</a:t>
            </a:r>
            <a:r>
              <a:rPr lang="en-CA" dirty="0"/>
              <a:t>, and public places while training local youth in solar technology.</a:t>
            </a:r>
          </a:p>
          <a:p>
            <a:pPr lvl="1"/>
            <a:r>
              <a:rPr lang="en-CA" b="1" dirty="0"/>
              <a:t>•  Foster transparent and participatory governance</a:t>
            </a:r>
          </a:p>
          <a:p>
            <a:pPr lvl="1"/>
            <a:r>
              <a:rPr lang="en-CA" dirty="0"/>
              <a:t>Use digital tools, notice boards, and regular Gram </a:t>
            </a:r>
            <a:r>
              <a:rPr lang="en-CA" dirty="0" err="1"/>
              <a:t>Sabhas</a:t>
            </a:r>
            <a:r>
              <a:rPr lang="en-CA" dirty="0"/>
              <a:t> to build trust through open, accountable leadership.</a:t>
            </a:r>
          </a:p>
        </p:txBody>
      </p:sp>
    </p:spTree>
    <p:extLst>
      <p:ext uri="{BB962C8B-B14F-4D97-AF65-F5344CB8AC3E}">
        <p14:creationId xmlns:p14="http://schemas.microsoft.com/office/powerpoint/2010/main" val="1507471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EC44D0D0-7596-4BA9-B49E-5DD6847B3E13}"/>
              </a:ext>
            </a:extLst>
          </p:cNvPr>
          <p:cNvSpPr/>
          <p:nvPr/>
        </p:nvSpPr>
        <p:spPr>
          <a:xfrm>
            <a:off x="854765" y="1123702"/>
            <a:ext cx="10482470" cy="3416320"/>
          </a:xfrm>
          <a:prstGeom prst="rect">
            <a:avLst/>
          </a:prstGeom>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Benefits of using creativity for innovation</a:t>
            </a:r>
          </a:p>
          <a:p>
            <a:endParaRPr lang="en-IN" sz="2400" dirty="0">
              <a:solidFill>
                <a:schemeClr val="bg1"/>
              </a:solidFill>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You will be able to create new products or services that solve problems for people.</a:t>
            </a:r>
          </a:p>
          <a:p>
            <a:pPr marL="1257300" lvl="2"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You will be able to improve processes and make them more efficient.</a:t>
            </a:r>
          </a:p>
          <a:p>
            <a:pPr marL="1257300" lvl="2"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You will be able to find new markets for existing products or services.</a:t>
            </a:r>
          </a:p>
          <a:p>
            <a:pPr marL="1257300" lvl="2"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You will be able to create new jobs.</a:t>
            </a:r>
          </a:p>
          <a:p>
            <a:pPr marL="1257300" lvl="2"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You will be able to make a positive impact on society.</a:t>
            </a:r>
          </a:p>
          <a:p>
            <a:pPr marL="1257300" lvl="2" indent="-342900">
              <a:buFont typeface="Wingdings" panose="05000000000000000000" pitchFamily="2" charset="2"/>
              <a:buChar char="Ø"/>
            </a:pPr>
            <a:r>
              <a:rPr lang="en-IN" sz="2400" dirty="0">
                <a:solidFill>
                  <a:schemeClr val="bg1"/>
                </a:solidFill>
                <a:latin typeface="Times New Roman" panose="02020603050405020304" pitchFamily="18" charset="0"/>
                <a:cs typeface="Times New Roman" panose="02020603050405020304" pitchFamily="18" charset="0"/>
              </a:rPr>
              <a:t>You will be able to have a lot of fun and satisfaction in what you </a:t>
            </a:r>
            <a:r>
              <a:rPr lang="en-IN" sz="2000" dirty="0">
                <a:solidFill>
                  <a:schemeClr val="bg1"/>
                </a:solidFill>
                <a:latin typeface="Times New Roman" panose="02020603050405020304" pitchFamily="18" charset="0"/>
                <a:cs typeface="Times New Roman" panose="02020603050405020304" pitchFamily="18" charset="0"/>
              </a:rPr>
              <a:t>do.</a:t>
            </a:r>
          </a:p>
        </p:txBody>
      </p:sp>
    </p:spTree>
    <p:extLst>
      <p:ext uri="{BB962C8B-B14F-4D97-AF65-F5344CB8AC3E}">
        <p14:creationId xmlns:p14="http://schemas.microsoft.com/office/powerpoint/2010/main" val="3964410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BD0B56D-46B7-4914-A9EA-CFA605995AE9}"/>
              </a:ext>
            </a:extLst>
          </p:cNvPr>
          <p:cNvSpPr txBox="1"/>
          <p:nvPr/>
        </p:nvSpPr>
        <p:spPr>
          <a:xfrm>
            <a:off x="993914" y="1242490"/>
            <a:ext cx="9462052" cy="3816429"/>
          </a:xfrm>
          <a:prstGeom prst="rect">
            <a:avLst/>
          </a:prstGeom>
          <a:noFill/>
        </p:spPr>
        <p:txBody>
          <a:bodyPr wrap="square" rtlCol="0">
            <a:spAutoFit/>
          </a:bodyPr>
          <a:lstStyle/>
          <a:p>
            <a:r>
              <a:rPr lang="en-IN" sz="3200" b="1" dirty="0">
                <a:solidFill>
                  <a:schemeClr val="bg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Innovation and Imagination in Future Realm</a:t>
            </a:r>
          </a:p>
          <a:p>
            <a:endParaRPr lang="en-IN" sz="2400" b="1" dirty="0">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q"/>
            </a:pPr>
            <a:r>
              <a:rPr lang="en-IN" sz="2400" b="1" dirty="0">
                <a:solidFill>
                  <a:schemeClr val="bg1"/>
                </a:solidFill>
                <a:latin typeface="Times New Roman" panose="02020603050405020304" pitchFamily="18" charset="0"/>
                <a:cs typeface="Times New Roman" panose="02020603050405020304" pitchFamily="18" charset="0"/>
              </a:rPr>
              <a:t>Augmented Reality (AR) and Virtual Reality (VR)</a:t>
            </a:r>
          </a:p>
          <a:p>
            <a:pPr marL="1257300" lvl="2" indent="-342900">
              <a:buFont typeface="Wingdings" panose="05000000000000000000" pitchFamily="2" charset="2"/>
              <a:buChar char="q"/>
            </a:pPr>
            <a:r>
              <a:rPr lang="en-IN" sz="2400" b="1" dirty="0">
                <a:solidFill>
                  <a:schemeClr val="bg1"/>
                </a:solidFill>
                <a:latin typeface="Times New Roman" panose="02020603050405020304" pitchFamily="18" charset="0"/>
                <a:cs typeface="Times New Roman" panose="02020603050405020304" pitchFamily="18" charset="0"/>
              </a:rPr>
              <a:t>Artificial Intelligence (AI) and Creativity</a:t>
            </a:r>
            <a:endParaRPr lang="en-IN" sz="2400" dirty="0">
              <a:solidFill>
                <a:schemeClr val="bg1"/>
              </a:solidFill>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q"/>
            </a:pPr>
            <a:r>
              <a:rPr lang="en-IN" sz="2400" b="1" dirty="0">
                <a:solidFill>
                  <a:schemeClr val="bg1"/>
                </a:solidFill>
                <a:latin typeface="Times New Roman" panose="02020603050405020304" pitchFamily="18" charset="0"/>
                <a:cs typeface="Times New Roman" panose="02020603050405020304" pitchFamily="18" charset="0"/>
              </a:rPr>
              <a:t>Sustainability and Environmental Innovation</a:t>
            </a:r>
            <a:endParaRPr lang="en-IN" sz="2400" dirty="0">
              <a:solidFill>
                <a:schemeClr val="bg1"/>
              </a:solidFill>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q"/>
            </a:pPr>
            <a:r>
              <a:rPr lang="en-IN" sz="2400" b="1" dirty="0">
                <a:solidFill>
                  <a:schemeClr val="bg1"/>
                </a:solidFill>
                <a:latin typeface="Times New Roman" panose="02020603050405020304" pitchFamily="18" charset="0"/>
                <a:cs typeface="Times New Roman" panose="02020603050405020304" pitchFamily="18" charset="0"/>
              </a:rPr>
              <a:t>Healthcare and Biotechnology</a:t>
            </a:r>
            <a:endParaRPr lang="en-IN" sz="2400" dirty="0">
              <a:solidFill>
                <a:schemeClr val="bg1"/>
              </a:solidFill>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q"/>
            </a:pPr>
            <a:r>
              <a:rPr lang="en-IN" sz="2400" b="1" dirty="0">
                <a:solidFill>
                  <a:schemeClr val="bg1"/>
                </a:solidFill>
                <a:latin typeface="Times New Roman" panose="02020603050405020304" pitchFamily="18" charset="0"/>
                <a:cs typeface="Times New Roman" panose="02020603050405020304" pitchFamily="18" charset="0"/>
              </a:rPr>
              <a:t>Education and Learning</a:t>
            </a:r>
            <a:endParaRPr lang="en-IN" sz="2400" dirty="0">
              <a:solidFill>
                <a:schemeClr val="bg1"/>
              </a:solidFill>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q"/>
            </a:pPr>
            <a:r>
              <a:rPr lang="en-IN" sz="2400" b="1" dirty="0">
                <a:solidFill>
                  <a:schemeClr val="bg1"/>
                </a:solidFill>
                <a:latin typeface="Times New Roman" panose="02020603050405020304" pitchFamily="18" charset="0"/>
                <a:cs typeface="Times New Roman" panose="02020603050405020304" pitchFamily="18" charset="0"/>
              </a:rPr>
              <a:t>Art and Culture</a:t>
            </a:r>
            <a:endParaRPr lang="en-IN" sz="2400" dirty="0">
              <a:solidFill>
                <a:schemeClr val="bg1"/>
              </a:solidFill>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q"/>
            </a:pPr>
            <a:r>
              <a:rPr lang="en-IN" sz="2400" b="1" dirty="0">
                <a:solidFill>
                  <a:schemeClr val="bg1"/>
                </a:solidFill>
                <a:latin typeface="Times New Roman" panose="02020603050405020304" pitchFamily="18" charset="0"/>
                <a:cs typeface="Times New Roman" panose="02020603050405020304" pitchFamily="18" charset="0"/>
              </a:rPr>
              <a:t>Social Impact and Advocacy</a:t>
            </a:r>
            <a:endParaRPr lang="en-IN" sz="2400" dirty="0">
              <a:solidFill>
                <a:schemeClr val="bg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39461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a:solidFill>
            <a:srgbClr val="7030A0"/>
          </a:solidFill>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07803F3C-4E59-4D48-83D4-815CDD081F6B}"/>
              </a:ext>
            </a:extLst>
          </p:cNvPr>
          <p:cNvSpPr/>
          <p:nvPr/>
        </p:nvSpPr>
        <p:spPr>
          <a:xfrm>
            <a:off x="1638301" y="662480"/>
            <a:ext cx="8698395" cy="707886"/>
          </a:xfrm>
          <a:prstGeom prst="rect">
            <a:avLst/>
          </a:prstGeom>
        </p:spPr>
        <p:txBody>
          <a:bodyPr wrap="square">
            <a:spAutoFit/>
          </a:bodyPr>
          <a:lstStyle/>
          <a:p>
            <a:pPr algn="just"/>
            <a:r>
              <a:rPr lang="en-IN" sz="2000" dirty="0">
                <a:solidFill>
                  <a:schemeClr val="bg1"/>
                </a:solidFill>
                <a:latin typeface="Times New Roman" panose="02020603050405020304" pitchFamily="18" charset="0"/>
                <a:cs typeface="Times New Roman" panose="02020603050405020304" pitchFamily="18" charset="0"/>
              </a:rPr>
              <a:t>"Idea generation" refers to the process of creating, developing, and identifying new concepts, thoughts, or solutions to address a specific problem, need, or opportunity.</a:t>
            </a:r>
            <a:endParaRPr lang="en-IN" dirty="0">
              <a:solidFill>
                <a:schemeClr val="bg1"/>
              </a:solidFill>
            </a:endParaRPr>
          </a:p>
        </p:txBody>
      </p:sp>
      <p:sp>
        <p:nvSpPr>
          <p:cNvPr id="14" name="Thought Bubble: Cloud 13">
            <a:extLst>
              <a:ext uri="{FF2B5EF4-FFF2-40B4-BE49-F238E27FC236}">
                <a16:creationId xmlns:a16="http://schemas.microsoft.com/office/drawing/2014/main" id="{1BB9E9BD-6885-42F7-B5F9-16A4160B53AF}"/>
              </a:ext>
            </a:extLst>
          </p:cNvPr>
          <p:cNvSpPr/>
          <p:nvPr/>
        </p:nvSpPr>
        <p:spPr>
          <a:xfrm>
            <a:off x="5797828" y="1265513"/>
            <a:ext cx="4333460" cy="4678018"/>
          </a:xfrm>
          <a:prstGeom prst="cloudCallout">
            <a:avLst>
              <a:gd name="adj1" fmla="val 90423"/>
              <a:gd name="adj2" fmla="val 64199"/>
            </a:avLst>
          </a:prstGeom>
          <a:solidFill>
            <a:srgbClr val="9954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bg1"/>
                </a:solidFill>
                <a:latin typeface="Times New Roman" panose="02020603050405020304" pitchFamily="18" charset="0"/>
                <a:cs typeface="Times New Roman" panose="02020603050405020304" pitchFamily="18" charset="0"/>
              </a:rPr>
              <a:t>Key Thoughts </a:t>
            </a:r>
          </a:p>
          <a:p>
            <a:pPr algn="ctr"/>
            <a:endParaRPr lang="en-IN" sz="2000" dirty="0">
              <a:solidFill>
                <a:schemeClr val="bg1"/>
              </a:solidFill>
              <a:latin typeface="Times New Roman" panose="02020603050405020304" pitchFamily="18" charset="0"/>
              <a:cs typeface="Times New Roman" panose="02020603050405020304" pitchFamily="18" charset="0"/>
            </a:endParaRPr>
          </a:p>
          <a:p>
            <a:pPr algn="ctr"/>
            <a:r>
              <a:rPr lang="en-IN" sz="2000" dirty="0">
                <a:solidFill>
                  <a:schemeClr val="bg1"/>
                </a:solidFill>
                <a:latin typeface="Times New Roman" panose="02020603050405020304" pitchFamily="18" charset="0"/>
                <a:cs typeface="Times New Roman" panose="02020603050405020304" pitchFamily="18" charset="0"/>
              </a:rPr>
              <a:t>Creativity: </a:t>
            </a:r>
          </a:p>
          <a:p>
            <a:pPr algn="ctr"/>
            <a:r>
              <a:rPr lang="en-IN" sz="2000" dirty="0">
                <a:solidFill>
                  <a:schemeClr val="bg1"/>
                </a:solidFill>
                <a:latin typeface="Times New Roman" panose="02020603050405020304" pitchFamily="18" charset="0"/>
                <a:cs typeface="Times New Roman" panose="02020603050405020304" pitchFamily="18" charset="0"/>
              </a:rPr>
              <a:t>Problem Identification.</a:t>
            </a:r>
          </a:p>
          <a:p>
            <a:pPr algn="ctr"/>
            <a:r>
              <a:rPr lang="en-IN" sz="2000" dirty="0">
                <a:solidFill>
                  <a:schemeClr val="bg1"/>
                </a:solidFill>
                <a:latin typeface="Times New Roman" panose="02020603050405020304" pitchFamily="18" charset="0"/>
                <a:cs typeface="Times New Roman" panose="02020603050405020304" pitchFamily="18" charset="0"/>
              </a:rPr>
              <a:t>Brainstorming: </a:t>
            </a:r>
          </a:p>
          <a:p>
            <a:pPr algn="ctr"/>
            <a:r>
              <a:rPr lang="en-IN" sz="2000" dirty="0">
                <a:solidFill>
                  <a:schemeClr val="bg1"/>
                </a:solidFill>
                <a:latin typeface="Times New Roman" panose="02020603050405020304" pitchFamily="18" charset="0"/>
                <a:cs typeface="Times New Roman" panose="02020603050405020304" pitchFamily="18" charset="0"/>
              </a:rPr>
              <a:t>Divergent Thinking: </a:t>
            </a:r>
          </a:p>
          <a:p>
            <a:pPr algn="ctr"/>
            <a:r>
              <a:rPr lang="en-IN" sz="2000" dirty="0">
                <a:solidFill>
                  <a:schemeClr val="bg1"/>
                </a:solidFill>
                <a:latin typeface="Times New Roman" panose="02020603050405020304" pitchFamily="18" charset="0"/>
                <a:cs typeface="Times New Roman" panose="02020603050405020304" pitchFamily="18" charset="0"/>
              </a:rPr>
              <a:t>Convergent Thinking: </a:t>
            </a:r>
          </a:p>
          <a:p>
            <a:pPr algn="ctr"/>
            <a:r>
              <a:rPr lang="en-IN" sz="2000" dirty="0">
                <a:solidFill>
                  <a:schemeClr val="bg1"/>
                </a:solidFill>
                <a:latin typeface="Times New Roman" panose="02020603050405020304" pitchFamily="18" charset="0"/>
                <a:cs typeface="Times New Roman" panose="02020603050405020304" pitchFamily="18" charset="0"/>
              </a:rPr>
              <a:t>Prototyping and Testing:</a:t>
            </a:r>
          </a:p>
          <a:p>
            <a:pPr algn="ctr"/>
            <a:r>
              <a:rPr lang="en-IN" sz="2000" dirty="0">
                <a:solidFill>
                  <a:schemeClr val="bg1"/>
                </a:solidFill>
                <a:latin typeface="Times New Roman" panose="02020603050405020304" pitchFamily="18" charset="0"/>
                <a:cs typeface="Times New Roman" panose="02020603050405020304" pitchFamily="18" charset="0"/>
              </a:rPr>
              <a:t>Cross-Pollination:</a:t>
            </a:r>
            <a:endParaRPr lang="en-IN" sz="2000" dirty="0">
              <a:solidFill>
                <a:schemeClr val="bg1"/>
              </a:solidFill>
            </a:endParaRPr>
          </a:p>
        </p:txBody>
      </p:sp>
      <p:sp>
        <p:nvSpPr>
          <p:cNvPr id="15" name="Thought Bubble: Cloud 14">
            <a:extLst>
              <a:ext uri="{FF2B5EF4-FFF2-40B4-BE49-F238E27FC236}">
                <a16:creationId xmlns:a16="http://schemas.microsoft.com/office/drawing/2014/main" id="{A8DF4D7F-7F22-4C4A-8B39-C6677DD9BF52}"/>
              </a:ext>
            </a:extLst>
          </p:cNvPr>
          <p:cNvSpPr/>
          <p:nvPr/>
        </p:nvSpPr>
        <p:spPr>
          <a:xfrm>
            <a:off x="649356" y="1949852"/>
            <a:ext cx="5625548" cy="4678018"/>
          </a:xfrm>
          <a:prstGeom prst="cloudCallout">
            <a:avLst>
              <a:gd name="adj1" fmla="val -57283"/>
              <a:gd name="adj2" fmla="val 51451"/>
            </a:avLst>
          </a:prstGeom>
          <a:solidFill>
            <a:srgbClr val="9954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2000" b="1" dirty="0">
                <a:solidFill>
                  <a:schemeClr val="bg1"/>
                </a:solidFill>
                <a:latin typeface="Times New Roman" panose="02020603050405020304" pitchFamily="18" charset="0"/>
                <a:cs typeface="Times New Roman" panose="02020603050405020304" pitchFamily="18" charset="0"/>
              </a:rPr>
              <a:t>Importance of Idea Generation:</a:t>
            </a:r>
          </a:p>
          <a:p>
            <a:pPr algn="ctr"/>
            <a:endParaRPr lang="en-IN" sz="2000" b="1" dirty="0">
              <a:solidFill>
                <a:schemeClr val="bg1"/>
              </a:solidFill>
              <a:latin typeface="Times New Roman" panose="02020603050405020304" pitchFamily="18" charset="0"/>
              <a:cs typeface="Times New Roman" panose="02020603050405020304" pitchFamily="18" charset="0"/>
            </a:endParaRPr>
          </a:p>
          <a:p>
            <a:pPr algn="ctr"/>
            <a:r>
              <a:rPr lang="en-IN" sz="2000" dirty="0">
                <a:solidFill>
                  <a:schemeClr val="bg1"/>
                </a:solidFill>
                <a:latin typeface="Times New Roman" panose="02020603050405020304" pitchFamily="18" charset="0"/>
                <a:cs typeface="Times New Roman" panose="02020603050405020304" pitchFamily="18" charset="0"/>
              </a:rPr>
              <a:t>Innovation and Growth: </a:t>
            </a:r>
          </a:p>
          <a:p>
            <a:pPr algn="ctr"/>
            <a:r>
              <a:rPr lang="en-IN" sz="2000" dirty="0">
                <a:solidFill>
                  <a:schemeClr val="bg1"/>
                </a:solidFill>
                <a:latin typeface="Times New Roman" panose="02020603050405020304" pitchFamily="18" charset="0"/>
                <a:cs typeface="Times New Roman" panose="02020603050405020304" pitchFamily="18" charset="0"/>
              </a:rPr>
              <a:t>Problem Solving: </a:t>
            </a:r>
          </a:p>
          <a:p>
            <a:pPr algn="ctr"/>
            <a:r>
              <a:rPr lang="en-IN" sz="2000" dirty="0">
                <a:solidFill>
                  <a:schemeClr val="bg1"/>
                </a:solidFill>
                <a:latin typeface="Times New Roman" panose="02020603050405020304" pitchFamily="18" charset="0"/>
                <a:cs typeface="Times New Roman" panose="02020603050405020304" pitchFamily="18" charset="0"/>
              </a:rPr>
              <a:t>Competitive Advantage: </a:t>
            </a:r>
          </a:p>
          <a:p>
            <a:pPr algn="ctr"/>
            <a:r>
              <a:rPr lang="en-IN" sz="2000" dirty="0">
                <a:solidFill>
                  <a:schemeClr val="bg1"/>
                </a:solidFill>
                <a:latin typeface="Times New Roman" panose="02020603050405020304" pitchFamily="18" charset="0"/>
                <a:cs typeface="Times New Roman" panose="02020603050405020304" pitchFamily="18" charset="0"/>
              </a:rPr>
              <a:t>Continuous Improvement: </a:t>
            </a:r>
          </a:p>
        </p:txBody>
      </p:sp>
      <p:sp>
        <p:nvSpPr>
          <p:cNvPr id="16" name="Rectangle 15">
            <a:extLst>
              <a:ext uri="{FF2B5EF4-FFF2-40B4-BE49-F238E27FC236}">
                <a16:creationId xmlns:a16="http://schemas.microsoft.com/office/drawing/2014/main" id="{9A58EA1C-4B2F-48A0-BA0F-33CF2B0E7335}"/>
              </a:ext>
            </a:extLst>
          </p:cNvPr>
          <p:cNvSpPr/>
          <p:nvPr/>
        </p:nvSpPr>
        <p:spPr>
          <a:xfrm>
            <a:off x="144828" y="156627"/>
            <a:ext cx="6130076" cy="461665"/>
          </a:xfrm>
          <a:prstGeom prst="rect">
            <a:avLst/>
          </a:prstGeom>
        </p:spPr>
        <p:txBody>
          <a:bodyPr wrap="none">
            <a:spAutoFit/>
          </a:bodyPr>
          <a:lstStyle/>
          <a:p>
            <a:pPr algn="just"/>
            <a:r>
              <a:rPr lang="en-IN" sz="2400" b="1" dirty="0">
                <a:solidFill>
                  <a:schemeClr val="accent2">
                    <a:lumMod val="40000"/>
                    <a:lumOff val="60000"/>
                  </a:schemeClr>
                </a:solidFill>
                <a:latin typeface="Times New Roman" panose="02020603050405020304" pitchFamily="18" charset="0"/>
                <a:cs typeface="Times New Roman" panose="02020603050405020304" pitchFamily="18" charset="0"/>
              </a:rPr>
              <a:t>Idea Generation and Environmental Analysis</a:t>
            </a:r>
          </a:p>
        </p:txBody>
      </p:sp>
    </p:spTree>
    <p:extLst>
      <p:ext uri="{BB962C8B-B14F-4D97-AF65-F5344CB8AC3E}">
        <p14:creationId xmlns:p14="http://schemas.microsoft.com/office/powerpoint/2010/main" val="1394159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a:solidFill>
            <a:srgbClr val="7030A0"/>
          </a:solidFill>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FE1F815-F55F-40F1-9383-56587DDC9465}"/>
              </a:ext>
            </a:extLst>
          </p:cNvPr>
          <p:cNvSpPr/>
          <p:nvPr/>
        </p:nvSpPr>
        <p:spPr>
          <a:xfrm>
            <a:off x="649357" y="570496"/>
            <a:ext cx="10893286" cy="5078313"/>
          </a:xfrm>
          <a:prstGeom prst="rect">
            <a:avLst/>
          </a:prstGeom>
        </p:spPr>
        <p:txBody>
          <a:bodyPr wrap="square">
            <a:spAutoFit/>
          </a:bodyPr>
          <a:lstStyle/>
          <a:p>
            <a:pPr algn="just"/>
            <a:r>
              <a:rPr lang="en-IN" sz="2400" b="1" dirty="0">
                <a:solidFill>
                  <a:schemeClr val="bg1"/>
                </a:solidFill>
                <a:latin typeface="Times New Roman" panose="02020603050405020304" pitchFamily="18" charset="0"/>
                <a:cs typeface="Times New Roman" panose="02020603050405020304" pitchFamily="18" charset="0"/>
              </a:rPr>
              <a:t>Techniques for Idea Generation:</a:t>
            </a:r>
          </a:p>
          <a:p>
            <a:pPr algn="just"/>
            <a:endParaRPr lang="en-IN" sz="2000" b="1" dirty="0">
              <a:solidFill>
                <a:schemeClr val="bg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Mind Mapping</a:t>
            </a:r>
            <a:r>
              <a:rPr lang="en-IN" sz="2000" dirty="0">
                <a:solidFill>
                  <a:schemeClr val="bg1"/>
                </a:solidFill>
                <a:latin typeface="Times New Roman" panose="02020603050405020304" pitchFamily="18" charset="0"/>
                <a:cs typeface="Times New Roman" panose="02020603050405020304" pitchFamily="18" charset="0"/>
              </a:rPr>
              <a:t>: Visualizing ideas and their connections to explore relationships and uncover new possibilities.</a:t>
            </a:r>
          </a:p>
          <a:p>
            <a:pPr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SCAMPER Technique</a:t>
            </a:r>
            <a:r>
              <a:rPr lang="en-IN" sz="2000" dirty="0">
                <a:solidFill>
                  <a:schemeClr val="bg1"/>
                </a:solidFill>
                <a:latin typeface="Times New Roman" panose="02020603050405020304" pitchFamily="18" charset="0"/>
                <a:cs typeface="Times New Roman" panose="02020603050405020304" pitchFamily="18" charset="0"/>
              </a:rPr>
              <a:t>: A structured method that prompts individuals to Substitute, Combine, Adapt, Modify, Put to another use, Eliminate, or Reverse elements of existing ideas to generate new ones.</a:t>
            </a:r>
          </a:p>
          <a:p>
            <a:pPr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SWOT Analysis</a:t>
            </a:r>
            <a:r>
              <a:rPr lang="en-IN" sz="2000" dirty="0">
                <a:solidFill>
                  <a:schemeClr val="bg1"/>
                </a:solidFill>
                <a:latin typeface="Times New Roman" panose="02020603050405020304" pitchFamily="18" charset="0"/>
                <a:cs typeface="Times New Roman" panose="02020603050405020304" pitchFamily="18" charset="0"/>
              </a:rPr>
              <a:t>: Assessing the strengths, weaknesses, opportunities, and threats associated with ideas to evaluate their viability.</a:t>
            </a:r>
          </a:p>
          <a:p>
            <a:pPr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Customer Feedback and Market Research</a:t>
            </a:r>
            <a:r>
              <a:rPr lang="en-IN" sz="2000" dirty="0">
                <a:solidFill>
                  <a:schemeClr val="bg1"/>
                </a:solidFill>
                <a:latin typeface="Times New Roman" panose="02020603050405020304" pitchFamily="18" charset="0"/>
                <a:cs typeface="Times New Roman" panose="02020603050405020304" pitchFamily="18" charset="0"/>
              </a:rPr>
              <a:t>: Gathering insights from potential users or stakeholders to understand needs and preferences, which can inspire new ideas.</a:t>
            </a:r>
          </a:p>
          <a:p>
            <a:pPr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Creative Exercises and Games</a:t>
            </a:r>
            <a:r>
              <a:rPr lang="en-IN" sz="2000" dirty="0">
                <a:solidFill>
                  <a:schemeClr val="bg1"/>
                </a:solidFill>
                <a:latin typeface="Times New Roman" panose="02020603050405020304" pitchFamily="18" charset="0"/>
                <a:cs typeface="Times New Roman" panose="02020603050405020304" pitchFamily="18" charset="0"/>
              </a:rPr>
              <a:t>: Using structured exercises, puzzles, or challenges to stimulate creative thinking and idea generation.</a:t>
            </a:r>
          </a:p>
        </p:txBody>
      </p:sp>
    </p:spTree>
    <p:extLst>
      <p:ext uri="{BB962C8B-B14F-4D97-AF65-F5344CB8AC3E}">
        <p14:creationId xmlns:p14="http://schemas.microsoft.com/office/powerpoint/2010/main" val="3188822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a:solidFill>
            <a:srgbClr val="7030A0"/>
          </a:solidFill>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68BB1B09-E12B-4BE6-8A27-38F4BDAB371F}"/>
              </a:ext>
            </a:extLst>
          </p:cNvPr>
          <p:cNvSpPr/>
          <p:nvPr/>
        </p:nvSpPr>
        <p:spPr>
          <a:xfrm>
            <a:off x="2090530" y="620804"/>
            <a:ext cx="8010940" cy="923330"/>
          </a:xfrm>
          <a:prstGeom prst="rect">
            <a:avLst/>
          </a:prstGeom>
        </p:spPr>
        <p:txBody>
          <a:bodyPr wrap="square">
            <a:spAutoFit/>
          </a:bodyPr>
          <a:lstStyle/>
          <a:p>
            <a:r>
              <a:rPr lang="en-IN" dirty="0">
                <a:solidFill>
                  <a:schemeClr val="bg1"/>
                </a:solidFill>
              </a:rPr>
              <a:t>"Environmental Analysis" involves assessing and understanding the external factors that impact an organization, project, or situation. These factors include : Political, Economic, Social, Technological. </a:t>
            </a:r>
          </a:p>
        </p:txBody>
      </p:sp>
      <p:sp>
        <p:nvSpPr>
          <p:cNvPr id="11" name="Rectangle 10">
            <a:extLst>
              <a:ext uri="{FF2B5EF4-FFF2-40B4-BE49-F238E27FC236}">
                <a16:creationId xmlns:a16="http://schemas.microsoft.com/office/drawing/2014/main" id="{48CB5B09-E4EC-4B01-B170-DCF4BE37A26F}"/>
              </a:ext>
            </a:extLst>
          </p:cNvPr>
          <p:cNvSpPr/>
          <p:nvPr/>
        </p:nvSpPr>
        <p:spPr>
          <a:xfrm>
            <a:off x="485279" y="1730659"/>
            <a:ext cx="2613658" cy="1477328"/>
          </a:xfrm>
          <a:prstGeom prst="rect">
            <a:avLst/>
          </a:prstGeom>
        </p:spPr>
        <p:txBody>
          <a:bodyPr wrap="square">
            <a:spAutoFit/>
          </a:bodyPr>
          <a:lstStyle/>
          <a:p>
            <a:r>
              <a:rPr lang="en-IN" b="1" dirty="0">
                <a:solidFill>
                  <a:schemeClr val="bg1"/>
                </a:solidFill>
              </a:rPr>
              <a:t>PEST Analysis:</a:t>
            </a:r>
            <a:endParaRPr lang="en-IN" dirty="0">
              <a:solidFill>
                <a:schemeClr val="bg1"/>
              </a:solidFill>
            </a:endParaRPr>
          </a:p>
          <a:p>
            <a:pPr lvl="1"/>
            <a:r>
              <a:rPr lang="en-IN" dirty="0">
                <a:solidFill>
                  <a:schemeClr val="bg1"/>
                </a:solidFill>
              </a:rPr>
              <a:t>Political Factors</a:t>
            </a:r>
          </a:p>
          <a:p>
            <a:pPr lvl="1"/>
            <a:r>
              <a:rPr lang="en-IN" dirty="0">
                <a:solidFill>
                  <a:schemeClr val="bg1"/>
                </a:solidFill>
              </a:rPr>
              <a:t>Economic Factors</a:t>
            </a:r>
          </a:p>
          <a:p>
            <a:pPr lvl="1"/>
            <a:r>
              <a:rPr lang="en-IN" dirty="0">
                <a:solidFill>
                  <a:schemeClr val="bg1"/>
                </a:solidFill>
              </a:rPr>
              <a:t>Social Factors</a:t>
            </a:r>
          </a:p>
          <a:p>
            <a:pPr lvl="1"/>
            <a:r>
              <a:rPr lang="en-IN" dirty="0">
                <a:solidFill>
                  <a:schemeClr val="bg1"/>
                </a:solidFill>
              </a:rPr>
              <a:t>Technological Factors</a:t>
            </a:r>
          </a:p>
        </p:txBody>
      </p:sp>
      <p:sp>
        <p:nvSpPr>
          <p:cNvPr id="12" name="Rectangle 11">
            <a:extLst>
              <a:ext uri="{FF2B5EF4-FFF2-40B4-BE49-F238E27FC236}">
                <a16:creationId xmlns:a16="http://schemas.microsoft.com/office/drawing/2014/main" id="{4A5AA669-86B8-4620-A9D5-5DE61C048024}"/>
              </a:ext>
            </a:extLst>
          </p:cNvPr>
          <p:cNvSpPr/>
          <p:nvPr/>
        </p:nvSpPr>
        <p:spPr>
          <a:xfrm>
            <a:off x="547648" y="3692340"/>
            <a:ext cx="2650121" cy="1477328"/>
          </a:xfrm>
          <a:prstGeom prst="rect">
            <a:avLst/>
          </a:prstGeom>
        </p:spPr>
        <p:txBody>
          <a:bodyPr wrap="square">
            <a:spAutoFit/>
          </a:bodyPr>
          <a:lstStyle/>
          <a:p>
            <a:r>
              <a:rPr lang="en-IN" b="1" dirty="0">
                <a:solidFill>
                  <a:schemeClr val="bg1"/>
                </a:solidFill>
              </a:rPr>
              <a:t>SWOT Analysis</a:t>
            </a:r>
            <a:r>
              <a:rPr lang="en-IN" dirty="0">
                <a:solidFill>
                  <a:schemeClr val="bg1"/>
                </a:solidFill>
              </a:rPr>
              <a:t>:</a:t>
            </a:r>
          </a:p>
          <a:p>
            <a:pPr lvl="1"/>
            <a:r>
              <a:rPr lang="en-IN" dirty="0">
                <a:solidFill>
                  <a:schemeClr val="bg1"/>
                </a:solidFill>
              </a:rPr>
              <a:t>Strengths: </a:t>
            </a:r>
          </a:p>
          <a:p>
            <a:pPr lvl="1"/>
            <a:r>
              <a:rPr lang="en-IN" dirty="0">
                <a:solidFill>
                  <a:schemeClr val="bg1"/>
                </a:solidFill>
              </a:rPr>
              <a:t>Weaknesses:</a:t>
            </a:r>
          </a:p>
          <a:p>
            <a:pPr lvl="1"/>
            <a:r>
              <a:rPr lang="en-IN" dirty="0">
                <a:solidFill>
                  <a:schemeClr val="bg1"/>
                </a:solidFill>
              </a:rPr>
              <a:t>Opportunities:</a:t>
            </a:r>
          </a:p>
          <a:p>
            <a:pPr lvl="1"/>
            <a:r>
              <a:rPr lang="en-IN" dirty="0">
                <a:solidFill>
                  <a:schemeClr val="bg1"/>
                </a:solidFill>
              </a:rPr>
              <a:t>Threats: </a:t>
            </a:r>
          </a:p>
        </p:txBody>
      </p:sp>
      <p:sp>
        <p:nvSpPr>
          <p:cNvPr id="13" name="Rectangle 12">
            <a:extLst>
              <a:ext uri="{FF2B5EF4-FFF2-40B4-BE49-F238E27FC236}">
                <a16:creationId xmlns:a16="http://schemas.microsoft.com/office/drawing/2014/main" id="{91B76BBB-6DA3-4BC3-8A7D-6AC870F0754E}"/>
              </a:ext>
            </a:extLst>
          </p:cNvPr>
          <p:cNvSpPr/>
          <p:nvPr/>
        </p:nvSpPr>
        <p:spPr>
          <a:xfrm>
            <a:off x="3534136" y="1730659"/>
            <a:ext cx="3901818" cy="1754326"/>
          </a:xfrm>
          <a:prstGeom prst="rect">
            <a:avLst/>
          </a:prstGeom>
        </p:spPr>
        <p:txBody>
          <a:bodyPr wrap="square">
            <a:spAutoFit/>
          </a:bodyPr>
          <a:lstStyle/>
          <a:p>
            <a:pPr algn="just"/>
            <a:r>
              <a:rPr lang="en-IN" b="1" dirty="0">
                <a:solidFill>
                  <a:schemeClr val="bg1"/>
                </a:solidFill>
              </a:rPr>
              <a:t>Market Trends</a:t>
            </a:r>
            <a:r>
              <a:rPr lang="en-IN" dirty="0">
                <a:solidFill>
                  <a:schemeClr val="bg1"/>
                </a:solidFill>
              </a:rPr>
              <a:t>:</a:t>
            </a:r>
          </a:p>
          <a:p>
            <a:pPr lvl="1" algn="just"/>
            <a:r>
              <a:rPr lang="en-IN" dirty="0">
                <a:solidFill>
                  <a:schemeClr val="bg1"/>
                </a:solidFill>
              </a:rPr>
              <a:t>Monitoring trends related to consumer preferences, market demand, industry growth rates, technological advancements, and regulatory changes.</a:t>
            </a:r>
          </a:p>
        </p:txBody>
      </p:sp>
      <p:sp>
        <p:nvSpPr>
          <p:cNvPr id="14" name="Rectangle 13">
            <a:extLst>
              <a:ext uri="{FF2B5EF4-FFF2-40B4-BE49-F238E27FC236}">
                <a16:creationId xmlns:a16="http://schemas.microsoft.com/office/drawing/2014/main" id="{E3010BD1-4B1C-4F6C-85AC-39FDA3EF535F}"/>
              </a:ext>
            </a:extLst>
          </p:cNvPr>
          <p:cNvSpPr/>
          <p:nvPr/>
        </p:nvSpPr>
        <p:spPr>
          <a:xfrm>
            <a:off x="7798969" y="1786310"/>
            <a:ext cx="4131150" cy="1477328"/>
          </a:xfrm>
          <a:prstGeom prst="rect">
            <a:avLst/>
          </a:prstGeom>
        </p:spPr>
        <p:txBody>
          <a:bodyPr wrap="square">
            <a:spAutoFit/>
          </a:bodyPr>
          <a:lstStyle/>
          <a:p>
            <a:pPr algn="just"/>
            <a:r>
              <a:rPr lang="en-IN" b="1" dirty="0">
                <a:solidFill>
                  <a:schemeClr val="bg1"/>
                </a:solidFill>
              </a:rPr>
              <a:t>Regulatory Analysis</a:t>
            </a:r>
            <a:r>
              <a:rPr lang="en-IN" dirty="0">
                <a:solidFill>
                  <a:schemeClr val="bg1"/>
                </a:solidFill>
              </a:rPr>
              <a:t>:</a:t>
            </a:r>
          </a:p>
          <a:p>
            <a:pPr lvl="1" algn="just"/>
            <a:r>
              <a:rPr lang="en-IN" dirty="0">
                <a:solidFill>
                  <a:schemeClr val="bg1"/>
                </a:solidFill>
              </a:rPr>
              <a:t>Assessing the impact of government regulations, policies, and legal requirements on business operations.</a:t>
            </a:r>
          </a:p>
        </p:txBody>
      </p:sp>
      <p:sp>
        <p:nvSpPr>
          <p:cNvPr id="15" name="Rectangle 14">
            <a:extLst>
              <a:ext uri="{FF2B5EF4-FFF2-40B4-BE49-F238E27FC236}">
                <a16:creationId xmlns:a16="http://schemas.microsoft.com/office/drawing/2014/main" id="{85AE6CDA-0544-4851-A6E0-39B85DA60EF1}"/>
              </a:ext>
            </a:extLst>
          </p:cNvPr>
          <p:cNvSpPr/>
          <p:nvPr/>
        </p:nvSpPr>
        <p:spPr>
          <a:xfrm>
            <a:off x="3534136" y="3650014"/>
            <a:ext cx="3229085" cy="1754326"/>
          </a:xfrm>
          <a:prstGeom prst="rect">
            <a:avLst/>
          </a:prstGeom>
        </p:spPr>
        <p:txBody>
          <a:bodyPr wrap="square">
            <a:spAutoFit/>
          </a:bodyPr>
          <a:lstStyle/>
          <a:p>
            <a:pPr algn="just"/>
            <a:r>
              <a:rPr lang="en-IN" b="1" dirty="0">
                <a:solidFill>
                  <a:schemeClr val="bg1"/>
                </a:solidFill>
              </a:rPr>
              <a:t>Competitive Analysis</a:t>
            </a:r>
            <a:r>
              <a:rPr lang="en-IN" dirty="0">
                <a:solidFill>
                  <a:schemeClr val="bg1"/>
                </a:solidFill>
              </a:rPr>
              <a:t>:</a:t>
            </a:r>
          </a:p>
          <a:p>
            <a:pPr lvl="1" algn="just"/>
            <a:r>
              <a:rPr lang="en-IN" dirty="0">
                <a:solidFill>
                  <a:schemeClr val="bg1"/>
                </a:solidFill>
              </a:rPr>
              <a:t>Identifying and analysing competitors, their strengths, weaknesses, strategies, and market positioning.</a:t>
            </a:r>
          </a:p>
        </p:txBody>
      </p:sp>
      <p:sp>
        <p:nvSpPr>
          <p:cNvPr id="16" name="Rectangle 15">
            <a:extLst>
              <a:ext uri="{FF2B5EF4-FFF2-40B4-BE49-F238E27FC236}">
                <a16:creationId xmlns:a16="http://schemas.microsoft.com/office/drawing/2014/main" id="{E26361AB-44B4-4DA8-99A9-E35341D8F29F}"/>
              </a:ext>
            </a:extLst>
          </p:cNvPr>
          <p:cNvSpPr/>
          <p:nvPr/>
        </p:nvSpPr>
        <p:spPr>
          <a:xfrm>
            <a:off x="7767119" y="3393181"/>
            <a:ext cx="4093716" cy="2308324"/>
          </a:xfrm>
          <a:prstGeom prst="rect">
            <a:avLst/>
          </a:prstGeom>
        </p:spPr>
        <p:txBody>
          <a:bodyPr wrap="square">
            <a:spAutoFit/>
          </a:bodyPr>
          <a:lstStyle/>
          <a:p>
            <a:pPr algn="just"/>
            <a:r>
              <a:rPr lang="en-IN" b="1" dirty="0">
                <a:solidFill>
                  <a:schemeClr val="bg1"/>
                </a:solidFill>
              </a:rPr>
              <a:t>Stakeholder Analysis</a:t>
            </a:r>
            <a:r>
              <a:rPr lang="en-IN" dirty="0">
                <a:solidFill>
                  <a:schemeClr val="bg1"/>
                </a:solidFill>
              </a:rPr>
              <a:t>:</a:t>
            </a:r>
          </a:p>
          <a:p>
            <a:pPr lvl="1" algn="just"/>
            <a:r>
              <a:rPr lang="en-IN" dirty="0">
                <a:solidFill>
                  <a:schemeClr val="bg1"/>
                </a:solidFill>
              </a:rPr>
              <a:t>Identifying key stakeholders (e.g., customers, suppliers, investors, employees, community) and understanding their interests, concerns, and influence on the organization’s decisions and strategies</a:t>
            </a:r>
          </a:p>
        </p:txBody>
      </p:sp>
      <p:sp>
        <p:nvSpPr>
          <p:cNvPr id="17" name="Rectangle 16">
            <a:extLst>
              <a:ext uri="{FF2B5EF4-FFF2-40B4-BE49-F238E27FC236}">
                <a16:creationId xmlns:a16="http://schemas.microsoft.com/office/drawing/2014/main" id="{92C938FA-1109-403F-9CD0-1759D9D50B38}"/>
              </a:ext>
            </a:extLst>
          </p:cNvPr>
          <p:cNvSpPr/>
          <p:nvPr/>
        </p:nvSpPr>
        <p:spPr>
          <a:xfrm>
            <a:off x="208950" y="173003"/>
            <a:ext cx="3166316" cy="461665"/>
          </a:xfrm>
          <a:prstGeom prst="rect">
            <a:avLst/>
          </a:prstGeom>
        </p:spPr>
        <p:txBody>
          <a:bodyPr wrap="none">
            <a:spAutoFit/>
          </a:bodyPr>
          <a:lstStyle/>
          <a:p>
            <a:r>
              <a:rPr lang="en-IN" sz="2400" b="1" u="sng" dirty="0">
                <a:solidFill>
                  <a:schemeClr val="bg1"/>
                </a:solidFill>
              </a:rPr>
              <a:t>Environmental Analysis</a:t>
            </a:r>
          </a:p>
        </p:txBody>
      </p:sp>
    </p:spTree>
    <p:extLst>
      <p:ext uri="{BB962C8B-B14F-4D97-AF65-F5344CB8AC3E}">
        <p14:creationId xmlns:p14="http://schemas.microsoft.com/office/powerpoint/2010/main" val="640540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a:solidFill>
            <a:srgbClr val="7030A0"/>
          </a:solidFill>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B245E46-B822-4DF1-921F-0384237E8B59}"/>
              </a:ext>
            </a:extLst>
          </p:cNvPr>
          <p:cNvSpPr/>
          <p:nvPr/>
        </p:nvSpPr>
        <p:spPr>
          <a:xfrm>
            <a:off x="848138" y="1190753"/>
            <a:ext cx="8998227" cy="3170099"/>
          </a:xfrm>
          <a:prstGeom prst="rect">
            <a:avLst/>
          </a:prstGeom>
        </p:spPr>
        <p:txBody>
          <a:bodyPr wrap="square">
            <a:spAutoFit/>
          </a:bodyPr>
          <a:lstStyle/>
          <a:p>
            <a:pPr algn="just"/>
            <a:r>
              <a:rPr lang="en-IN" sz="2000" b="1" dirty="0">
                <a:solidFill>
                  <a:schemeClr val="bg1"/>
                </a:solidFill>
                <a:latin typeface="Times New Roman" panose="02020603050405020304" pitchFamily="18" charset="0"/>
                <a:cs typeface="Times New Roman" panose="02020603050405020304" pitchFamily="18" charset="0"/>
              </a:rPr>
              <a:t>Methods and Tools Used in Environmental Analysis:</a:t>
            </a:r>
          </a:p>
          <a:p>
            <a:pPr algn="just"/>
            <a:endParaRPr lang="en-IN" sz="2000" b="1" dirty="0">
              <a:solidFill>
                <a:schemeClr val="bg1"/>
              </a:solidFill>
              <a:latin typeface="Times New Roman" panose="02020603050405020304" pitchFamily="18" charset="0"/>
              <a:cs typeface="Times New Roman" panose="02020603050405020304" pitchFamily="18" charset="0"/>
            </a:endParaRPr>
          </a:p>
          <a:p>
            <a:pPr lvl="2"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Market Research</a:t>
            </a:r>
            <a:r>
              <a:rPr lang="en-IN" sz="2000" dirty="0">
                <a:solidFill>
                  <a:schemeClr val="bg1"/>
                </a:solidFill>
                <a:latin typeface="Times New Roman" panose="02020603050405020304" pitchFamily="18" charset="0"/>
                <a:cs typeface="Times New Roman" panose="02020603050405020304" pitchFamily="18" charset="0"/>
              </a:rPr>
              <a:t>: Surveys, focus groups, and data analysis to gather information about market trends and consumer preferences.</a:t>
            </a:r>
          </a:p>
          <a:p>
            <a:pPr lvl="2"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Scenario Planning</a:t>
            </a:r>
            <a:r>
              <a:rPr lang="en-IN" sz="2000" dirty="0">
                <a:solidFill>
                  <a:schemeClr val="bg1"/>
                </a:solidFill>
                <a:latin typeface="Times New Roman" panose="02020603050405020304" pitchFamily="18" charset="0"/>
                <a:cs typeface="Times New Roman" panose="02020603050405020304" pitchFamily="18" charset="0"/>
              </a:rPr>
              <a:t>: Developing scenarios based on different possible future environments to prepare for various outcomes.</a:t>
            </a:r>
          </a:p>
          <a:p>
            <a:pPr lvl="2"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Industry Reports and Publications</a:t>
            </a:r>
            <a:r>
              <a:rPr lang="en-IN" sz="2000" dirty="0">
                <a:solidFill>
                  <a:schemeClr val="bg1"/>
                </a:solidFill>
                <a:latin typeface="Times New Roman" panose="02020603050405020304" pitchFamily="18" charset="0"/>
                <a:cs typeface="Times New Roman" panose="02020603050405020304" pitchFamily="18" charset="0"/>
              </a:rPr>
              <a:t>: Accessing industry-specific reports, journals, and publications to stay informed about trends and developments.</a:t>
            </a:r>
          </a:p>
          <a:p>
            <a:pPr lvl="2"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Expert Interviews</a:t>
            </a:r>
            <a:r>
              <a:rPr lang="en-IN" sz="2000" dirty="0">
                <a:solidFill>
                  <a:schemeClr val="bg1"/>
                </a:solidFill>
                <a:latin typeface="Times New Roman" panose="02020603050405020304" pitchFamily="18" charset="0"/>
                <a:cs typeface="Times New Roman" panose="02020603050405020304" pitchFamily="18" charset="0"/>
              </a:rPr>
              <a:t>: Consulting industry experts, analysts, and stakeholders to gain insights into industry dynamics and future trends.</a:t>
            </a:r>
          </a:p>
        </p:txBody>
      </p:sp>
    </p:spTree>
    <p:extLst>
      <p:ext uri="{BB962C8B-B14F-4D97-AF65-F5344CB8AC3E}">
        <p14:creationId xmlns:p14="http://schemas.microsoft.com/office/powerpoint/2010/main" val="947745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66260" y="0"/>
            <a:ext cx="12192000" cy="6858000"/>
          </a:xfrm>
          <a:prstGeom prst="rect">
            <a:avLst/>
          </a:prstGeom>
          <a:solidFill>
            <a:srgbClr val="7030A0"/>
          </a:solidFill>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9E3E6450-6C9D-4B89-B0DC-53D69EAEE2C0}"/>
              </a:ext>
            </a:extLst>
          </p:cNvPr>
          <p:cNvSpPr/>
          <p:nvPr/>
        </p:nvSpPr>
        <p:spPr>
          <a:xfrm>
            <a:off x="173848" y="161880"/>
            <a:ext cx="4628062" cy="523220"/>
          </a:xfrm>
          <a:prstGeom prst="rect">
            <a:avLst/>
          </a:prstGeom>
        </p:spPr>
        <p:txBody>
          <a:bodyPr wrap="none">
            <a:spAutoFit/>
          </a:bodyPr>
          <a:lstStyle/>
          <a:p>
            <a:r>
              <a:rPr lang="en-IN" sz="2800" b="1" dirty="0">
                <a:solidFill>
                  <a:srgbClr val="E6E6E6"/>
                </a:solidFill>
                <a:latin typeface="Times New Roman" panose="02020603050405020304" pitchFamily="18" charset="0"/>
                <a:cs typeface="Times New Roman" panose="02020603050405020304" pitchFamily="18" charset="0"/>
              </a:rPr>
              <a:t>Entrepreneurship Ecosystem</a:t>
            </a:r>
            <a:endParaRPr lang="en-IN" sz="2800" b="1" dirty="0">
              <a:solidFill>
                <a:srgbClr val="E6E6E6"/>
              </a:solidFill>
            </a:endParaRPr>
          </a:p>
        </p:txBody>
      </p:sp>
      <p:sp>
        <p:nvSpPr>
          <p:cNvPr id="4" name="Rectangle 3">
            <a:extLst>
              <a:ext uri="{FF2B5EF4-FFF2-40B4-BE49-F238E27FC236}">
                <a16:creationId xmlns:a16="http://schemas.microsoft.com/office/drawing/2014/main" id="{92C37E84-88FA-4D2A-90B3-B3FA3CBA8F62}"/>
              </a:ext>
            </a:extLst>
          </p:cNvPr>
          <p:cNvSpPr/>
          <p:nvPr/>
        </p:nvSpPr>
        <p:spPr>
          <a:xfrm>
            <a:off x="1437859" y="623833"/>
            <a:ext cx="9846367" cy="1015663"/>
          </a:xfrm>
          <a:prstGeom prst="rect">
            <a:avLst/>
          </a:prstGeom>
        </p:spPr>
        <p:txBody>
          <a:bodyPr wrap="square">
            <a:spAutoFit/>
          </a:bodyPr>
          <a:lstStyle/>
          <a:p>
            <a:pPr algn="just"/>
            <a:r>
              <a:rPr lang="en-IN" sz="2000" dirty="0">
                <a:solidFill>
                  <a:schemeClr val="bg1"/>
                </a:solidFill>
              </a:rPr>
              <a:t>An entrepreneurship ecosystem is the environment in which entrepreneurs operate, including resources, support networks, and institutions that help them start and grow businesses.</a:t>
            </a:r>
          </a:p>
        </p:txBody>
      </p:sp>
      <p:sp>
        <p:nvSpPr>
          <p:cNvPr id="6" name="Rectangle 5">
            <a:extLst>
              <a:ext uri="{FF2B5EF4-FFF2-40B4-BE49-F238E27FC236}">
                <a16:creationId xmlns:a16="http://schemas.microsoft.com/office/drawing/2014/main" id="{CB96519A-F670-4551-8EE2-2F1EA84B7BD2}"/>
              </a:ext>
            </a:extLst>
          </p:cNvPr>
          <p:cNvSpPr/>
          <p:nvPr/>
        </p:nvSpPr>
        <p:spPr>
          <a:xfrm>
            <a:off x="344556" y="1586255"/>
            <a:ext cx="5079019" cy="400110"/>
          </a:xfrm>
          <a:prstGeom prst="rect">
            <a:avLst/>
          </a:prstGeom>
        </p:spPr>
        <p:txBody>
          <a:bodyPr wrap="none">
            <a:spAutoFit/>
          </a:bodyPr>
          <a:lstStyle/>
          <a:p>
            <a:r>
              <a:rPr lang="en-IN" sz="2000" b="1" dirty="0">
                <a:solidFill>
                  <a:schemeClr val="bg1"/>
                </a:solidFill>
                <a:latin typeface="Times New Roman" panose="02020603050405020304" pitchFamily="18" charset="0"/>
                <a:cs typeface="Times New Roman" panose="02020603050405020304" pitchFamily="18" charset="0"/>
              </a:rPr>
              <a:t>Importance of Entrepreneurship Ecosystems</a:t>
            </a:r>
          </a:p>
        </p:txBody>
      </p:sp>
      <p:sp>
        <p:nvSpPr>
          <p:cNvPr id="9" name="Rectangle 8">
            <a:extLst>
              <a:ext uri="{FF2B5EF4-FFF2-40B4-BE49-F238E27FC236}">
                <a16:creationId xmlns:a16="http://schemas.microsoft.com/office/drawing/2014/main" id="{8A82CB71-22C3-4B3B-A0F8-40FB29F6A72A}"/>
              </a:ext>
            </a:extLst>
          </p:cNvPr>
          <p:cNvSpPr/>
          <p:nvPr/>
        </p:nvSpPr>
        <p:spPr>
          <a:xfrm>
            <a:off x="742122" y="2140334"/>
            <a:ext cx="11237843" cy="2554545"/>
          </a:xfrm>
          <a:prstGeom prst="rect">
            <a:avLst/>
          </a:prstGeom>
        </p:spPr>
        <p:txBody>
          <a:bodyPr wrap="square">
            <a:spAutoFit/>
          </a:bodyPr>
          <a:lstStyle/>
          <a:p>
            <a:pPr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Economic Growth</a:t>
            </a:r>
            <a:r>
              <a:rPr lang="en-IN" sz="2000" dirty="0">
                <a:solidFill>
                  <a:schemeClr val="bg1"/>
                </a:solidFill>
                <a:latin typeface="Times New Roman" panose="02020603050405020304" pitchFamily="18" charset="0"/>
                <a:cs typeface="Times New Roman" panose="02020603050405020304" pitchFamily="18" charset="0"/>
              </a:rPr>
              <a:t>: Stimulates job creation, drives innovation, and contributes to economic development by fostering new businesses and industries.</a:t>
            </a:r>
          </a:p>
          <a:p>
            <a:pPr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Innovation</a:t>
            </a:r>
            <a:r>
              <a:rPr lang="en-IN" sz="2000" dirty="0">
                <a:solidFill>
                  <a:schemeClr val="bg1"/>
                </a:solidFill>
                <a:latin typeface="Times New Roman" panose="02020603050405020304" pitchFamily="18" charset="0"/>
                <a:cs typeface="Times New Roman" panose="02020603050405020304" pitchFamily="18" charset="0"/>
              </a:rPr>
              <a:t>: Supports the development and commercialization of new ideas, products, and services that address market needs and societal challenges.</a:t>
            </a:r>
          </a:p>
          <a:p>
            <a:pPr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Talent Development</a:t>
            </a:r>
            <a:r>
              <a:rPr lang="en-IN" sz="2000" dirty="0">
                <a:solidFill>
                  <a:schemeClr val="bg1"/>
                </a:solidFill>
                <a:latin typeface="Times New Roman" panose="02020603050405020304" pitchFamily="18" charset="0"/>
                <a:cs typeface="Times New Roman" panose="02020603050405020304" pitchFamily="18" charset="0"/>
              </a:rPr>
              <a:t>: Attracts and retains skilled talent, nurtures entrepreneurial skills, and promotes lifelong learning and skill development.</a:t>
            </a:r>
          </a:p>
          <a:p>
            <a:pPr algn="just">
              <a:buFont typeface="Arial" panose="020B0604020202020204" pitchFamily="34" charset="0"/>
              <a:buChar char="•"/>
            </a:pPr>
            <a:r>
              <a:rPr lang="en-IN" sz="2000" b="1" dirty="0">
                <a:solidFill>
                  <a:schemeClr val="bg1"/>
                </a:solidFill>
                <a:latin typeface="Times New Roman" panose="02020603050405020304" pitchFamily="18" charset="0"/>
                <a:cs typeface="Times New Roman" panose="02020603050405020304" pitchFamily="18" charset="0"/>
              </a:rPr>
              <a:t>Global Competitiveness</a:t>
            </a:r>
            <a:r>
              <a:rPr lang="en-IN" sz="2000" dirty="0">
                <a:solidFill>
                  <a:schemeClr val="bg1"/>
                </a:solidFill>
                <a:latin typeface="Times New Roman" panose="02020603050405020304" pitchFamily="18" charset="0"/>
                <a:cs typeface="Times New Roman" panose="02020603050405020304" pitchFamily="18" charset="0"/>
              </a:rPr>
              <a:t>: Enhances a region's competitiveness by fostering a diverse and dynamic economy that can adapt to global trends and disruptions.</a:t>
            </a:r>
          </a:p>
        </p:txBody>
      </p:sp>
    </p:spTree>
    <p:extLst>
      <p:ext uri="{BB962C8B-B14F-4D97-AF65-F5344CB8AC3E}">
        <p14:creationId xmlns:p14="http://schemas.microsoft.com/office/powerpoint/2010/main" val="2679849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AD7DC9-1058-4096-A9FC-B2025393C881}"/>
              </a:ext>
            </a:extLst>
          </p:cNvPr>
          <p:cNvPicPr>
            <a:picLocks noChangeAspect="1"/>
          </p:cNvPicPr>
          <p:nvPr/>
        </p:nvPicPr>
        <p:blipFill>
          <a:blip r:embed="rId2"/>
          <a:stretch>
            <a:fillRect/>
          </a:stretch>
        </p:blipFill>
        <p:spPr>
          <a:xfrm>
            <a:off x="0" y="0"/>
            <a:ext cx="12192000" cy="6858000"/>
          </a:xfrm>
          <a:prstGeom prst="rect">
            <a:avLst/>
          </a:prstGeom>
          <a:solidFill>
            <a:srgbClr val="7030A0"/>
          </a:solidFill>
        </p:spPr>
      </p:pic>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2691A068-87DB-44B4-8753-2F8F8DC3C51B}"/>
              </a:ext>
            </a:extLst>
          </p:cNvPr>
          <p:cNvSpPr/>
          <p:nvPr/>
        </p:nvSpPr>
        <p:spPr>
          <a:xfrm>
            <a:off x="278295" y="294508"/>
            <a:ext cx="11635409" cy="5663089"/>
          </a:xfrm>
          <a:prstGeom prst="rect">
            <a:avLst/>
          </a:prstGeom>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Components of an Entrepreneurship Ecosystem</a:t>
            </a:r>
          </a:p>
          <a:p>
            <a:endParaRPr lang="en-IN" sz="2000" b="1" dirty="0">
              <a:solidFill>
                <a:schemeClr val="bg1"/>
              </a:solidFill>
              <a:latin typeface="Times New Roman" panose="02020603050405020304" pitchFamily="18" charset="0"/>
              <a:cs typeface="Times New Roman" panose="02020603050405020304" pitchFamily="18" charset="0"/>
            </a:endParaRPr>
          </a:p>
          <a:p>
            <a:pPr lvl="1">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Entrepreneurs</a:t>
            </a:r>
            <a:r>
              <a:rPr lang="en-IN" sz="2000" dirty="0">
                <a:solidFill>
                  <a:schemeClr val="bg1"/>
                </a:solidFill>
                <a:latin typeface="Times New Roman" panose="02020603050405020304" pitchFamily="18" charset="0"/>
                <a:cs typeface="Times New Roman" panose="02020603050405020304" pitchFamily="18" charset="0"/>
              </a:rPr>
              <a:t>: </a:t>
            </a:r>
          </a:p>
          <a:p>
            <a:pPr lvl="1">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Support Organizations</a:t>
            </a:r>
            <a:r>
              <a:rPr lang="en-IN" sz="2000" dirty="0">
                <a:solidFill>
                  <a:schemeClr val="bg1"/>
                </a:solidFill>
                <a:latin typeface="Times New Roman" panose="02020603050405020304" pitchFamily="18" charset="0"/>
                <a:cs typeface="Times New Roman" panose="02020603050405020304" pitchFamily="18" charset="0"/>
              </a:rPr>
              <a:t>: Institutions and entities that provide support services to entrepreneurs. </a:t>
            </a:r>
          </a:p>
          <a:p>
            <a:pPr marL="1657350" lvl="3" indent="-285750">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Incubators and Accelerators</a:t>
            </a:r>
            <a:endParaRPr lang="en-IN" sz="2000" dirty="0">
              <a:solidFill>
                <a:schemeClr val="bg1"/>
              </a:solidFill>
              <a:latin typeface="Times New Roman" panose="02020603050405020304" pitchFamily="18" charset="0"/>
              <a:cs typeface="Times New Roman" panose="02020603050405020304" pitchFamily="18" charset="0"/>
            </a:endParaRPr>
          </a:p>
          <a:p>
            <a:pPr marL="1657350" lvl="3" indent="-285750">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Co-working Spaces</a:t>
            </a:r>
            <a:endParaRPr lang="en-IN" sz="2000" dirty="0">
              <a:solidFill>
                <a:schemeClr val="bg1"/>
              </a:solidFill>
              <a:latin typeface="Times New Roman" panose="02020603050405020304" pitchFamily="18" charset="0"/>
              <a:cs typeface="Times New Roman" panose="02020603050405020304" pitchFamily="18" charset="0"/>
            </a:endParaRPr>
          </a:p>
          <a:p>
            <a:pPr marL="1657350" lvl="3" indent="-285750">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Entrepreneurship Programs</a:t>
            </a:r>
            <a:endParaRPr lang="en-IN" sz="2000" dirty="0">
              <a:solidFill>
                <a:schemeClr val="bg1"/>
              </a:solidFill>
              <a:latin typeface="Times New Roman" panose="02020603050405020304" pitchFamily="18" charset="0"/>
              <a:cs typeface="Times New Roman" panose="02020603050405020304" pitchFamily="18" charset="0"/>
            </a:endParaRPr>
          </a:p>
          <a:p>
            <a:pPr marL="1657350" lvl="3" indent="-285750">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Financial Institutions</a:t>
            </a:r>
            <a:endParaRPr lang="en-IN" sz="2000" dirty="0">
              <a:solidFill>
                <a:schemeClr val="bg1"/>
              </a:solidFill>
              <a:latin typeface="Times New Roman" panose="02020603050405020304" pitchFamily="18" charset="0"/>
              <a:cs typeface="Times New Roman" panose="02020603050405020304" pitchFamily="18" charset="0"/>
            </a:endParaRPr>
          </a:p>
          <a:p>
            <a:pPr marL="1657350" lvl="3" indent="-285750">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Legal and Regulatory Bodies</a:t>
            </a:r>
            <a:endParaRPr lang="en-IN" sz="2000" dirty="0">
              <a:solidFill>
                <a:schemeClr val="bg1"/>
              </a:solidFill>
              <a:latin typeface="Times New Roman" panose="02020603050405020304" pitchFamily="18" charset="0"/>
              <a:cs typeface="Times New Roman" panose="02020603050405020304" pitchFamily="18" charset="0"/>
            </a:endParaRPr>
          </a:p>
          <a:p>
            <a:pPr lvl="1">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Universities and Research Institutions</a:t>
            </a:r>
          </a:p>
          <a:p>
            <a:pPr lvl="1">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Government Policies and Support</a:t>
            </a:r>
            <a:r>
              <a:rPr lang="en-IN" sz="2000" dirty="0">
                <a:solidFill>
                  <a:schemeClr val="bg1"/>
                </a:solidFill>
                <a:latin typeface="Times New Roman" panose="02020603050405020304" pitchFamily="18" charset="0"/>
                <a:cs typeface="Times New Roman" panose="02020603050405020304" pitchFamily="18" charset="0"/>
              </a:rPr>
              <a:t>: Policies, initiatives, incentives, and regulations that create a conducive environment for entrepreneurship. This includes tax incentives, start-up grants, and regulatory frameworks that support business formation and growth.</a:t>
            </a:r>
          </a:p>
          <a:p>
            <a:pPr lvl="1">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Corporate Partnerships</a:t>
            </a:r>
            <a:r>
              <a:rPr lang="en-IN" sz="2000" dirty="0">
                <a:solidFill>
                  <a:schemeClr val="bg1"/>
                </a:solidFill>
                <a:latin typeface="Times New Roman" panose="02020603050405020304" pitchFamily="18" charset="0"/>
                <a:cs typeface="Times New Roman" panose="02020603050405020304" pitchFamily="18" charset="0"/>
              </a:rPr>
              <a:t>: Collaboration between start-ups and established corporations for mentorship, investment, market access, or innovation partnerships.</a:t>
            </a:r>
          </a:p>
          <a:p>
            <a:pPr lvl="1">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Infrastructure and Technology.</a:t>
            </a:r>
            <a:endParaRPr lang="en-IN" sz="2000" dirty="0">
              <a:solidFill>
                <a:schemeClr val="bg1"/>
              </a:solidFill>
              <a:latin typeface="Times New Roman" panose="02020603050405020304" pitchFamily="18" charset="0"/>
              <a:cs typeface="Times New Roman" panose="02020603050405020304" pitchFamily="18" charset="0"/>
            </a:endParaRPr>
          </a:p>
          <a:p>
            <a:pPr lvl="1">
              <a:buFont typeface="+mj-lt"/>
              <a:buAutoNum type="arabicPeriod"/>
            </a:pPr>
            <a:r>
              <a:rPr lang="en-IN" sz="2000" b="1" dirty="0">
                <a:solidFill>
                  <a:schemeClr val="bg1"/>
                </a:solidFill>
                <a:latin typeface="Times New Roman" panose="02020603050405020304" pitchFamily="18" charset="0"/>
                <a:cs typeface="Times New Roman" panose="02020603050405020304" pitchFamily="18" charset="0"/>
              </a:rPr>
              <a:t>Culture and Community</a:t>
            </a:r>
            <a:r>
              <a:rPr lang="en-IN" sz="2000" dirty="0">
                <a:solidFill>
                  <a:schemeClr val="bg1"/>
                </a:solidFill>
                <a:latin typeface="Times New Roman" panose="02020603050405020304" pitchFamily="18" charset="0"/>
                <a:cs typeface="Times New Roman" panose="02020603050405020304" pitchFamily="18" charset="0"/>
              </a:rPr>
              <a:t>:</a:t>
            </a:r>
          </a:p>
          <a:p>
            <a:endParaRPr lang="en-IN" dirty="0">
              <a:solidFill>
                <a:schemeClr val="bg1"/>
              </a:solidFill>
            </a:endParaRPr>
          </a:p>
        </p:txBody>
      </p:sp>
    </p:spTree>
    <p:extLst>
      <p:ext uri="{BB962C8B-B14F-4D97-AF65-F5344CB8AC3E}">
        <p14:creationId xmlns:p14="http://schemas.microsoft.com/office/powerpoint/2010/main" val="14728460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F7D1976-8EAC-4CB0-8AA0-2D8F1C84F5A5}"/>
              </a:ext>
            </a:extLst>
          </p:cNvPr>
          <p:cNvSpPr/>
          <p:nvPr/>
        </p:nvSpPr>
        <p:spPr>
          <a:xfrm>
            <a:off x="437322" y="346171"/>
            <a:ext cx="11410122" cy="6247864"/>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Assignment 1 :  </a:t>
            </a:r>
            <a:r>
              <a:rPr lang="en-IN" sz="2000" b="1" i="1" dirty="0"/>
              <a:t>You are planning to start a company in India. Visit a local company or shop in your area that aligns with your business idea or interests. Based on your visit and research, outline the step-by-step documentation process required for establishing a new company in India. </a:t>
            </a:r>
          </a:p>
          <a:p>
            <a:pPr algn="just"/>
            <a:endParaRPr lang="en-IN" sz="20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Choose a Business Structure</a:t>
            </a:r>
            <a:r>
              <a:rPr lang="en-IN" sz="2000" dirty="0">
                <a:latin typeface="Times New Roman" panose="02020603050405020304" pitchFamily="18" charset="0"/>
                <a:cs typeface="Times New Roman" panose="02020603050405020304" pitchFamily="18" charset="0"/>
              </a:rPr>
              <a:t>: Decide on the type of business entity you want to establish, such as a Private Limited Company, Limited Liability Partnership (LLP), Partnership, Sole Proprietorship, etc. The most common choice for start-ups is a Private Limited Company due to its advantages in terms of limited liability and scalability.</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Register Your Business</a:t>
            </a:r>
            <a:r>
              <a:rPr lang="en-IN" sz="2000" dirty="0">
                <a:latin typeface="Times New Roman" panose="02020603050405020304" pitchFamily="18" charset="0"/>
                <a:cs typeface="Times New Roman" panose="02020603050405020304" pitchFamily="18" charset="0"/>
              </a:rPr>
              <a:t>:</a:t>
            </a:r>
          </a:p>
          <a:p>
            <a:pPr marL="742950" lvl="1"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Private Limited Company</a:t>
            </a:r>
            <a:r>
              <a:rPr lang="en-IN" sz="2000" dirty="0">
                <a:latin typeface="Times New Roman" panose="02020603050405020304" pitchFamily="18" charset="0"/>
                <a:cs typeface="Times New Roman" panose="02020603050405020304" pitchFamily="18" charset="0"/>
              </a:rPr>
              <a:t>: Requires at least two directors, a unique name approval, and registration with the Ministry of Corporate Affairs (MCA).</a:t>
            </a:r>
          </a:p>
          <a:p>
            <a:pPr marL="742950" lvl="1"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LLP</a:t>
            </a:r>
            <a:r>
              <a:rPr lang="en-IN" sz="2000" dirty="0">
                <a:latin typeface="Times New Roman" panose="02020603050405020304" pitchFamily="18" charset="0"/>
                <a:cs typeface="Times New Roman" panose="02020603050405020304" pitchFamily="18" charset="0"/>
              </a:rPr>
              <a:t>: Requires at least two designated partners and registration with the MCA.</a:t>
            </a:r>
          </a:p>
          <a:p>
            <a:pPr marL="742950" lvl="1"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Partnership</a:t>
            </a:r>
            <a:r>
              <a:rPr lang="en-IN" sz="2000" dirty="0">
                <a:latin typeface="Times New Roman" panose="02020603050405020304" pitchFamily="18" charset="0"/>
                <a:cs typeface="Times New Roman" panose="02020603050405020304" pitchFamily="18" charset="0"/>
              </a:rPr>
              <a:t>: Registration is optional but recommended for legal protection.</a:t>
            </a:r>
          </a:p>
          <a:p>
            <a:pPr marL="742950" lvl="1"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Sole Proprietorship</a:t>
            </a:r>
            <a:r>
              <a:rPr lang="en-IN" sz="2000" dirty="0">
                <a:latin typeface="Times New Roman" panose="02020603050405020304" pitchFamily="18" charset="0"/>
                <a:cs typeface="Times New Roman" panose="02020603050405020304" pitchFamily="18" charset="0"/>
              </a:rPr>
              <a:t>: No separate registration required, but you may need to register for GST depending on turnover.</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Obtain Digital Signatures</a:t>
            </a:r>
            <a:r>
              <a:rPr lang="en-IN" sz="2000" dirty="0">
                <a:latin typeface="Times New Roman" panose="02020603050405020304" pitchFamily="18" charset="0"/>
                <a:cs typeface="Times New Roman" panose="02020603050405020304" pitchFamily="18" charset="0"/>
              </a:rPr>
              <a:t>: Directors and authorized signatories must obtain digital signatures for online filings with the MCA.</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Apply for Director Identification Number (DIN)</a:t>
            </a:r>
            <a:r>
              <a:rPr lang="en-IN" sz="2000" dirty="0">
                <a:latin typeface="Times New Roman" panose="02020603050405020304" pitchFamily="18" charset="0"/>
                <a:cs typeface="Times New Roman" panose="02020603050405020304" pitchFamily="18" charset="0"/>
              </a:rPr>
              <a:t>: Each director must obtain a DIN from the MCA.</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Name Approval</a:t>
            </a:r>
            <a:r>
              <a:rPr lang="en-IN" sz="2000" dirty="0">
                <a:latin typeface="Times New Roman" panose="02020603050405020304" pitchFamily="18" charset="0"/>
                <a:cs typeface="Times New Roman" panose="02020603050405020304" pitchFamily="18" charset="0"/>
              </a:rPr>
              <a:t>: Apply to the MCA for approval of the company's name. Collection Account Number (TAN) from the Income Tax Department.</a:t>
            </a:r>
          </a:p>
        </p:txBody>
      </p:sp>
    </p:spTree>
    <p:extLst>
      <p:ext uri="{BB962C8B-B14F-4D97-AF65-F5344CB8AC3E}">
        <p14:creationId xmlns:p14="http://schemas.microsoft.com/office/powerpoint/2010/main" val="1257092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2D1302-7F27-4416-8B3E-2CD8234DD66E}"/>
              </a:ext>
            </a:extLst>
          </p:cNvPr>
          <p:cNvSpPr/>
          <p:nvPr/>
        </p:nvSpPr>
        <p:spPr>
          <a:xfrm>
            <a:off x="344556" y="1586255"/>
            <a:ext cx="11635409" cy="400110"/>
          </a:xfrm>
          <a:prstGeom prst="rect">
            <a:avLst/>
          </a:prstGeom>
        </p:spPr>
        <p:txBody>
          <a:bodyPr wrap="square">
            <a:spAutoFit/>
          </a:bodyPr>
          <a:lstStyle/>
          <a:p>
            <a:pPr marL="342900" indent="-342900" algn="just">
              <a:buFont typeface="Arial" panose="020B0604020202020204" pitchFamily="34" charset="0"/>
              <a:buChar char="•"/>
            </a:pP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CED4802-A427-496E-AE49-32B984DE3922}"/>
              </a:ext>
            </a:extLst>
          </p:cNvPr>
          <p:cNvSpPr/>
          <p:nvPr/>
        </p:nvSpPr>
        <p:spPr>
          <a:xfrm>
            <a:off x="443947" y="361054"/>
            <a:ext cx="11436626" cy="5601533"/>
          </a:xfrm>
          <a:prstGeom prst="rect">
            <a:avLst/>
          </a:prstGeom>
        </p:spPr>
        <p:txBody>
          <a:bodyPr wrap="square">
            <a:spAutoFit/>
          </a:bodyPr>
          <a:lstStyle/>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File Incorporation Documents</a:t>
            </a:r>
            <a:r>
              <a:rPr lang="en-IN" sz="2000" dirty="0">
                <a:latin typeface="Times New Roman" panose="02020603050405020304" pitchFamily="18" charset="0"/>
                <a:cs typeface="Times New Roman" panose="02020603050405020304" pitchFamily="18" charset="0"/>
              </a:rPr>
              <a:t>: Prepare and file incorporation documents like Memorandum of Association (</a:t>
            </a:r>
            <a:r>
              <a:rPr lang="en-IN" sz="2000" dirty="0" err="1">
                <a:latin typeface="Times New Roman" panose="02020603050405020304" pitchFamily="18" charset="0"/>
                <a:cs typeface="Times New Roman" panose="02020603050405020304" pitchFamily="18" charset="0"/>
              </a:rPr>
              <a:t>MoA</a:t>
            </a:r>
            <a:r>
              <a:rPr lang="en-IN" sz="2000" dirty="0">
                <a:latin typeface="Times New Roman" panose="02020603050405020304" pitchFamily="18" charset="0"/>
                <a:cs typeface="Times New Roman" panose="02020603050405020304" pitchFamily="18" charset="0"/>
              </a:rPr>
              <a:t>) and Articles of Association (</a:t>
            </a:r>
            <a:r>
              <a:rPr lang="en-IN" sz="2000" dirty="0" err="1">
                <a:latin typeface="Times New Roman" panose="02020603050405020304" pitchFamily="18" charset="0"/>
                <a:cs typeface="Times New Roman" panose="02020603050405020304" pitchFamily="18" charset="0"/>
              </a:rPr>
              <a:t>AoA</a:t>
            </a:r>
            <a:r>
              <a:rPr lang="en-IN" sz="2000" dirty="0">
                <a:latin typeface="Times New Roman" panose="02020603050405020304" pitchFamily="18" charset="0"/>
                <a:cs typeface="Times New Roman" panose="02020603050405020304" pitchFamily="18" charset="0"/>
              </a:rPr>
              <a:t>) with the Registrar of Companies (</a:t>
            </a:r>
            <a:r>
              <a:rPr lang="en-IN" sz="2000" dirty="0" err="1">
                <a:latin typeface="Times New Roman" panose="02020603050405020304" pitchFamily="18" charset="0"/>
                <a:cs typeface="Times New Roman" panose="02020603050405020304" pitchFamily="18" charset="0"/>
              </a:rPr>
              <a:t>RoC</a:t>
            </a:r>
            <a:r>
              <a:rPr lang="en-IN" sz="2000"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Get Certificate of Incorporation</a:t>
            </a:r>
            <a:r>
              <a:rPr lang="en-IN" sz="2000" dirty="0">
                <a:latin typeface="Times New Roman" panose="02020603050405020304" pitchFamily="18" charset="0"/>
                <a:cs typeface="Times New Roman" panose="02020603050405020304" pitchFamily="18" charset="0"/>
              </a:rPr>
              <a:t>: Once the documents are verified and approved, you'll receive a Certificate of Incorporation from the </a:t>
            </a:r>
            <a:r>
              <a:rPr lang="en-IN" sz="2000" dirty="0" err="1">
                <a:latin typeface="Times New Roman" panose="02020603050405020304" pitchFamily="18" charset="0"/>
                <a:cs typeface="Times New Roman" panose="02020603050405020304" pitchFamily="18" charset="0"/>
              </a:rPr>
              <a:t>RoC</a:t>
            </a:r>
            <a:r>
              <a:rPr lang="en-IN" sz="2000" dirty="0">
                <a:latin typeface="Times New Roman" panose="02020603050405020304" pitchFamily="18" charset="0"/>
                <a:cs typeface="Times New Roman" panose="02020603050405020304" pitchFamily="18" charset="0"/>
              </a:rPr>
              <a:t>, which legally establishes your company.</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Apply for PAN and TAN</a:t>
            </a:r>
            <a:r>
              <a:rPr lang="en-IN" sz="2000" dirty="0">
                <a:latin typeface="Times New Roman" panose="02020603050405020304" pitchFamily="18" charset="0"/>
                <a:cs typeface="Times New Roman" panose="02020603050405020304" pitchFamily="18" charset="0"/>
              </a:rPr>
              <a:t>: Obtain Permanent Account Number (PAN) and Tax Deduction and </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Register for GST</a:t>
            </a:r>
            <a:r>
              <a:rPr lang="en-IN" sz="2000" dirty="0">
                <a:latin typeface="Times New Roman" panose="02020603050405020304" pitchFamily="18" charset="0"/>
                <a:cs typeface="Times New Roman" panose="02020603050405020304" pitchFamily="18" charset="0"/>
              </a:rPr>
              <a:t>: If your turnover exceeds the threshold limit for GST registration, you must register for Goods and Services Tax (GST).</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Open a Bank Account</a:t>
            </a:r>
            <a:r>
              <a:rPr lang="en-IN" sz="2000" dirty="0">
                <a:latin typeface="Times New Roman" panose="02020603050405020304" pitchFamily="18" charset="0"/>
                <a:cs typeface="Times New Roman" panose="02020603050405020304" pitchFamily="18" charset="0"/>
              </a:rPr>
              <a:t>: Open a bank account in the name of your company.</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Compliance</a:t>
            </a:r>
            <a:r>
              <a:rPr lang="en-IN" sz="2000" dirty="0">
                <a:latin typeface="Times New Roman" panose="02020603050405020304" pitchFamily="18" charset="0"/>
                <a:cs typeface="Times New Roman" panose="02020603050405020304" pitchFamily="18" charset="0"/>
              </a:rPr>
              <a:t>: Ensure compliance with various regulatory requirements such as filing annual returns, maintaining statutory registers, conducting board meetings, etc.</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Licenses and Permits</a:t>
            </a:r>
            <a:r>
              <a:rPr lang="en-IN" sz="2000" dirty="0">
                <a:latin typeface="Times New Roman" panose="02020603050405020304" pitchFamily="18" charset="0"/>
                <a:cs typeface="Times New Roman" panose="02020603050405020304" pitchFamily="18" charset="0"/>
              </a:rPr>
              <a:t>: Depending on the nature of your business, you may need specific licenses and permits from regulatory authorities.</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Employer Compliance</a:t>
            </a:r>
            <a:r>
              <a:rPr lang="en-IN" sz="2000" dirty="0">
                <a:latin typeface="Times New Roman" panose="02020603050405020304" pitchFamily="18" charset="0"/>
                <a:cs typeface="Times New Roman" panose="02020603050405020304" pitchFamily="18" charset="0"/>
              </a:rPr>
              <a:t>: If you hire employees, comply with </a:t>
            </a:r>
            <a:r>
              <a:rPr lang="en-IN" sz="2000" dirty="0" err="1">
                <a:latin typeface="Times New Roman" panose="02020603050405020304" pitchFamily="18" charset="0"/>
                <a:cs typeface="Times New Roman" panose="02020603050405020304" pitchFamily="18" charset="0"/>
              </a:rPr>
              <a:t>labor</a:t>
            </a:r>
            <a:r>
              <a:rPr lang="en-IN" sz="2000" dirty="0">
                <a:latin typeface="Times New Roman" panose="02020603050405020304" pitchFamily="18" charset="0"/>
                <a:cs typeface="Times New Roman" panose="02020603050405020304" pitchFamily="18" charset="0"/>
              </a:rPr>
              <a:t> laws and obtain necessary registrations like Employee Provident Fund (EPF) and Employee State Insurance (ESI).</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Intellectual Property Rights</a:t>
            </a:r>
            <a:r>
              <a:rPr lang="en-IN" sz="2000" dirty="0">
                <a:latin typeface="Times New Roman" panose="02020603050405020304" pitchFamily="18" charset="0"/>
                <a:cs typeface="Times New Roman" panose="02020603050405020304" pitchFamily="18" charset="0"/>
              </a:rPr>
              <a:t>: Consider protecting your intellectual property through trademarks, copyrights, patents, etc.</a:t>
            </a:r>
          </a:p>
          <a:p>
            <a:pPr marL="285750" indent="-28575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Local Regulations</a:t>
            </a:r>
            <a:r>
              <a:rPr lang="en-IN" sz="2000" dirty="0">
                <a:latin typeface="Times New Roman" panose="02020603050405020304" pitchFamily="18" charset="0"/>
                <a:cs typeface="Times New Roman" panose="02020603050405020304" pitchFamily="18" charset="0"/>
              </a:rPr>
              <a:t>: Be aware of any local laws and regulations that may apply to your business activities.</a:t>
            </a:r>
          </a:p>
        </p:txBody>
      </p:sp>
    </p:spTree>
    <p:extLst>
      <p:ext uri="{BB962C8B-B14F-4D97-AF65-F5344CB8AC3E}">
        <p14:creationId xmlns:p14="http://schemas.microsoft.com/office/powerpoint/2010/main" val="4066352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1634</TotalTime>
  <Words>3408</Words>
  <Application>Microsoft Office PowerPoint</Application>
  <PresentationFormat>Widescreen</PresentationFormat>
  <Paragraphs>309</Paragraphs>
  <Slides>29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vt:lpstr>
      <vt:lpstr>Calibri</vt:lpstr>
      <vt:lpstr>Calibri Light</vt:lpstr>
      <vt:lpstr>Symbol</vt:lpstr>
      <vt:lpstr>Times New Roman</vt:lpstr>
      <vt:lpstr>Trade Gothic W01 Bold 2</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lalu</dc:creator>
  <cp:lastModifiedBy>user</cp:lastModifiedBy>
  <cp:revision>141</cp:revision>
  <dcterms:created xsi:type="dcterms:W3CDTF">2024-02-04T17:10:39Z</dcterms:created>
  <dcterms:modified xsi:type="dcterms:W3CDTF">2025-07-17T14:27:20Z</dcterms:modified>
</cp:coreProperties>
</file>